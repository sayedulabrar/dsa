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3" d="100"/>
          <a:sy n="83" d="100"/>
        </p:scale>
        <p:origin x="-1426"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DC49AFB-0EBD-4BC3-A33A-4153939B8A9C}" type="datetimeFigureOut">
              <a:rPr lang="en-US" smtClean="0"/>
              <a:t>12/14/2021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3A5184D-36FB-4879-A2C4-95083F9D351A}" type="slidenum">
              <a:rPr lang="en-US" smtClean="0"/>
              <a:t>‹#›</a:t>
            </a:fld>
            <a:endParaRPr lang="en-US"/>
          </a:p>
        </p:txBody>
      </p:sp>
    </p:spTree>
    <p:extLst>
      <p:ext uri="{BB962C8B-B14F-4D97-AF65-F5344CB8AC3E}">
        <p14:creationId xmlns:p14="http://schemas.microsoft.com/office/powerpoint/2010/main" val="2089922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0A1E8548-FD63-414C-AA79-0F600C438296}" type="datetime1">
              <a:rPr lang="en-US" smtClean="0"/>
              <a:t>12/14/2021</a:t>
            </a:fld>
            <a:endParaRPr lang="en-US"/>
          </a:p>
        </p:txBody>
      </p:sp>
      <p:sp>
        <p:nvSpPr>
          <p:cNvPr id="17" name="Footer Placeholder 16"/>
          <p:cNvSpPr>
            <a:spLocks noGrp="1"/>
          </p:cNvSpPr>
          <p:nvPr>
            <p:ph type="ftr" sz="quarter" idx="11"/>
          </p:nvPr>
        </p:nvSpPr>
        <p:spPr>
          <a:xfrm>
            <a:off x="2898648" y="6355080"/>
            <a:ext cx="3474720" cy="365760"/>
          </a:xfrm>
        </p:spPr>
        <p:txBody>
          <a:bodyPr/>
          <a:lstStyle/>
          <a:p>
            <a:r>
              <a:rPr lang="en-US" smtClean="0"/>
              <a:t>Rubyeat Islam, Lecturer, Dept of CSE, MIST</a:t>
            </a:r>
            <a:endParaRPr lang="en-US"/>
          </a:p>
        </p:txBody>
      </p:sp>
      <p:sp>
        <p:nvSpPr>
          <p:cNvPr id="29" name="Slide Number Placeholder 28"/>
          <p:cNvSpPr>
            <a:spLocks noGrp="1"/>
          </p:cNvSpPr>
          <p:nvPr>
            <p:ph type="sldNum" sz="quarter" idx="12"/>
          </p:nvPr>
        </p:nvSpPr>
        <p:spPr>
          <a:xfrm>
            <a:off x="1216152" y="6355080"/>
            <a:ext cx="1219200" cy="365760"/>
          </a:xfrm>
        </p:spPr>
        <p:txBody>
          <a:bodyPr/>
          <a:lstStyle/>
          <a:p>
            <a:fld id="{B6F15528-21DE-4FAA-801E-634DDDAF4B2B}" type="slidenum">
              <a:rPr lang="en-US" smtClean="0"/>
              <a:pPr/>
              <a:t>‹#›</a:t>
            </a:fld>
            <a:endParaRPr lang="en-US"/>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A2980C90-D373-4FFD-92FD-9DB81210D599}" type="datetime1">
              <a:rPr lang="en-US" smtClean="0"/>
              <a:t>12/14/2021</a:t>
            </a:fld>
            <a:endParaRPr lang="en-US"/>
          </a:p>
        </p:txBody>
      </p:sp>
      <p:sp>
        <p:nvSpPr>
          <p:cNvPr id="5" name="Footer Placeholder 4"/>
          <p:cNvSpPr>
            <a:spLocks noGrp="1"/>
          </p:cNvSpPr>
          <p:nvPr>
            <p:ph type="ftr" sz="quarter" idx="11"/>
          </p:nvPr>
        </p:nvSpPr>
        <p:spPr/>
        <p:txBody>
          <a:bodyPr/>
          <a:lstStyle/>
          <a:p>
            <a:r>
              <a:rPr lang="en-US" smtClean="0"/>
              <a:t>Rubyeat Islam, Lecturer, Dept of CSE, MIST</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490F7014-BEA1-466C-A0E2-A296CCBA8F17}" type="datetime1">
              <a:rPr lang="en-US" smtClean="0"/>
              <a:t>12/14/2021</a:t>
            </a:fld>
            <a:endParaRPr lang="en-US"/>
          </a:p>
        </p:txBody>
      </p:sp>
      <p:sp>
        <p:nvSpPr>
          <p:cNvPr id="5" name="Footer Placeholder 4"/>
          <p:cNvSpPr>
            <a:spLocks noGrp="1"/>
          </p:cNvSpPr>
          <p:nvPr>
            <p:ph type="ftr" sz="quarter" idx="11"/>
          </p:nvPr>
        </p:nvSpPr>
        <p:spPr>
          <a:xfrm>
            <a:off x="2898648" y="6355080"/>
            <a:ext cx="3474720" cy="365760"/>
          </a:xfrm>
        </p:spPr>
        <p:txBody>
          <a:bodyPr/>
          <a:lstStyle/>
          <a:p>
            <a:r>
              <a:rPr lang="en-US" smtClean="0"/>
              <a:t>Rubyeat Islam, Lecturer, Dept of CSE, MIST</a:t>
            </a:r>
            <a:endParaRPr lang="en-US"/>
          </a:p>
        </p:txBody>
      </p:sp>
      <p:sp>
        <p:nvSpPr>
          <p:cNvPr id="6" name="Slide Number Placeholder 5"/>
          <p:cNvSpPr>
            <a:spLocks noGrp="1"/>
          </p:cNvSpPr>
          <p:nvPr>
            <p:ph type="sldNum" sz="quarter" idx="12"/>
          </p:nvPr>
        </p:nvSpPr>
        <p:spPr>
          <a:xfrm>
            <a:off x="1069848" y="6355080"/>
            <a:ext cx="1520952" cy="365760"/>
          </a:xfrm>
        </p:spPr>
        <p:txBody>
          <a:bodyPr/>
          <a:lstStyle/>
          <a:p>
            <a:fld id="{B6F15528-21DE-4FAA-801E-634DDDAF4B2B}" type="slidenum">
              <a:rPr lang="en-US" smtClean="0"/>
              <a:pPr/>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8A3DAD96-F163-4E53-B9F6-B4AC5415B433}" type="datetime1">
              <a:rPr lang="en-US" smtClean="0"/>
              <a:t>12/14/2021</a:t>
            </a:fld>
            <a:endParaRPr lang="en-US"/>
          </a:p>
        </p:txBody>
      </p:sp>
      <p:sp>
        <p:nvSpPr>
          <p:cNvPr id="6" name="Footer Placeholder 5"/>
          <p:cNvSpPr>
            <a:spLocks noGrp="1"/>
          </p:cNvSpPr>
          <p:nvPr>
            <p:ph type="ftr" sz="quarter" idx="11"/>
          </p:nvPr>
        </p:nvSpPr>
        <p:spPr/>
        <p:txBody>
          <a:bodyPr/>
          <a:lstStyle/>
          <a:p>
            <a:r>
              <a:rPr lang="en-US" smtClean="0"/>
              <a:t>Rubyeat Islam, Lecturer, Dept of CSE, MIST</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86E1D816-93D5-4D6F-A0FA-53BA54AC698A}" type="datetime1">
              <a:rPr lang="en-US" smtClean="0"/>
              <a:t>12/14/2021</a:t>
            </a:fld>
            <a:endParaRPr lang="en-US"/>
          </a:p>
        </p:txBody>
      </p:sp>
      <p:sp>
        <p:nvSpPr>
          <p:cNvPr id="8" name="Footer Placeholder 7"/>
          <p:cNvSpPr>
            <a:spLocks noGrp="1"/>
          </p:cNvSpPr>
          <p:nvPr>
            <p:ph type="ftr" sz="quarter" idx="11"/>
          </p:nvPr>
        </p:nvSpPr>
        <p:spPr/>
        <p:txBody>
          <a:bodyPr/>
          <a:lstStyle/>
          <a:p>
            <a:r>
              <a:rPr lang="en-US" smtClean="0"/>
              <a:t>Rubyeat Islam, Lecturer, Dept of CSE, MIST</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22DB5988-36C0-478E-A01C-C4FA66166DF3}"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A3801A-F77F-439A-842B-43A4423BAE68}" type="datetime1">
              <a:rPr lang="en-US" smtClean="0"/>
              <a:t>12/14/2021</a:t>
            </a:fld>
            <a:endParaRPr lang="en-US"/>
          </a:p>
        </p:txBody>
      </p:sp>
      <p:sp>
        <p:nvSpPr>
          <p:cNvPr id="3" name="Footer Placeholder 2"/>
          <p:cNvSpPr>
            <a:spLocks noGrp="1"/>
          </p:cNvSpPr>
          <p:nvPr>
            <p:ph type="ftr" sz="quarter" idx="11"/>
          </p:nvPr>
        </p:nvSpPr>
        <p:spPr/>
        <p:txBody>
          <a:bodyPr/>
          <a:lstStyle/>
          <a:p>
            <a:r>
              <a:rPr lang="en-US" smtClean="0"/>
              <a:t>Rubyeat Islam, Lecturer, Dept of CSE, MIST</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2CEDF9CA-ED04-4B86-A31B-6422DA28B03B}" type="datetime1">
              <a:rPr lang="en-US" smtClean="0"/>
              <a:t>12/14/2021</a:t>
            </a:fld>
            <a:endParaRPr lang="en-US"/>
          </a:p>
        </p:txBody>
      </p:sp>
      <p:sp>
        <p:nvSpPr>
          <p:cNvPr id="6" name="Footer Placeholder 5"/>
          <p:cNvSpPr>
            <a:spLocks noGrp="1"/>
          </p:cNvSpPr>
          <p:nvPr>
            <p:ph type="ftr" sz="quarter" idx="11"/>
          </p:nvPr>
        </p:nvSpPr>
        <p:spPr/>
        <p:txBody>
          <a:bodyPr/>
          <a:lstStyle/>
          <a:p>
            <a:r>
              <a:rPr lang="en-US" smtClean="0"/>
              <a:t>Rubyeat Islam, Lecturer, Dept of CSE, MIST</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BCB18A5F-8EF8-4B5E-BAB9-6745203CE72E}" type="datetime1">
              <a:rPr lang="en-US" smtClean="0"/>
              <a:t>12/14/2021</a:t>
            </a:fld>
            <a:endParaRPr lang="en-US"/>
          </a:p>
        </p:txBody>
      </p:sp>
      <p:sp>
        <p:nvSpPr>
          <p:cNvPr id="6" name="Footer Placeholder 5"/>
          <p:cNvSpPr>
            <a:spLocks noGrp="1"/>
          </p:cNvSpPr>
          <p:nvPr>
            <p:ph type="ftr" sz="quarter" idx="11"/>
          </p:nvPr>
        </p:nvSpPr>
        <p:spPr/>
        <p:txBody>
          <a:bodyPr/>
          <a:lstStyle/>
          <a:p>
            <a:r>
              <a:rPr lang="en-US" smtClean="0"/>
              <a:t>Rubyeat Islam, Lecturer, Dept of CSE, MIST</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315CF2E-1478-400B-81DF-0D474EA0A7A1}" type="datetime1">
              <a:rPr lang="en-US" smtClean="0"/>
              <a:t>12/14/2021</a:t>
            </a:fld>
            <a:endParaRPr lang="en-US"/>
          </a:p>
        </p:txBody>
      </p:sp>
      <p:sp>
        <p:nvSpPr>
          <p:cNvPr id="5" name="Footer Placeholder 4"/>
          <p:cNvSpPr>
            <a:spLocks noGrp="1"/>
          </p:cNvSpPr>
          <p:nvPr>
            <p:ph type="ftr" sz="quarter" idx="11"/>
          </p:nvPr>
        </p:nvSpPr>
        <p:spPr/>
        <p:txBody>
          <a:bodyPr/>
          <a:lstStyle/>
          <a:p>
            <a:r>
              <a:rPr lang="en-US" smtClean="0"/>
              <a:t>Rubyeat Islam, Lecturer, Dept of CSE, MIST</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BAA36CA-422C-4463-9A01-8506AC420230}" type="datetime1">
              <a:rPr lang="en-US" smtClean="0"/>
              <a:t>12/14/2021</a:t>
            </a:fld>
            <a:endParaRPr lang="en-US"/>
          </a:p>
        </p:txBody>
      </p:sp>
      <p:sp>
        <p:nvSpPr>
          <p:cNvPr id="5" name="Footer Placeholder 4"/>
          <p:cNvSpPr>
            <a:spLocks noGrp="1"/>
          </p:cNvSpPr>
          <p:nvPr>
            <p:ph type="ftr" sz="quarter" idx="11"/>
          </p:nvPr>
        </p:nvSpPr>
        <p:spPr/>
        <p:txBody>
          <a:bodyPr/>
          <a:lstStyle/>
          <a:p>
            <a:r>
              <a:rPr lang="en-US" smtClean="0"/>
              <a:t>Rubyeat Islam, Lecturer, Dept of CSE, MIST</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F0A17C96-D0E2-4CFF-9C0D-6F9A80DDB48E}" type="datetime1">
              <a:rPr lang="en-US" smtClean="0"/>
              <a:t>12/14/2021</a:t>
            </a:fld>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r>
              <a:rPr lang="en-US" smtClean="0"/>
              <a:t>Rubyeat Islam, Lecturer, Dept of CSE, MIST</a:t>
            </a:r>
            <a:endParaRPr lang="en-US"/>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B6F15528-21DE-4FAA-801E-634DDDAF4B2B}" type="slidenum">
              <a:rPr lang="en-US" smtClean="0"/>
              <a:pPr/>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en.wikipedia.org/wiki/String_algorithm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String Matching Algorithm</a:t>
            </a:r>
            <a:endParaRPr lang="en-US" dirty="0"/>
          </a:p>
        </p:txBody>
      </p:sp>
      <p:sp>
        <p:nvSpPr>
          <p:cNvPr id="3" name="Subtitle 2"/>
          <p:cNvSpPr>
            <a:spLocks noGrp="1"/>
          </p:cNvSpPr>
          <p:nvPr>
            <p:ph type="subTitle" idx="1"/>
          </p:nvPr>
        </p:nvSpPr>
        <p:spPr/>
        <p:txBody>
          <a:bodyPr/>
          <a:lstStyle/>
          <a:p>
            <a:r>
              <a:rPr lang="en-US" dirty="0" smtClean="0"/>
              <a:t>KMP (Knuth-Morris-Pratt)</a:t>
            </a:r>
          </a:p>
          <a:p>
            <a:endParaRPr lang="en-US" dirty="0"/>
          </a:p>
        </p:txBody>
      </p:sp>
    </p:spTree>
    <p:extLst>
      <p:ext uri="{BB962C8B-B14F-4D97-AF65-F5344CB8AC3E}">
        <p14:creationId xmlns:p14="http://schemas.microsoft.com/office/powerpoint/2010/main" val="35358192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String Matching Algorithm</a:t>
            </a:r>
            <a:endParaRPr lang="en-US" dirty="0"/>
          </a:p>
        </p:txBody>
      </p:sp>
      <p:sp>
        <p:nvSpPr>
          <p:cNvPr id="5" name="Content Placeholder 4"/>
          <p:cNvSpPr>
            <a:spLocks noGrp="1"/>
          </p:cNvSpPr>
          <p:nvPr>
            <p:ph sz="quarter" idx="1"/>
          </p:nvPr>
        </p:nvSpPr>
        <p:spPr/>
        <p:txBody>
          <a:bodyPr/>
          <a:lstStyle/>
          <a:p>
            <a:pPr marL="0" indent="0">
              <a:buNone/>
            </a:pPr>
            <a:endParaRPr lang="en-US" dirty="0" smtClean="0">
              <a:latin typeface="Calibri" pitchFamily="34" charset="0"/>
              <a:cs typeface="Calibri" pitchFamily="34" charset="0"/>
            </a:endParaRPr>
          </a:p>
          <a:p>
            <a:pPr marL="0" indent="0">
              <a:buNone/>
            </a:pPr>
            <a:r>
              <a:rPr lang="en-US" b="1" dirty="0" smtClean="0">
                <a:latin typeface="Calibri" pitchFamily="34" charset="0"/>
                <a:cs typeface="Calibri" pitchFamily="34" charset="0"/>
              </a:rPr>
              <a:t>String-matching </a:t>
            </a:r>
            <a:r>
              <a:rPr lang="en-US" b="1" dirty="0">
                <a:latin typeface="Calibri" pitchFamily="34" charset="0"/>
                <a:cs typeface="Calibri" pitchFamily="34" charset="0"/>
              </a:rPr>
              <a:t>algorithms, </a:t>
            </a:r>
            <a:r>
              <a:rPr lang="en-US" dirty="0">
                <a:latin typeface="Calibri" pitchFamily="34" charset="0"/>
                <a:cs typeface="Calibri" pitchFamily="34" charset="0"/>
              </a:rPr>
              <a:t>are an important class of </a:t>
            </a:r>
            <a:r>
              <a:rPr lang="en-US" dirty="0">
                <a:latin typeface="Calibri" pitchFamily="34" charset="0"/>
                <a:cs typeface="Calibri" pitchFamily="34" charset="0"/>
                <a:hlinkClick r:id="rId2" tooltip="String algorithms"/>
              </a:rPr>
              <a:t>string algorithms</a:t>
            </a:r>
            <a:r>
              <a:rPr lang="en-US" dirty="0">
                <a:latin typeface="Calibri" pitchFamily="34" charset="0"/>
                <a:cs typeface="Calibri" pitchFamily="34" charset="0"/>
              </a:rPr>
              <a:t> that try to find a place where one or several </a:t>
            </a:r>
            <a:r>
              <a:rPr lang="en-US" dirty="0" smtClean="0">
                <a:latin typeface="Calibri" pitchFamily="34" charset="0"/>
                <a:cs typeface="Calibri" pitchFamily="34" charset="0"/>
              </a:rPr>
              <a:t>strings</a:t>
            </a:r>
            <a:r>
              <a:rPr lang="en-US" dirty="0">
                <a:latin typeface="Calibri" pitchFamily="34" charset="0"/>
                <a:cs typeface="Calibri" pitchFamily="34" charset="0"/>
              </a:rPr>
              <a:t> (also called </a:t>
            </a:r>
            <a:r>
              <a:rPr lang="en-US" dirty="0">
                <a:solidFill>
                  <a:srgbClr val="7030A0"/>
                </a:solidFill>
                <a:latin typeface="Calibri" pitchFamily="34" charset="0"/>
                <a:cs typeface="Calibri" pitchFamily="34" charset="0"/>
              </a:rPr>
              <a:t>patterns</a:t>
            </a:r>
            <a:r>
              <a:rPr lang="en-US" dirty="0">
                <a:latin typeface="Calibri" pitchFamily="34" charset="0"/>
                <a:cs typeface="Calibri" pitchFamily="34" charset="0"/>
              </a:rPr>
              <a:t>) are found within a larger string or text.</a:t>
            </a:r>
            <a:endParaRPr lang="en-US" dirty="0">
              <a:latin typeface="Calibri" pitchFamily="34" charset="0"/>
              <a:cs typeface="Calibri" pitchFamily="34" charset="0"/>
            </a:endParaRPr>
          </a:p>
        </p:txBody>
      </p:sp>
      <p:sp>
        <p:nvSpPr>
          <p:cNvPr id="6" name="Date Placeholder 5"/>
          <p:cNvSpPr>
            <a:spLocks noGrp="1"/>
          </p:cNvSpPr>
          <p:nvPr>
            <p:ph type="dt" sz="half" idx="10"/>
          </p:nvPr>
        </p:nvSpPr>
        <p:spPr/>
        <p:txBody>
          <a:bodyPr/>
          <a:lstStyle/>
          <a:p>
            <a:fld id="{7358C720-F2E2-4698-936C-867864A93F25}" type="datetime1">
              <a:rPr lang="en-US" smtClean="0"/>
              <a:t>12/14/2021</a:t>
            </a:fld>
            <a:endParaRPr lang="en-US"/>
          </a:p>
        </p:txBody>
      </p:sp>
      <p:sp>
        <p:nvSpPr>
          <p:cNvPr id="7" name="Footer Placeholder 6"/>
          <p:cNvSpPr>
            <a:spLocks noGrp="1"/>
          </p:cNvSpPr>
          <p:nvPr>
            <p:ph type="ftr" sz="quarter" idx="11"/>
          </p:nvPr>
        </p:nvSpPr>
        <p:spPr/>
        <p:txBody>
          <a:bodyPr/>
          <a:lstStyle/>
          <a:p>
            <a:r>
              <a:rPr lang="en-US" smtClean="0"/>
              <a:t>Rubyeat Islam, Lecturer, Dept of CSE, MIST</a:t>
            </a:r>
            <a:endParaRPr lang="en-US"/>
          </a:p>
        </p:txBody>
      </p:sp>
      <p:sp>
        <p:nvSpPr>
          <p:cNvPr id="8" name="Slide Number Placeholder 7"/>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26364337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Uses</a:t>
            </a:r>
            <a:endParaRPr lang="en-US" dirty="0"/>
          </a:p>
        </p:txBody>
      </p:sp>
      <p:sp>
        <p:nvSpPr>
          <p:cNvPr id="3" name="Content Placeholder 2"/>
          <p:cNvSpPr>
            <a:spLocks noGrp="1"/>
          </p:cNvSpPr>
          <p:nvPr>
            <p:ph sz="quarter" idx="1"/>
          </p:nvPr>
        </p:nvSpPr>
        <p:spPr/>
        <p:txBody>
          <a:bodyPr/>
          <a:lstStyle/>
          <a:p>
            <a:r>
              <a:rPr lang="en-US" dirty="0" smtClean="0"/>
              <a:t>Database Schema</a:t>
            </a:r>
          </a:p>
          <a:p>
            <a:r>
              <a:rPr lang="en-US" dirty="0" smtClean="0"/>
              <a:t>Network Systems</a:t>
            </a:r>
            <a:endParaRPr lang="en-US" dirty="0"/>
          </a:p>
        </p:txBody>
      </p:sp>
      <p:sp>
        <p:nvSpPr>
          <p:cNvPr id="4" name="Date Placeholder 3"/>
          <p:cNvSpPr>
            <a:spLocks noGrp="1"/>
          </p:cNvSpPr>
          <p:nvPr>
            <p:ph type="dt" sz="half" idx="10"/>
          </p:nvPr>
        </p:nvSpPr>
        <p:spPr/>
        <p:txBody>
          <a:bodyPr/>
          <a:lstStyle/>
          <a:p>
            <a:fld id="{1BB80B1D-B75C-49FC-A9A1-52BEB6721911}" type="datetime1">
              <a:rPr lang="en-US" smtClean="0"/>
              <a:t>12/14/2021</a:t>
            </a:fld>
            <a:endParaRPr lang="en-US"/>
          </a:p>
        </p:txBody>
      </p:sp>
      <p:sp>
        <p:nvSpPr>
          <p:cNvPr id="5" name="Footer Placeholder 4"/>
          <p:cNvSpPr>
            <a:spLocks noGrp="1"/>
          </p:cNvSpPr>
          <p:nvPr>
            <p:ph type="ftr" sz="quarter" idx="11"/>
          </p:nvPr>
        </p:nvSpPr>
        <p:spPr/>
        <p:txBody>
          <a:bodyPr/>
          <a:lstStyle/>
          <a:p>
            <a:r>
              <a:rPr lang="en-US" smtClean="0"/>
              <a:t>Rubyeat Islam, Lecturer, Dept of CSE, MIST</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13564485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Classification</a:t>
            </a:r>
            <a:endParaRPr lang="en-US" dirty="0"/>
          </a:p>
        </p:txBody>
      </p:sp>
      <p:sp>
        <p:nvSpPr>
          <p:cNvPr id="3" name="Content Placeholder 2"/>
          <p:cNvSpPr>
            <a:spLocks noGrp="1"/>
          </p:cNvSpPr>
          <p:nvPr>
            <p:ph sz="quarter" idx="1"/>
          </p:nvPr>
        </p:nvSpPr>
        <p:spPr/>
        <p:txBody>
          <a:bodyPr/>
          <a:lstStyle/>
          <a:p>
            <a:endParaRPr lang="en-US" dirty="0" smtClean="0"/>
          </a:p>
          <a:p>
            <a:endParaRPr lang="en-US" dirty="0"/>
          </a:p>
          <a:p>
            <a:r>
              <a:rPr lang="en-US" dirty="0" smtClean="0">
                <a:solidFill>
                  <a:srgbClr val="7030A0"/>
                </a:solidFill>
              </a:rPr>
              <a:t>Exact</a:t>
            </a:r>
            <a:r>
              <a:rPr lang="en-US" dirty="0" smtClean="0"/>
              <a:t> String Matching Algorithms</a:t>
            </a:r>
          </a:p>
          <a:p>
            <a:r>
              <a:rPr lang="en-US" dirty="0" smtClean="0">
                <a:solidFill>
                  <a:srgbClr val="7030A0"/>
                </a:solidFill>
              </a:rPr>
              <a:t>Approximate</a:t>
            </a:r>
            <a:r>
              <a:rPr lang="en-US" dirty="0" smtClean="0"/>
              <a:t> String Matching Algorithms</a:t>
            </a:r>
          </a:p>
          <a:p>
            <a:pPr marL="0" indent="0">
              <a:buNone/>
            </a:pPr>
            <a:endParaRPr lang="en-US" dirty="0"/>
          </a:p>
        </p:txBody>
      </p:sp>
      <p:sp>
        <p:nvSpPr>
          <p:cNvPr id="4" name="Date Placeholder 3"/>
          <p:cNvSpPr>
            <a:spLocks noGrp="1"/>
          </p:cNvSpPr>
          <p:nvPr>
            <p:ph type="dt" sz="half" idx="10"/>
          </p:nvPr>
        </p:nvSpPr>
        <p:spPr/>
        <p:txBody>
          <a:bodyPr/>
          <a:lstStyle/>
          <a:p>
            <a:fld id="{BFBF2379-2C7A-4A5C-B562-28B31932736E}" type="datetime1">
              <a:rPr lang="en-US" smtClean="0"/>
              <a:t>12/14/2021</a:t>
            </a:fld>
            <a:endParaRPr lang="en-US"/>
          </a:p>
        </p:txBody>
      </p:sp>
      <p:sp>
        <p:nvSpPr>
          <p:cNvPr id="5" name="Footer Placeholder 4"/>
          <p:cNvSpPr>
            <a:spLocks noGrp="1"/>
          </p:cNvSpPr>
          <p:nvPr>
            <p:ph type="ftr" sz="quarter" idx="11"/>
          </p:nvPr>
        </p:nvSpPr>
        <p:spPr/>
        <p:txBody>
          <a:bodyPr/>
          <a:lstStyle/>
          <a:p>
            <a:r>
              <a:rPr lang="en-US" smtClean="0"/>
              <a:t>Rubyeat Islam, Lecturer, Dept of CSE, MIST</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2238936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Classification</a:t>
            </a:r>
            <a:endParaRPr lang="en-US" dirty="0"/>
          </a:p>
        </p:txBody>
      </p:sp>
      <p:sp>
        <p:nvSpPr>
          <p:cNvPr id="3" name="Content Placeholder 2"/>
          <p:cNvSpPr>
            <a:spLocks noGrp="1"/>
          </p:cNvSpPr>
          <p:nvPr>
            <p:ph sz="quarter" idx="1"/>
          </p:nvPr>
        </p:nvSpPr>
        <p:spPr/>
        <p:txBody>
          <a:bodyPr/>
          <a:lstStyle/>
          <a:p>
            <a:endParaRPr lang="en-US" dirty="0" smtClean="0"/>
          </a:p>
          <a:p>
            <a:endParaRPr lang="en-US" dirty="0"/>
          </a:p>
          <a:p>
            <a:r>
              <a:rPr lang="en-US" dirty="0" smtClean="0">
                <a:solidFill>
                  <a:srgbClr val="7030A0"/>
                </a:solidFill>
              </a:rPr>
              <a:t>Exact</a:t>
            </a:r>
            <a:r>
              <a:rPr lang="en-US" dirty="0" smtClean="0"/>
              <a:t> String Matching Algorithms</a:t>
            </a:r>
          </a:p>
          <a:p>
            <a:r>
              <a:rPr lang="en-US" dirty="0" smtClean="0">
                <a:solidFill>
                  <a:srgbClr val="7030A0"/>
                </a:solidFill>
              </a:rPr>
              <a:t>Approximate</a:t>
            </a:r>
            <a:r>
              <a:rPr lang="en-US" dirty="0" smtClean="0"/>
              <a:t> String Matching Algorithms</a:t>
            </a:r>
          </a:p>
          <a:p>
            <a:pPr marL="0" indent="0">
              <a:buNone/>
            </a:pPr>
            <a:endParaRPr lang="en-US" dirty="0"/>
          </a:p>
        </p:txBody>
      </p:sp>
      <p:sp>
        <p:nvSpPr>
          <p:cNvPr id="4" name="Date Placeholder 3"/>
          <p:cNvSpPr>
            <a:spLocks noGrp="1"/>
          </p:cNvSpPr>
          <p:nvPr>
            <p:ph type="dt" sz="half" idx="10"/>
          </p:nvPr>
        </p:nvSpPr>
        <p:spPr/>
        <p:txBody>
          <a:bodyPr/>
          <a:lstStyle/>
          <a:p>
            <a:fld id="{BFBF2379-2C7A-4A5C-B562-28B31932736E}" type="datetime1">
              <a:rPr lang="en-US" smtClean="0"/>
              <a:t>12/14/2021</a:t>
            </a:fld>
            <a:endParaRPr lang="en-US"/>
          </a:p>
        </p:txBody>
      </p:sp>
      <p:sp>
        <p:nvSpPr>
          <p:cNvPr id="5" name="Footer Placeholder 4"/>
          <p:cNvSpPr>
            <a:spLocks noGrp="1"/>
          </p:cNvSpPr>
          <p:nvPr>
            <p:ph type="ftr" sz="quarter" idx="11"/>
          </p:nvPr>
        </p:nvSpPr>
        <p:spPr/>
        <p:txBody>
          <a:bodyPr/>
          <a:lstStyle/>
          <a:p>
            <a:r>
              <a:rPr lang="en-US" smtClean="0"/>
              <a:t>Rubyeat Islam, Lecturer, Dept of CSE, MIST</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cxnSp>
        <p:nvCxnSpPr>
          <p:cNvPr id="8" name="Straight Arrow Connector 7"/>
          <p:cNvCxnSpPr/>
          <p:nvPr/>
        </p:nvCxnSpPr>
        <p:spPr>
          <a:xfrm>
            <a:off x="304800" y="1143000"/>
            <a:ext cx="914400" cy="1066800"/>
          </a:xfrm>
          <a:prstGeom prst="straightConnector1">
            <a:avLst/>
          </a:prstGeom>
          <a:ln>
            <a:solidFill>
              <a:srgbClr val="FF0000"/>
            </a:solidFill>
            <a:tailEnd type="arrow"/>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626647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Exact String </a:t>
            </a:r>
            <a:r>
              <a:rPr lang="en-US" dirty="0"/>
              <a:t>Matching </a:t>
            </a:r>
            <a:r>
              <a:rPr lang="en-US" dirty="0" smtClean="0"/>
              <a:t>Algorithms</a:t>
            </a:r>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6</a:t>
            </a:fld>
            <a:endParaRPr lang="en-US"/>
          </a:p>
        </p:txBody>
      </p:sp>
      <p:sp>
        <p:nvSpPr>
          <p:cNvPr id="6" name="Content Placeholder 5"/>
          <p:cNvSpPr>
            <a:spLocks noGrp="1"/>
          </p:cNvSpPr>
          <p:nvPr>
            <p:ph sz="quarter" idx="1"/>
          </p:nvPr>
        </p:nvSpPr>
        <p:spPr/>
        <p:txBody>
          <a:bodyPr/>
          <a:lstStyle/>
          <a:p>
            <a:pPr marL="0" indent="0">
              <a:buNone/>
            </a:pPr>
            <a:endParaRPr lang="en-US" dirty="0" smtClean="0">
              <a:solidFill>
                <a:srgbClr val="7030A0"/>
              </a:solidFill>
            </a:endParaRPr>
          </a:p>
          <a:p>
            <a:pPr marL="0" indent="0">
              <a:buNone/>
            </a:pPr>
            <a:r>
              <a:rPr lang="en-US" dirty="0" smtClean="0">
                <a:solidFill>
                  <a:srgbClr val="7030A0"/>
                </a:solidFill>
              </a:rPr>
              <a:t>Exact </a:t>
            </a:r>
            <a:r>
              <a:rPr lang="en-US" dirty="0">
                <a:solidFill>
                  <a:srgbClr val="7030A0"/>
                </a:solidFill>
              </a:rPr>
              <a:t>string matching algorithms </a:t>
            </a:r>
            <a:r>
              <a:rPr lang="en-US" dirty="0"/>
              <a:t>is to find one, several, or all occurrences of a defined string (</a:t>
            </a:r>
            <a:r>
              <a:rPr lang="en-US" dirty="0">
                <a:solidFill>
                  <a:srgbClr val="7030A0"/>
                </a:solidFill>
              </a:rPr>
              <a:t>pattern</a:t>
            </a:r>
            <a:r>
              <a:rPr lang="en-US" dirty="0"/>
              <a:t>) in a large string (</a:t>
            </a:r>
            <a:r>
              <a:rPr lang="en-US" dirty="0">
                <a:solidFill>
                  <a:srgbClr val="7030A0"/>
                </a:solidFill>
              </a:rPr>
              <a:t>text</a:t>
            </a:r>
            <a:r>
              <a:rPr lang="en-US" dirty="0"/>
              <a:t> or </a:t>
            </a:r>
            <a:r>
              <a:rPr lang="en-US" dirty="0">
                <a:solidFill>
                  <a:srgbClr val="7030A0"/>
                </a:solidFill>
              </a:rPr>
              <a:t>sequences</a:t>
            </a:r>
            <a:r>
              <a:rPr lang="en-US" dirty="0"/>
              <a:t>) such that each matching is perfect. </a:t>
            </a:r>
            <a:r>
              <a:rPr lang="en-US" dirty="0" smtClean="0"/>
              <a:t> All </a:t>
            </a:r>
            <a:r>
              <a:rPr lang="en-US" dirty="0"/>
              <a:t>alphabets of patterns must be matched to corresponding matched subsequence.</a:t>
            </a:r>
            <a:endParaRPr lang="en-US" dirty="0"/>
          </a:p>
        </p:txBody>
      </p:sp>
    </p:spTree>
    <p:extLst>
      <p:ext uri="{BB962C8B-B14F-4D97-AF65-F5344CB8AC3E}">
        <p14:creationId xmlns:p14="http://schemas.microsoft.com/office/powerpoint/2010/main" val="8784921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Categories</a:t>
            </a:r>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a:t>
            </a:fld>
            <a:endParaRPr lang="en-US"/>
          </a:p>
        </p:txBody>
      </p:sp>
      <p:sp>
        <p:nvSpPr>
          <p:cNvPr id="6" name="Content Placeholder 5"/>
          <p:cNvSpPr>
            <a:spLocks noGrp="1"/>
          </p:cNvSpPr>
          <p:nvPr>
            <p:ph sz="quarter" idx="1"/>
          </p:nvPr>
        </p:nvSpPr>
        <p:spPr/>
        <p:txBody>
          <a:bodyPr/>
          <a:lstStyle/>
          <a:p>
            <a:r>
              <a:rPr lang="en-US" dirty="0"/>
              <a:t>Algorithms based on character </a:t>
            </a:r>
            <a:r>
              <a:rPr lang="en-US" dirty="0" smtClean="0"/>
              <a:t>comparison</a:t>
            </a:r>
          </a:p>
          <a:p>
            <a:pPr lvl="3"/>
            <a:r>
              <a:rPr lang="en-US" dirty="0" smtClean="0">
                <a:solidFill>
                  <a:srgbClr val="7030A0"/>
                </a:solidFill>
              </a:rPr>
              <a:t>Naïve Algorithm: </a:t>
            </a:r>
            <a:r>
              <a:rPr lang="en-US" dirty="0"/>
              <a:t>It slides the pattern </a:t>
            </a:r>
            <a:r>
              <a:rPr lang="en-US" dirty="0" smtClean="0"/>
              <a:t>(</a:t>
            </a:r>
            <a:r>
              <a:rPr lang="en-US" dirty="0" smtClean="0">
                <a:solidFill>
                  <a:srgbClr val="7030A0"/>
                </a:solidFill>
              </a:rPr>
              <a:t>length m</a:t>
            </a:r>
            <a:r>
              <a:rPr lang="en-US" dirty="0" smtClean="0"/>
              <a:t>) over text (</a:t>
            </a:r>
            <a:r>
              <a:rPr lang="en-US" dirty="0" smtClean="0">
                <a:solidFill>
                  <a:srgbClr val="7030A0"/>
                </a:solidFill>
              </a:rPr>
              <a:t>length n</a:t>
            </a:r>
            <a:r>
              <a:rPr lang="en-US" dirty="0" smtClean="0"/>
              <a:t>) </a:t>
            </a:r>
            <a:r>
              <a:rPr lang="en-US" dirty="0"/>
              <a:t>one by one and check for a match. If a match is found, then slides by 1 again to check for subsequent matches</a:t>
            </a:r>
            <a:r>
              <a:rPr lang="en-US" dirty="0" smtClean="0"/>
              <a:t>.  (</a:t>
            </a:r>
            <a:r>
              <a:rPr lang="en-US" dirty="0" smtClean="0">
                <a:solidFill>
                  <a:srgbClr val="7030A0"/>
                </a:solidFill>
              </a:rPr>
              <a:t>already known</a:t>
            </a:r>
            <a:r>
              <a:rPr lang="en-US" dirty="0" smtClean="0"/>
              <a:t>)  </a:t>
            </a:r>
          </a:p>
          <a:p>
            <a:pPr lvl="6"/>
            <a:r>
              <a:rPr lang="en-US" dirty="0" smtClean="0">
                <a:solidFill>
                  <a:srgbClr val="7030A0"/>
                </a:solidFill>
              </a:rPr>
              <a:t>Time Complexity:</a:t>
            </a:r>
            <a:r>
              <a:rPr lang="en-US" dirty="0" smtClean="0"/>
              <a:t> O (m * n)</a:t>
            </a:r>
          </a:p>
          <a:p>
            <a:pPr marL="868680" lvl="3" indent="0">
              <a:buNone/>
            </a:pPr>
            <a:endParaRPr lang="en-US" dirty="0" smtClean="0"/>
          </a:p>
          <a:p>
            <a:pPr lvl="3"/>
            <a:r>
              <a:rPr lang="en-US" dirty="0" smtClean="0">
                <a:solidFill>
                  <a:srgbClr val="7030A0"/>
                </a:solidFill>
              </a:rPr>
              <a:t>Using The TRIE Data Structure: </a:t>
            </a:r>
            <a:r>
              <a:rPr lang="en-US" dirty="0"/>
              <a:t>It is used as an efficient information retrieval data structure. It stores the keys in form of a balanced BST</a:t>
            </a:r>
            <a:r>
              <a:rPr lang="en-US" dirty="0" smtClean="0"/>
              <a:t>.</a:t>
            </a:r>
            <a:r>
              <a:rPr lang="en-US" dirty="0" smtClean="0">
                <a:solidFill>
                  <a:srgbClr val="7030A0"/>
                </a:solidFill>
              </a:rPr>
              <a:t> (already finished)</a:t>
            </a:r>
          </a:p>
          <a:p>
            <a:pPr lvl="3"/>
            <a:endParaRPr lang="en-US" dirty="0">
              <a:solidFill>
                <a:srgbClr val="7030A0"/>
              </a:solidFill>
            </a:endParaRPr>
          </a:p>
          <a:p>
            <a:pPr lvl="3"/>
            <a:r>
              <a:rPr lang="en-US" dirty="0" smtClean="0">
                <a:solidFill>
                  <a:srgbClr val="7030A0"/>
                </a:solidFill>
              </a:rPr>
              <a:t>KMP (Knuth-Morris-Pratt) Algorithm: </a:t>
            </a:r>
            <a:r>
              <a:rPr lang="en-US" dirty="0"/>
              <a:t>The idea is whenever a mismatch is detected, we already know some of the characters in the text of the next window. So, we take advantage of this information to avoid matching the characters that we know will anyway match.</a:t>
            </a:r>
            <a:endParaRPr lang="en-US" dirty="0" smtClean="0">
              <a:solidFill>
                <a:srgbClr val="7030A0"/>
              </a:solidFill>
            </a:endParaRPr>
          </a:p>
        </p:txBody>
      </p:sp>
    </p:spTree>
    <p:extLst>
      <p:ext uri="{BB962C8B-B14F-4D97-AF65-F5344CB8AC3E}">
        <p14:creationId xmlns:p14="http://schemas.microsoft.com/office/powerpoint/2010/main" val="6709190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Categories</a:t>
            </a:r>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8</a:t>
            </a:fld>
            <a:endParaRPr lang="en-US"/>
          </a:p>
        </p:txBody>
      </p:sp>
      <p:sp>
        <p:nvSpPr>
          <p:cNvPr id="6" name="Content Placeholder 5"/>
          <p:cNvSpPr>
            <a:spLocks noGrp="1"/>
          </p:cNvSpPr>
          <p:nvPr>
            <p:ph sz="quarter" idx="1"/>
          </p:nvPr>
        </p:nvSpPr>
        <p:spPr/>
        <p:txBody>
          <a:bodyPr/>
          <a:lstStyle/>
          <a:p>
            <a:r>
              <a:rPr lang="en-US" dirty="0"/>
              <a:t>Algorithms based on character </a:t>
            </a:r>
            <a:r>
              <a:rPr lang="en-US" dirty="0" smtClean="0"/>
              <a:t>comparison</a:t>
            </a:r>
          </a:p>
          <a:p>
            <a:pPr lvl="3"/>
            <a:r>
              <a:rPr lang="en-US" dirty="0" smtClean="0">
                <a:solidFill>
                  <a:srgbClr val="7030A0"/>
                </a:solidFill>
              </a:rPr>
              <a:t>Naïve Algorithm: </a:t>
            </a:r>
            <a:r>
              <a:rPr lang="en-US" dirty="0"/>
              <a:t>It slides the pattern over text one by one and check for a match. If a match is found, then slides by 1 again to check for subsequent matches</a:t>
            </a:r>
            <a:r>
              <a:rPr lang="en-US" dirty="0" smtClean="0"/>
              <a:t>.  (</a:t>
            </a:r>
            <a:r>
              <a:rPr lang="en-US" dirty="0" smtClean="0">
                <a:solidFill>
                  <a:srgbClr val="7030A0"/>
                </a:solidFill>
              </a:rPr>
              <a:t>already known</a:t>
            </a:r>
            <a:r>
              <a:rPr lang="en-US" dirty="0" smtClean="0"/>
              <a:t>)</a:t>
            </a:r>
          </a:p>
          <a:p>
            <a:pPr marL="868680" lvl="3" indent="0">
              <a:buNone/>
            </a:pPr>
            <a:endParaRPr lang="en-US" dirty="0" smtClean="0"/>
          </a:p>
          <a:p>
            <a:pPr lvl="3"/>
            <a:r>
              <a:rPr lang="en-US" dirty="0" smtClean="0">
                <a:solidFill>
                  <a:srgbClr val="7030A0"/>
                </a:solidFill>
              </a:rPr>
              <a:t>Using The TRIE Data Structure: </a:t>
            </a:r>
            <a:r>
              <a:rPr lang="en-US" dirty="0"/>
              <a:t>It is used as an efficient information retrieval data structure. It stores the keys in form of a balanced BST</a:t>
            </a:r>
            <a:r>
              <a:rPr lang="en-US" dirty="0" smtClean="0"/>
              <a:t>.</a:t>
            </a:r>
            <a:r>
              <a:rPr lang="en-US" dirty="0" smtClean="0">
                <a:solidFill>
                  <a:srgbClr val="7030A0"/>
                </a:solidFill>
              </a:rPr>
              <a:t> (already finished)</a:t>
            </a:r>
          </a:p>
          <a:p>
            <a:pPr lvl="3"/>
            <a:endParaRPr lang="en-US" dirty="0">
              <a:solidFill>
                <a:srgbClr val="7030A0"/>
              </a:solidFill>
            </a:endParaRPr>
          </a:p>
          <a:p>
            <a:pPr lvl="3"/>
            <a:r>
              <a:rPr lang="en-US" dirty="0" smtClean="0">
                <a:solidFill>
                  <a:srgbClr val="7030A0"/>
                </a:solidFill>
              </a:rPr>
              <a:t>KMP (Knuth-Morris-Pratt) Algorithm: </a:t>
            </a:r>
            <a:r>
              <a:rPr lang="en-US" dirty="0"/>
              <a:t>The idea is whenever a mismatch is detected, we already know some of the characters in the text of the next window. So, we take advantage of this information to avoid matching the characters that we know will anyway match.</a:t>
            </a:r>
            <a:endParaRPr lang="en-US" dirty="0" smtClean="0">
              <a:solidFill>
                <a:srgbClr val="7030A0"/>
              </a:solidFill>
            </a:endParaRPr>
          </a:p>
        </p:txBody>
      </p:sp>
      <p:cxnSp>
        <p:nvCxnSpPr>
          <p:cNvPr id="8" name="Straight Arrow Connector 7"/>
          <p:cNvCxnSpPr/>
          <p:nvPr/>
        </p:nvCxnSpPr>
        <p:spPr>
          <a:xfrm flipH="1">
            <a:off x="4343400" y="3657600"/>
            <a:ext cx="1600200" cy="457200"/>
          </a:xfrm>
          <a:prstGeom prst="straightConnector1">
            <a:avLst/>
          </a:prstGeom>
          <a:ln>
            <a:solidFill>
              <a:srgbClr val="FF0000"/>
            </a:solidFill>
            <a:tailEnd type="arrow"/>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25414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Pattern Searching</a:t>
            </a:r>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9</a:t>
            </a:fld>
            <a:endParaRPr lang="en-US"/>
          </a:p>
        </p:txBody>
      </p:sp>
      <p:pic>
        <p:nvPicPr>
          <p:cNvPr id="7" name="Content Placeholder 6"/>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219619" y="1859191"/>
            <a:ext cx="6704762" cy="3657143"/>
          </a:xfrm>
        </p:spPr>
      </p:pic>
    </p:spTree>
    <p:extLst>
      <p:ext uri="{BB962C8B-B14F-4D97-AF65-F5344CB8AC3E}">
        <p14:creationId xmlns:p14="http://schemas.microsoft.com/office/powerpoint/2010/main" val="348346399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Pattern Searching</a:t>
            </a:r>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10</a:t>
            </a:fld>
            <a:endParaRPr lang="en-US"/>
          </a:p>
        </p:txBody>
      </p:sp>
      <p:sp>
        <p:nvSpPr>
          <p:cNvPr id="6" name="Content Placeholder 5"/>
          <p:cNvSpPr>
            <a:spLocks noGrp="1"/>
          </p:cNvSpPr>
          <p:nvPr>
            <p:ph sz="quarter" idx="1"/>
          </p:nvPr>
        </p:nvSpPr>
        <p:spPr/>
        <p:txBody>
          <a:bodyPr>
            <a:normAutofit fontScale="77500" lnSpcReduction="20000"/>
          </a:bodyPr>
          <a:lstStyle/>
          <a:p>
            <a:pPr marL="0" indent="0">
              <a:buNone/>
            </a:pPr>
            <a:r>
              <a:rPr lang="en-US" b="1" dirty="0"/>
              <a:t>Input: </a:t>
            </a:r>
            <a:endParaRPr lang="en-US" b="1" dirty="0" smtClean="0"/>
          </a:p>
          <a:p>
            <a:pPr marL="0" indent="0">
              <a:buNone/>
            </a:pPr>
            <a:r>
              <a:rPr lang="en-US" dirty="0" smtClean="0"/>
              <a:t>txt</a:t>
            </a:r>
            <a:r>
              <a:rPr lang="en-US" dirty="0"/>
              <a:t>[] = </a:t>
            </a:r>
            <a:r>
              <a:rPr lang="en-US" dirty="0">
                <a:solidFill>
                  <a:srgbClr val="7030A0"/>
                </a:solidFill>
              </a:rPr>
              <a:t>"THIS IS A TEST TEXT" </a:t>
            </a:r>
            <a:endParaRPr lang="en-US" dirty="0" smtClean="0">
              <a:solidFill>
                <a:srgbClr val="7030A0"/>
              </a:solidFill>
            </a:endParaRPr>
          </a:p>
          <a:p>
            <a:pPr marL="0" indent="0">
              <a:buNone/>
            </a:pPr>
            <a:r>
              <a:rPr lang="en-US" dirty="0" smtClean="0"/>
              <a:t>pat</a:t>
            </a:r>
            <a:r>
              <a:rPr lang="en-US" dirty="0"/>
              <a:t>[] = </a:t>
            </a:r>
            <a:r>
              <a:rPr lang="en-US" dirty="0">
                <a:solidFill>
                  <a:srgbClr val="00B0F0"/>
                </a:solidFill>
              </a:rPr>
              <a:t>"TEST" </a:t>
            </a:r>
            <a:endParaRPr lang="en-US" dirty="0" smtClean="0">
              <a:solidFill>
                <a:srgbClr val="00B0F0"/>
              </a:solidFill>
            </a:endParaRPr>
          </a:p>
          <a:p>
            <a:pPr marL="0" indent="0">
              <a:buNone/>
            </a:pPr>
            <a:r>
              <a:rPr lang="en-US" b="1" dirty="0" smtClean="0"/>
              <a:t>Output</a:t>
            </a:r>
            <a:r>
              <a:rPr lang="en-US" b="1" dirty="0"/>
              <a:t>: </a:t>
            </a:r>
            <a:endParaRPr lang="en-US" b="1" dirty="0" smtClean="0"/>
          </a:p>
          <a:p>
            <a:pPr marL="0" indent="0">
              <a:buNone/>
            </a:pPr>
            <a:r>
              <a:rPr lang="en-US" b="1" dirty="0"/>
              <a:t>	</a:t>
            </a:r>
            <a:r>
              <a:rPr lang="en-US" dirty="0" smtClean="0"/>
              <a:t>Pattern </a:t>
            </a:r>
            <a:r>
              <a:rPr lang="en-US" dirty="0"/>
              <a:t>found at index </a:t>
            </a:r>
            <a:r>
              <a:rPr lang="en-US" dirty="0">
                <a:solidFill>
                  <a:srgbClr val="00B0F0"/>
                </a:solidFill>
              </a:rPr>
              <a:t>10 </a:t>
            </a:r>
            <a:endParaRPr lang="en-US" dirty="0" smtClean="0">
              <a:solidFill>
                <a:srgbClr val="00B0F0"/>
              </a:solidFill>
            </a:endParaRPr>
          </a:p>
          <a:p>
            <a:pPr marL="0" indent="0">
              <a:buNone/>
            </a:pPr>
            <a:endParaRPr lang="en-US" dirty="0"/>
          </a:p>
          <a:p>
            <a:pPr marL="0" indent="0">
              <a:buNone/>
            </a:pPr>
            <a:endParaRPr lang="en-US" dirty="0" smtClean="0"/>
          </a:p>
          <a:p>
            <a:pPr marL="0" indent="0">
              <a:buNone/>
            </a:pPr>
            <a:r>
              <a:rPr lang="en-US" b="1" dirty="0" smtClean="0"/>
              <a:t>Input</a:t>
            </a:r>
            <a:r>
              <a:rPr lang="en-US" b="1" dirty="0"/>
              <a:t>: </a:t>
            </a:r>
            <a:endParaRPr lang="en-US" b="1" dirty="0" smtClean="0"/>
          </a:p>
          <a:p>
            <a:pPr marL="0" indent="0">
              <a:buNone/>
            </a:pPr>
            <a:r>
              <a:rPr lang="en-US" dirty="0" smtClean="0"/>
              <a:t>txt</a:t>
            </a:r>
            <a:r>
              <a:rPr lang="en-US" dirty="0"/>
              <a:t>[] = "</a:t>
            </a:r>
            <a:r>
              <a:rPr lang="en-US" dirty="0">
                <a:solidFill>
                  <a:srgbClr val="7030A0"/>
                </a:solidFill>
              </a:rPr>
              <a:t>AABAACAADAABAABA</a:t>
            </a:r>
            <a:r>
              <a:rPr lang="en-US" dirty="0"/>
              <a:t>" </a:t>
            </a:r>
            <a:endParaRPr lang="en-US" dirty="0" smtClean="0"/>
          </a:p>
          <a:p>
            <a:pPr marL="0" indent="0">
              <a:buNone/>
            </a:pPr>
            <a:r>
              <a:rPr lang="en-US" dirty="0" smtClean="0"/>
              <a:t>pat</a:t>
            </a:r>
            <a:r>
              <a:rPr lang="en-US" dirty="0"/>
              <a:t>[] = "</a:t>
            </a:r>
            <a:r>
              <a:rPr lang="en-US" dirty="0">
                <a:solidFill>
                  <a:srgbClr val="00B0F0"/>
                </a:solidFill>
              </a:rPr>
              <a:t>AABA</a:t>
            </a:r>
            <a:r>
              <a:rPr lang="en-US" dirty="0"/>
              <a:t>" </a:t>
            </a:r>
            <a:endParaRPr lang="en-US" dirty="0" smtClean="0"/>
          </a:p>
          <a:p>
            <a:pPr marL="0" indent="0">
              <a:buNone/>
            </a:pPr>
            <a:r>
              <a:rPr lang="en-US" b="1" dirty="0" smtClean="0"/>
              <a:t>Output</a:t>
            </a:r>
            <a:r>
              <a:rPr lang="en-US" b="1" dirty="0"/>
              <a:t>: </a:t>
            </a:r>
            <a:endParaRPr lang="en-US" b="1" dirty="0" smtClean="0"/>
          </a:p>
          <a:p>
            <a:pPr marL="0" indent="0">
              <a:buNone/>
            </a:pPr>
            <a:r>
              <a:rPr lang="en-US" dirty="0"/>
              <a:t>	</a:t>
            </a:r>
            <a:r>
              <a:rPr lang="en-US" dirty="0" smtClean="0"/>
              <a:t>Pattern </a:t>
            </a:r>
            <a:r>
              <a:rPr lang="en-US" dirty="0"/>
              <a:t>found at index </a:t>
            </a:r>
            <a:r>
              <a:rPr lang="en-US" dirty="0">
                <a:solidFill>
                  <a:srgbClr val="00B0F0"/>
                </a:solidFill>
              </a:rPr>
              <a:t>0</a:t>
            </a:r>
            <a:r>
              <a:rPr lang="en-US" dirty="0"/>
              <a:t> </a:t>
            </a:r>
            <a:endParaRPr lang="en-US" dirty="0" smtClean="0"/>
          </a:p>
          <a:p>
            <a:pPr marL="0" indent="0">
              <a:buNone/>
            </a:pPr>
            <a:r>
              <a:rPr lang="en-US" dirty="0"/>
              <a:t>	</a:t>
            </a:r>
            <a:r>
              <a:rPr lang="en-US" dirty="0" smtClean="0"/>
              <a:t>Pattern </a:t>
            </a:r>
            <a:r>
              <a:rPr lang="en-US" dirty="0"/>
              <a:t>found at index </a:t>
            </a:r>
            <a:r>
              <a:rPr lang="en-US" dirty="0">
                <a:solidFill>
                  <a:srgbClr val="00B0F0"/>
                </a:solidFill>
              </a:rPr>
              <a:t>9</a:t>
            </a:r>
            <a:r>
              <a:rPr lang="en-US" dirty="0"/>
              <a:t> </a:t>
            </a:r>
            <a:endParaRPr lang="en-US" dirty="0" smtClean="0"/>
          </a:p>
          <a:p>
            <a:pPr marL="0" indent="0">
              <a:buNone/>
            </a:pPr>
            <a:r>
              <a:rPr lang="en-US" dirty="0"/>
              <a:t>	</a:t>
            </a:r>
            <a:r>
              <a:rPr lang="en-US" dirty="0" smtClean="0"/>
              <a:t>Pattern </a:t>
            </a:r>
            <a:r>
              <a:rPr lang="en-US" dirty="0"/>
              <a:t>found at index </a:t>
            </a:r>
            <a:r>
              <a:rPr lang="en-US" dirty="0">
                <a:solidFill>
                  <a:srgbClr val="00B0F0"/>
                </a:solidFill>
              </a:rPr>
              <a:t>12</a:t>
            </a:r>
            <a:r>
              <a:rPr lang="en-US" dirty="0"/>
              <a:t> </a:t>
            </a:r>
            <a:br>
              <a:rPr lang="en-US" dirty="0"/>
            </a:br>
            <a:endParaRPr lang="en-US" dirty="0"/>
          </a:p>
        </p:txBody>
      </p:sp>
    </p:spTree>
    <p:extLst>
      <p:ext uri="{BB962C8B-B14F-4D97-AF65-F5344CB8AC3E}">
        <p14:creationId xmlns:p14="http://schemas.microsoft.com/office/powerpoint/2010/main" val="394404440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Limitations of Naïve Pattern Searching</a:t>
            </a:r>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11</a:t>
            </a:fld>
            <a:endParaRPr lang="en-US"/>
          </a:p>
        </p:txBody>
      </p:sp>
      <p:sp>
        <p:nvSpPr>
          <p:cNvPr id="6" name="Content Placeholder 5"/>
          <p:cNvSpPr>
            <a:spLocks noGrp="1"/>
          </p:cNvSpPr>
          <p:nvPr>
            <p:ph sz="quarter" idx="1"/>
          </p:nvPr>
        </p:nvSpPr>
        <p:spPr/>
        <p:txBody>
          <a:bodyPr>
            <a:normAutofit lnSpcReduction="10000"/>
          </a:bodyPr>
          <a:lstStyle/>
          <a:p>
            <a:pPr marL="0" indent="0">
              <a:buNone/>
            </a:pPr>
            <a:r>
              <a:rPr lang="en-US" dirty="0"/>
              <a:t>The </a:t>
            </a:r>
            <a:r>
              <a:rPr lang="en-US" i="1" dirty="0" smtClean="0"/>
              <a:t>Naïve Pattern Searching Algorithm</a:t>
            </a:r>
            <a:r>
              <a:rPr lang="en-US" dirty="0"/>
              <a:t> doesn’t work well in cases where we see many matching characters followed by a mismatching </a:t>
            </a:r>
            <a:r>
              <a:rPr lang="en-US" dirty="0" smtClean="0"/>
              <a:t>character</a:t>
            </a:r>
            <a:r>
              <a:rPr lang="en-US" dirty="0"/>
              <a:t>. Following are some examples</a:t>
            </a:r>
            <a:r>
              <a:rPr lang="en-US" dirty="0" smtClean="0"/>
              <a:t>.</a:t>
            </a:r>
          </a:p>
          <a:p>
            <a:pPr marL="0" indent="0">
              <a:buNone/>
            </a:pPr>
            <a:endParaRPr lang="en-US" dirty="0"/>
          </a:p>
          <a:p>
            <a:pPr marL="0" indent="0">
              <a:buNone/>
            </a:pPr>
            <a:r>
              <a:rPr lang="en-US" dirty="0"/>
              <a:t>txt[] = "</a:t>
            </a:r>
            <a:r>
              <a:rPr lang="en-US" dirty="0">
                <a:solidFill>
                  <a:srgbClr val="7030A0"/>
                </a:solidFill>
              </a:rPr>
              <a:t>AAAAAAAAAAAAAAAAAB</a:t>
            </a:r>
            <a:r>
              <a:rPr lang="en-US" dirty="0"/>
              <a:t>" </a:t>
            </a:r>
            <a:endParaRPr lang="en-US" dirty="0" smtClean="0"/>
          </a:p>
          <a:p>
            <a:pPr marL="0" indent="0">
              <a:buNone/>
            </a:pPr>
            <a:r>
              <a:rPr lang="en-US" dirty="0" smtClean="0"/>
              <a:t>pat</a:t>
            </a:r>
            <a:r>
              <a:rPr lang="en-US" dirty="0"/>
              <a:t>[] = "</a:t>
            </a:r>
            <a:r>
              <a:rPr lang="en-US" dirty="0" smtClean="0">
                <a:solidFill>
                  <a:srgbClr val="00B0F0"/>
                </a:solidFill>
              </a:rPr>
              <a:t>AAAAB</a:t>
            </a:r>
            <a:r>
              <a:rPr lang="en-US" dirty="0" smtClean="0"/>
              <a:t>”</a:t>
            </a:r>
          </a:p>
          <a:p>
            <a:pPr marL="0" indent="0">
              <a:buNone/>
            </a:pPr>
            <a:endParaRPr lang="en-US" dirty="0"/>
          </a:p>
          <a:p>
            <a:pPr marL="0" indent="0">
              <a:buNone/>
            </a:pPr>
            <a:endParaRPr lang="en-US" dirty="0" smtClean="0"/>
          </a:p>
          <a:p>
            <a:pPr marL="0" indent="0">
              <a:buNone/>
            </a:pPr>
            <a:r>
              <a:rPr lang="en-US" dirty="0" smtClean="0"/>
              <a:t>txt</a:t>
            </a:r>
            <a:r>
              <a:rPr lang="en-US" dirty="0"/>
              <a:t>[] = "</a:t>
            </a:r>
            <a:r>
              <a:rPr lang="en-US" dirty="0">
                <a:solidFill>
                  <a:srgbClr val="7030A0"/>
                </a:solidFill>
              </a:rPr>
              <a:t>ABABABCABABABCABABABC</a:t>
            </a:r>
            <a:r>
              <a:rPr lang="en-US" dirty="0"/>
              <a:t>" </a:t>
            </a:r>
            <a:endParaRPr lang="en-US" dirty="0" smtClean="0"/>
          </a:p>
          <a:p>
            <a:pPr marL="0" indent="0">
              <a:buNone/>
            </a:pPr>
            <a:r>
              <a:rPr lang="en-US" dirty="0" smtClean="0"/>
              <a:t>pat</a:t>
            </a:r>
            <a:r>
              <a:rPr lang="en-US" dirty="0"/>
              <a:t>[] = "</a:t>
            </a:r>
            <a:r>
              <a:rPr lang="en-US" dirty="0">
                <a:solidFill>
                  <a:srgbClr val="00B0F0"/>
                </a:solidFill>
              </a:rPr>
              <a:t>ABABAC</a:t>
            </a:r>
            <a:r>
              <a:rPr lang="en-US" dirty="0"/>
              <a:t>" (not a worst case, but a bad case for Naive)</a:t>
            </a:r>
          </a:p>
        </p:txBody>
      </p:sp>
    </p:spTree>
    <p:extLst>
      <p:ext uri="{BB962C8B-B14F-4D97-AF65-F5344CB8AC3E}">
        <p14:creationId xmlns:p14="http://schemas.microsoft.com/office/powerpoint/2010/main" val="24847107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KMP Algorithm</a:t>
            </a:r>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12</a:t>
            </a:fld>
            <a:endParaRPr lang="en-US"/>
          </a:p>
        </p:txBody>
      </p:sp>
      <p:sp>
        <p:nvSpPr>
          <p:cNvPr id="6" name="Content Placeholder 5"/>
          <p:cNvSpPr>
            <a:spLocks noGrp="1"/>
          </p:cNvSpPr>
          <p:nvPr>
            <p:ph sz="quarter" idx="1"/>
          </p:nvPr>
        </p:nvSpPr>
        <p:spPr/>
        <p:txBody>
          <a:bodyPr/>
          <a:lstStyle/>
          <a:p>
            <a:pPr marL="0" indent="0">
              <a:buNone/>
            </a:pPr>
            <a:endParaRPr lang="en-US" dirty="0" smtClean="0"/>
          </a:p>
          <a:p>
            <a:pPr marL="0" indent="0">
              <a:buNone/>
            </a:pPr>
            <a:r>
              <a:rPr lang="en-US" dirty="0" smtClean="0"/>
              <a:t>The </a:t>
            </a:r>
            <a:r>
              <a:rPr lang="en-US" i="1" dirty="0"/>
              <a:t>KMP matching algorithm </a:t>
            </a:r>
            <a:r>
              <a:rPr lang="en-US" dirty="0"/>
              <a:t>uses degenerating property (pattern having same sub-patterns appearing more than once in the pattern) of the pattern and improves the worst case complexity to </a:t>
            </a:r>
            <a:r>
              <a:rPr lang="en-US" dirty="0">
                <a:solidFill>
                  <a:srgbClr val="7030A0"/>
                </a:solidFill>
              </a:rPr>
              <a:t>O(n).</a:t>
            </a:r>
            <a:r>
              <a:rPr lang="en-US" dirty="0"/>
              <a:t> </a:t>
            </a:r>
            <a:endParaRPr lang="en-US" dirty="0" smtClean="0"/>
          </a:p>
          <a:p>
            <a:pPr marL="0" indent="0">
              <a:buNone/>
            </a:pPr>
            <a:endParaRPr lang="en-US" dirty="0"/>
          </a:p>
          <a:p>
            <a:pPr marL="0" indent="0">
              <a:buNone/>
            </a:pPr>
            <a:r>
              <a:rPr lang="en-US" dirty="0" smtClean="0"/>
              <a:t>Let’s consider the following example:</a:t>
            </a:r>
          </a:p>
          <a:p>
            <a:pPr marL="0" indent="0">
              <a:buNone/>
            </a:pPr>
            <a:r>
              <a:rPr lang="en-US" dirty="0"/>
              <a:t>text [ </a:t>
            </a:r>
            <a:r>
              <a:rPr lang="en-US" dirty="0" smtClean="0"/>
              <a:t>]=      </a:t>
            </a:r>
            <a:r>
              <a:rPr lang="en-US" dirty="0"/>
              <a:t>"</a:t>
            </a:r>
            <a:r>
              <a:rPr lang="en-US" dirty="0" smtClean="0"/>
              <a:t>AAAAABAAABA”</a:t>
            </a:r>
          </a:p>
          <a:p>
            <a:pPr marL="0" indent="0">
              <a:buNone/>
            </a:pPr>
            <a:r>
              <a:rPr lang="en-US" dirty="0" smtClean="0"/>
              <a:t>pattern [ ] </a:t>
            </a:r>
            <a:r>
              <a:rPr lang="en-US" dirty="0"/>
              <a:t>= "</a:t>
            </a:r>
            <a:r>
              <a:rPr lang="en-US" dirty="0" smtClean="0"/>
              <a:t>AAAA"</a:t>
            </a:r>
            <a:endParaRPr lang="en-US" dirty="0"/>
          </a:p>
        </p:txBody>
      </p:sp>
    </p:spTree>
    <p:extLst>
      <p:ext uri="{BB962C8B-B14F-4D97-AF65-F5344CB8AC3E}">
        <p14:creationId xmlns:p14="http://schemas.microsoft.com/office/powerpoint/2010/main" val="14747280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Lets’ Start</a:t>
            </a:r>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13</a:t>
            </a:fld>
            <a:endParaRPr lang="en-US"/>
          </a:p>
        </p:txBody>
      </p:sp>
      <p:sp>
        <p:nvSpPr>
          <p:cNvPr id="6" name="Content Placeholder 5"/>
          <p:cNvSpPr>
            <a:spLocks noGrp="1"/>
          </p:cNvSpPr>
          <p:nvPr>
            <p:ph sz="quarter" idx="1"/>
          </p:nvPr>
        </p:nvSpPr>
        <p:spPr/>
        <p:txBody>
          <a:bodyPr/>
          <a:lstStyle/>
          <a:p>
            <a:pPr marL="0" indent="0">
              <a:buNone/>
            </a:pPr>
            <a:r>
              <a:rPr lang="en-US" dirty="0" smtClean="0"/>
              <a:t>Iterator i for text,  j for pattern.</a:t>
            </a:r>
          </a:p>
          <a:p>
            <a:pPr marL="0" indent="0">
              <a:buNone/>
            </a:pPr>
            <a:endParaRPr lang="en-US" dirty="0"/>
          </a:p>
          <a:p>
            <a:pPr marL="0" indent="0">
              <a:buNone/>
            </a:pPr>
            <a:r>
              <a:rPr lang="en-US" dirty="0" smtClean="0"/>
              <a:t>            0    1    2    3    4     5    6     7    8    9    10</a:t>
            </a:r>
          </a:p>
          <a:p>
            <a:pPr marL="0" indent="0">
              <a:buNone/>
            </a:pPr>
            <a:r>
              <a:rPr lang="en-US" dirty="0" smtClean="0">
                <a:solidFill>
                  <a:srgbClr val="7030A0"/>
                </a:solidFill>
              </a:rPr>
              <a:t>text: </a:t>
            </a:r>
          </a:p>
          <a:p>
            <a:pPr marL="0" indent="0">
              <a:buNone/>
            </a:pPr>
            <a:endParaRPr lang="en-US" dirty="0"/>
          </a:p>
          <a:p>
            <a:pPr marL="0" indent="0">
              <a:buNone/>
            </a:pPr>
            <a:r>
              <a:rPr lang="en-US" dirty="0" smtClean="0">
                <a:solidFill>
                  <a:srgbClr val="7030A0"/>
                </a:solidFill>
              </a:rPr>
              <a:t>pattern:</a:t>
            </a:r>
          </a:p>
          <a:p>
            <a:pPr marL="0" indent="0">
              <a:buNone/>
            </a:pPr>
            <a:r>
              <a:rPr lang="en-US" dirty="0"/>
              <a:t> </a:t>
            </a:r>
            <a:r>
              <a:rPr lang="en-US" dirty="0" smtClean="0"/>
              <a:t>             0    1   2    3    </a:t>
            </a: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187042281"/>
              </p:ext>
            </p:extLst>
          </p:nvPr>
        </p:nvGraphicFramePr>
        <p:xfrm>
          <a:off x="1524000" y="2743200"/>
          <a:ext cx="6096002" cy="370840"/>
        </p:xfrm>
        <a:graphic>
          <a:graphicData uri="http://schemas.openxmlformats.org/drawingml/2006/table">
            <a:tbl>
              <a:tblPr firstRow="1" bandRow="1">
                <a:tableStyleId>{616DA210-FB5B-4158-B5E0-FEB733F419BA}</a:tableStyleId>
              </a:tblPr>
              <a:tblGrid>
                <a:gridCol w="554182"/>
                <a:gridCol w="554182"/>
                <a:gridCol w="554182"/>
                <a:gridCol w="554182"/>
                <a:gridCol w="554182"/>
                <a:gridCol w="554182"/>
                <a:gridCol w="554182"/>
                <a:gridCol w="554182"/>
                <a:gridCol w="554182"/>
                <a:gridCol w="554182"/>
                <a:gridCol w="554182"/>
              </a:tblGrid>
              <a:tr h="370840">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A</a:t>
                      </a:r>
                      <a:endParaRPr lang="en-US" dirty="0"/>
                    </a:p>
                  </a:txBody>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779339727"/>
              </p:ext>
            </p:extLst>
          </p:nvPr>
        </p:nvGraphicFramePr>
        <p:xfrm>
          <a:off x="1752600" y="3657600"/>
          <a:ext cx="1905000" cy="365760"/>
        </p:xfrm>
        <a:graphic>
          <a:graphicData uri="http://schemas.openxmlformats.org/drawingml/2006/table">
            <a:tbl>
              <a:tblPr firstRow="1" bandRow="1">
                <a:tableStyleId>{616DA210-FB5B-4158-B5E0-FEB733F419BA}</a:tableStyleId>
              </a:tblPr>
              <a:tblGrid>
                <a:gridCol w="476250"/>
                <a:gridCol w="476250"/>
                <a:gridCol w="476250"/>
                <a:gridCol w="476250"/>
              </a:tblGrid>
              <a:tr h="304800">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A</a:t>
                      </a:r>
                      <a:endParaRPr lang="en-US" dirty="0"/>
                    </a:p>
                  </a:txBody>
                  <a:tcPr/>
                </a:tc>
              </a:tr>
            </a:tbl>
          </a:graphicData>
        </a:graphic>
      </p:graphicFrame>
    </p:spTree>
    <p:extLst>
      <p:ext uri="{BB962C8B-B14F-4D97-AF65-F5344CB8AC3E}">
        <p14:creationId xmlns:p14="http://schemas.microsoft.com/office/powerpoint/2010/main" val="133535493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14</a:t>
            </a:fld>
            <a:endParaRPr lang="en-US"/>
          </a:p>
        </p:txBody>
      </p:sp>
      <p:sp>
        <p:nvSpPr>
          <p:cNvPr id="6" name="Content Placeholder 5"/>
          <p:cNvSpPr>
            <a:spLocks noGrp="1"/>
          </p:cNvSpPr>
          <p:nvPr>
            <p:ph sz="quarter" idx="1"/>
          </p:nvPr>
        </p:nvSpPr>
        <p:spPr/>
        <p:txBody>
          <a:bodyPr/>
          <a:lstStyle/>
          <a:p>
            <a:pPr marL="0" indent="0">
              <a:buNone/>
            </a:pPr>
            <a:endParaRPr lang="en-US" dirty="0"/>
          </a:p>
          <a:p>
            <a:pPr marL="0" indent="0">
              <a:buNone/>
            </a:pPr>
            <a:endParaRPr lang="en-US" dirty="0"/>
          </a:p>
          <a:p>
            <a:pPr marL="0" indent="0">
              <a:buNone/>
            </a:pPr>
            <a:r>
              <a:rPr lang="en-US" dirty="0" smtClean="0"/>
              <a:t>            0    1    2    3    4     5    6     7    8    9    10</a:t>
            </a:r>
          </a:p>
          <a:p>
            <a:pPr marL="0" indent="0">
              <a:buNone/>
            </a:pPr>
            <a:r>
              <a:rPr lang="en-US" dirty="0" smtClean="0">
                <a:solidFill>
                  <a:srgbClr val="7030A0"/>
                </a:solidFill>
              </a:rPr>
              <a:t>text: </a:t>
            </a:r>
          </a:p>
          <a:p>
            <a:pPr marL="0" indent="0">
              <a:buNone/>
            </a:pPr>
            <a:r>
              <a:rPr lang="en-US" dirty="0" smtClean="0"/>
              <a:t>	 </a:t>
            </a:r>
            <a:r>
              <a:rPr lang="en-US" dirty="0" smtClean="0">
                <a:solidFill>
                  <a:srgbClr val="00B0F0"/>
                </a:solidFill>
              </a:rPr>
              <a:t> i</a:t>
            </a:r>
            <a:r>
              <a:rPr lang="en-US" dirty="0" smtClean="0"/>
              <a:t>	</a:t>
            </a:r>
            <a:endParaRPr lang="en-US" dirty="0"/>
          </a:p>
          <a:p>
            <a:pPr marL="0" indent="0">
              <a:buNone/>
            </a:pPr>
            <a:r>
              <a:rPr lang="en-US" dirty="0" smtClean="0">
                <a:solidFill>
                  <a:srgbClr val="7030A0"/>
                </a:solidFill>
              </a:rPr>
              <a:t>pattern:</a:t>
            </a:r>
          </a:p>
          <a:p>
            <a:pPr marL="0" indent="0">
              <a:buNone/>
            </a:pPr>
            <a:r>
              <a:rPr lang="en-US" dirty="0" smtClean="0"/>
              <a:t>              0    1   2    3   </a:t>
            </a:r>
          </a:p>
          <a:p>
            <a:pPr marL="0" indent="0">
              <a:buNone/>
            </a:pPr>
            <a:r>
              <a:rPr lang="en-US" dirty="0"/>
              <a:t> </a:t>
            </a:r>
            <a:r>
              <a:rPr lang="en-US" dirty="0" smtClean="0"/>
              <a:t>            </a:t>
            </a:r>
            <a:r>
              <a:rPr lang="en-US" dirty="0" smtClean="0">
                <a:solidFill>
                  <a:srgbClr val="00B0F0"/>
                </a:solidFill>
              </a:rPr>
              <a:t> j </a:t>
            </a:r>
            <a:endParaRPr lang="en-US" dirty="0">
              <a:solidFill>
                <a:srgbClr val="00B0F0"/>
              </a:solidFill>
            </a:endParaRPr>
          </a:p>
        </p:txBody>
      </p:sp>
      <p:graphicFrame>
        <p:nvGraphicFramePr>
          <p:cNvPr id="8" name="Table 7"/>
          <p:cNvGraphicFramePr>
            <a:graphicFrameLocks noGrp="1"/>
          </p:cNvGraphicFramePr>
          <p:nvPr>
            <p:extLst>
              <p:ext uri="{D42A27DB-BD31-4B8C-83A1-F6EECF244321}">
                <p14:modId xmlns:p14="http://schemas.microsoft.com/office/powerpoint/2010/main" val="2309456613"/>
              </p:ext>
            </p:extLst>
          </p:nvPr>
        </p:nvGraphicFramePr>
        <p:xfrm>
          <a:off x="1524000" y="2743200"/>
          <a:ext cx="6096002" cy="370840"/>
        </p:xfrm>
        <a:graphic>
          <a:graphicData uri="http://schemas.openxmlformats.org/drawingml/2006/table">
            <a:tbl>
              <a:tblPr firstRow="1" firstCol="1" bandRow="1">
                <a:tableStyleId>{616DA210-FB5B-4158-B5E0-FEB733F419BA}</a:tableStyleId>
              </a:tblPr>
              <a:tblGrid>
                <a:gridCol w="554182"/>
                <a:gridCol w="554182"/>
                <a:gridCol w="554182"/>
                <a:gridCol w="554182"/>
                <a:gridCol w="554182"/>
                <a:gridCol w="554182"/>
                <a:gridCol w="554182"/>
                <a:gridCol w="554182"/>
                <a:gridCol w="554182"/>
                <a:gridCol w="554182"/>
                <a:gridCol w="554182"/>
              </a:tblGrid>
              <a:tr h="370840">
                <a:tc>
                  <a:txBody>
                    <a:bodyPr/>
                    <a:lstStyle/>
                    <a:p>
                      <a:r>
                        <a:rPr lang="en-US" dirty="0" smtClean="0"/>
                        <a:t>A</a:t>
                      </a:r>
                      <a:endParaRPr lang="en-US" dirty="0"/>
                    </a:p>
                  </a:txBody>
                  <a:tcPr>
                    <a:solidFill>
                      <a:srgbClr val="00B050"/>
                    </a:solidFill>
                  </a:tcPr>
                </a:tc>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A</a:t>
                      </a:r>
                      <a:endParaRPr lang="en-US" dirty="0"/>
                    </a:p>
                  </a:txBody>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495704672"/>
              </p:ext>
            </p:extLst>
          </p:nvPr>
        </p:nvGraphicFramePr>
        <p:xfrm>
          <a:off x="1752600" y="3657600"/>
          <a:ext cx="1905000" cy="365760"/>
        </p:xfrm>
        <a:graphic>
          <a:graphicData uri="http://schemas.openxmlformats.org/drawingml/2006/table">
            <a:tbl>
              <a:tblPr firstRow="1" firstCol="1" bandRow="1">
                <a:tableStyleId>{616DA210-FB5B-4158-B5E0-FEB733F419BA}</a:tableStyleId>
              </a:tblPr>
              <a:tblGrid>
                <a:gridCol w="476250"/>
                <a:gridCol w="476250"/>
                <a:gridCol w="476250"/>
                <a:gridCol w="476250"/>
              </a:tblGrid>
              <a:tr h="304800">
                <a:tc>
                  <a:txBody>
                    <a:bodyPr/>
                    <a:lstStyle/>
                    <a:p>
                      <a:r>
                        <a:rPr lang="en-US" dirty="0" smtClean="0"/>
                        <a:t>A</a:t>
                      </a:r>
                      <a:endParaRPr lang="en-US" dirty="0"/>
                    </a:p>
                  </a:txBody>
                  <a:tcPr>
                    <a:solidFill>
                      <a:srgbClr val="00B050"/>
                    </a:solidFill>
                  </a:tcPr>
                </a:tc>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A</a:t>
                      </a:r>
                      <a:endParaRPr lang="en-US" dirty="0"/>
                    </a:p>
                  </a:txBody>
                  <a:tcPr/>
                </a:tc>
              </a:tr>
            </a:tbl>
          </a:graphicData>
        </a:graphic>
      </p:graphicFrame>
      <p:sp>
        <p:nvSpPr>
          <p:cNvPr id="7" name="Curved Right Arrow 6"/>
          <p:cNvSpPr/>
          <p:nvPr/>
        </p:nvSpPr>
        <p:spPr>
          <a:xfrm>
            <a:off x="1295400" y="2959608"/>
            <a:ext cx="304800" cy="990600"/>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extBox 9"/>
          <p:cNvSpPr txBox="1"/>
          <p:nvPr/>
        </p:nvSpPr>
        <p:spPr>
          <a:xfrm>
            <a:off x="457200" y="3270242"/>
            <a:ext cx="755335" cy="369332"/>
          </a:xfrm>
          <a:prstGeom prst="rect">
            <a:avLst/>
          </a:prstGeom>
          <a:noFill/>
          <a:ln>
            <a:solidFill>
              <a:schemeClr val="tx1"/>
            </a:solidFill>
          </a:ln>
        </p:spPr>
        <p:txBody>
          <a:bodyPr wrap="none" rtlCol="0">
            <a:spAutoFit/>
          </a:bodyPr>
          <a:lstStyle/>
          <a:p>
            <a:r>
              <a:rPr lang="en-US" dirty="0" smtClean="0">
                <a:solidFill>
                  <a:srgbClr val="C00000"/>
                </a:solidFill>
              </a:rPr>
              <a:t>Match</a:t>
            </a:r>
            <a:endParaRPr lang="en-US" dirty="0">
              <a:solidFill>
                <a:srgbClr val="C00000"/>
              </a:solidFill>
            </a:endParaRPr>
          </a:p>
        </p:txBody>
      </p:sp>
    </p:spTree>
    <p:extLst>
      <p:ext uri="{BB962C8B-B14F-4D97-AF65-F5344CB8AC3E}">
        <p14:creationId xmlns:p14="http://schemas.microsoft.com/office/powerpoint/2010/main" val="156565708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15</a:t>
            </a:fld>
            <a:endParaRPr lang="en-US"/>
          </a:p>
        </p:txBody>
      </p:sp>
      <p:sp>
        <p:nvSpPr>
          <p:cNvPr id="6" name="Content Placeholder 5"/>
          <p:cNvSpPr>
            <a:spLocks noGrp="1"/>
          </p:cNvSpPr>
          <p:nvPr>
            <p:ph sz="quarter" idx="1"/>
          </p:nvPr>
        </p:nvSpPr>
        <p:spPr/>
        <p:txBody>
          <a:bodyPr/>
          <a:lstStyle/>
          <a:p>
            <a:pPr marL="0" indent="0">
              <a:buNone/>
            </a:pPr>
            <a:endParaRPr lang="en-US" dirty="0"/>
          </a:p>
          <a:p>
            <a:pPr marL="0" indent="0">
              <a:buNone/>
            </a:pPr>
            <a:endParaRPr lang="en-US" dirty="0"/>
          </a:p>
          <a:p>
            <a:pPr marL="0" indent="0">
              <a:buNone/>
            </a:pPr>
            <a:r>
              <a:rPr lang="en-US" dirty="0" smtClean="0"/>
              <a:t>            0    1    2    3    4     5    6     7    8    9    10</a:t>
            </a:r>
          </a:p>
          <a:p>
            <a:pPr marL="0" indent="0">
              <a:buNone/>
            </a:pPr>
            <a:r>
              <a:rPr lang="en-US" dirty="0" smtClean="0">
                <a:solidFill>
                  <a:srgbClr val="7030A0"/>
                </a:solidFill>
              </a:rPr>
              <a:t>text: </a:t>
            </a:r>
          </a:p>
          <a:p>
            <a:pPr marL="0" indent="0">
              <a:buNone/>
            </a:pPr>
            <a:r>
              <a:rPr lang="en-US" dirty="0" smtClean="0"/>
              <a:t>	        </a:t>
            </a:r>
            <a:r>
              <a:rPr lang="en-US" dirty="0" smtClean="0">
                <a:solidFill>
                  <a:srgbClr val="00B0F0"/>
                </a:solidFill>
              </a:rPr>
              <a:t> i</a:t>
            </a:r>
            <a:r>
              <a:rPr lang="en-US" dirty="0" smtClean="0"/>
              <a:t>	</a:t>
            </a:r>
            <a:endParaRPr lang="en-US" dirty="0"/>
          </a:p>
          <a:p>
            <a:pPr marL="0" indent="0">
              <a:buNone/>
            </a:pPr>
            <a:r>
              <a:rPr lang="en-US" dirty="0" smtClean="0">
                <a:solidFill>
                  <a:srgbClr val="7030A0"/>
                </a:solidFill>
              </a:rPr>
              <a:t>pattern:</a:t>
            </a:r>
          </a:p>
          <a:p>
            <a:pPr marL="0" indent="0">
              <a:buNone/>
            </a:pPr>
            <a:r>
              <a:rPr lang="en-US" dirty="0" smtClean="0"/>
              <a:t>              0    1   2    3   </a:t>
            </a:r>
          </a:p>
          <a:p>
            <a:pPr marL="0" indent="0">
              <a:buNone/>
            </a:pPr>
            <a:r>
              <a:rPr lang="en-US" dirty="0"/>
              <a:t> </a:t>
            </a:r>
            <a:r>
              <a:rPr lang="en-US" dirty="0" smtClean="0"/>
              <a:t>            </a:t>
            </a:r>
            <a:r>
              <a:rPr lang="en-US" dirty="0" smtClean="0">
                <a:solidFill>
                  <a:srgbClr val="00B0F0"/>
                </a:solidFill>
              </a:rPr>
              <a:t>       j </a:t>
            </a:r>
            <a:endParaRPr lang="en-US" dirty="0">
              <a:solidFill>
                <a:srgbClr val="00B0F0"/>
              </a:solidFill>
            </a:endParaRPr>
          </a:p>
        </p:txBody>
      </p:sp>
      <p:graphicFrame>
        <p:nvGraphicFramePr>
          <p:cNvPr id="8" name="Table 7"/>
          <p:cNvGraphicFramePr>
            <a:graphicFrameLocks noGrp="1"/>
          </p:cNvGraphicFramePr>
          <p:nvPr>
            <p:extLst>
              <p:ext uri="{D42A27DB-BD31-4B8C-83A1-F6EECF244321}">
                <p14:modId xmlns:p14="http://schemas.microsoft.com/office/powerpoint/2010/main" val="1926040453"/>
              </p:ext>
            </p:extLst>
          </p:nvPr>
        </p:nvGraphicFramePr>
        <p:xfrm>
          <a:off x="1524000" y="2743200"/>
          <a:ext cx="6096002" cy="370840"/>
        </p:xfrm>
        <a:graphic>
          <a:graphicData uri="http://schemas.openxmlformats.org/drawingml/2006/table">
            <a:tbl>
              <a:tblPr firstRow="1" bandRow="1">
                <a:tableStyleId>{616DA210-FB5B-4158-B5E0-FEB733F419BA}</a:tableStyleId>
              </a:tblPr>
              <a:tblGrid>
                <a:gridCol w="554182"/>
                <a:gridCol w="554182"/>
                <a:gridCol w="554182"/>
                <a:gridCol w="554182"/>
                <a:gridCol w="554182"/>
                <a:gridCol w="554182"/>
                <a:gridCol w="554182"/>
                <a:gridCol w="554182"/>
                <a:gridCol w="554182"/>
                <a:gridCol w="554182"/>
                <a:gridCol w="554182"/>
              </a:tblGrid>
              <a:tr h="370840">
                <a:tc>
                  <a:txBody>
                    <a:bodyPr/>
                    <a:lstStyle/>
                    <a:p>
                      <a:r>
                        <a:rPr lang="en-US" dirty="0" smtClean="0"/>
                        <a:t>A</a:t>
                      </a:r>
                      <a:endParaRPr lang="en-US" dirty="0"/>
                    </a:p>
                  </a:txBody>
                  <a:tcPr>
                    <a:solidFill>
                      <a:srgbClr val="00B050"/>
                    </a:solidFill>
                  </a:tcPr>
                </a:tc>
                <a:tc>
                  <a:txBody>
                    <a:bodyPr/>
                    <a:lstStyle/>
                    <a:p>
                      <a:r>
                        <a:rPr lang="en-US" dirty="0" smtClean="0"/>
                        <a:t>A</a:t>
                      </a:r>
                      <a:endParaRPr lang="en-US" dirty="0"/>
                    </a:p>
                  </a:txBody>
                  <a:tcPr>
                    <a:solidFill>
                      <a:srgbClr val="00B050"/>
                    </a:solidFill>
                  </a:tcPr>
                </a:tc>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A</a:t>
                      </a:r>
                      <a:endParaRPr lang="en-US" dirty="0"/>
                    </a:p>
                  </a:txBody>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317227618"/>
              </p:ext>
            </p:extLst>
          </p:nvPr>
        </p:nvGraphicFramePr>
        <p:xfrm>
          <a:off x="1752600" y="3657600"/>
          <a:ext cx="1905000" cy="365760"/>
        </p:xfrm>
        <a:graphic>
          <a:graphicData uri="http://schemas.openxmlformats.org/drawingml/2006/table">
            <a:tbl>
              <a:tblPr firstRow="1" bandRow="1">
                <a:tableStyleId>{616DA210-FB5B-4158-B5E0-FEB733F419BA}</a:tableStyleId>
              </a:tblPr>
              <a:tblGrid>
                <a:gridCol w="476250"/>
                <a:gridCol w="476250"/>
                <a:gridCol w="476250"/>
                <a:gridCol w="476250"/>
              </a:tblGrid>
              <a:tr h="304800">
                <a:tc>
                  <a:txBody>
                    <a:bodyPr/>
                    <a:lstStyle/>
                    <a:p>
                      <a:r>
                        <a:rPr lang="en-US" dirty="0" smtClean="0"/>
                        <a:t>A</a:t>
                      </a:r>
                      <a:endParaRPr lang="en-US" dirty="0"/>
                    </a:p>
                  </a:txBody>
                  <a:tcPr>
                    <a:solidFill>
                      <a:srgbClr val="00B050"/>
                    </a:solidFill>
                  </a:tcPr>
                </a:tc>
                <a:tc>
                  <a:txBody>
                    <a:bodyPr/>
                    <a:lstStyle/>
                    <a:p>
                      <a:r>
                        <a:rPr lang="en-US" dirty="0" smtClean="0"/>
                        <a:t>A</a:t>
                      </a:r>
                      <a:endParaRPr lang="en-US" dirty="0"/>
                    </a:p>
                  </a:txBody>
                  <a:tcPr>
                    <a:solidFill>
                      <a:srgbClr val="00B050"/>
                    </a:solidFill>
                  </a:tcPr>
                </a:tc>
                <a:tc>
                  <a:txBody>
                    <a:bodyPr/>
                    <a:lstStyle/>
                    <a:p>
                      <a:r>
                        <a:rPr lang="en-US" dirty="0" smtClean="0"/>
                        <a:t>A</a:t>
                      </a:r>
                      <a:endParaRPr lang="en-US" dirty="0"/>
                    </a:p>
                  </a:txBody>
                  <a:tcPr/>
                </a:tc>
                <a:tc>
                  <a:txBody>
                    <a:bodyPr/>
                    <a:lstStyle/>
                    <a:p>
                      <a:r>
                        <a:rPr lang="en-US" dirty="0" smtClean="0"/>
                        <a:t>A</a:t>
                      </a:r>
                      <a:endParaRPr lang="en-US" dirty="0"/>
                    </a:p>
                  </a:txBody>
                  <a:tcPr/>
                </a:tc>
              </a:tr>
            </a:tbl>
          </a:graphicData>
        </a:graphic>
      </p:graphicFrame>
      <p:sp>
        <p:nvSpPr>
          <p:cNvPr id="7" name="Curved Right Arrow 6"/>
          <p:cNvSpPr/>
          <p:nvPr/>
        </p:nvSpPr>
        <p:spPr>
          <a:xfrm>
            <a:off x="1600200" y="2883408"/>
            <a:ext cx="542544" cy="1002792"/>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extBox 9"/>
          <p:cNvSpPr txBox="1"/>
          <p:nvPr/>
        </p:nvSpPr>
        <p:spPr>
          <a:xfrm>
            <a:off x="762000" y="3200138"/>
            <a:ext cx="755335" cy="369332"/>
          </a:xfrm>
          <a:prstGeom prst="rect">
            <a:avLst/>
          </a:prstGeom>
          <a:noFill/>
          <a:ln>
            <a:solidFill>
              <a:schemeClr val="tx1"/>
            </a:solidFill>
          </a:ln>
        </p:spPr>
        <p:txBody>
          <a:bodyPr wrap="none" rtlCol="0">
            <a:spAutoFit/>
          </a:bodyPr>
          <a:lstStyle/>
          <a:p>
            <a:r>
              <a:rPr lang="en-US" dirty="0" smtClean="0">
                <a:solidFill>
                  <a:srgbClr val="C00000"/>
                </a:solidFill>
              </a:rPr>
              <a:t>Match</a:t>
            </a:r>
            <a:endParaRPr lang="en-US" dirty="0">
              <a:solidFill>
                <a:srgbClr val="C00000"/>
              </a:solidFill>
            </a:endParaRPr>
          </a:p>
        </p:txBody>
      </p:sp>
    </p:spTree>
    <p:extLst>
      <p:ext uri="{BB962C8B-B14F-4D97-AF65-F5344CB8AC3E}">
        <p14:creationId xmlns:p14="http://schemas.microsoft.com/office/powerpoint/2010/main" val="26835104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16</a:t>
            </a:fld>
            <a:endParaRPr lang="en-US"/>
          </a:p>
        </p:txBody>
      </p:sp>
      <p:sp>
        <p:nvSpPr>
          <p:cNvPr id="6" name="Content Placeholder 5"/>
          <p:cNvSpPr>
            <a:spLocks noGrp="1"/>
          </p:cNvSpPr>
          <p:nvPr>
            <p:ph sz="quarter" idx="1"/>
          </p:nvPr>
        </p:nvSpPr>
        <p:spPr/>
        <p:txBody>
          <a:bodyPr/>
          <a:lstStyle/>
          <a:p>
            <a:pPr marL="0" indent="0">
              <a:buNone/>
            </a:pPr>
            <a:endParaRPr lang="en-US" dirty="0"/>
          </a:p>
          <a:p>
            <a:pPr marL="0" indent="0">
              <a:buNone/>
            </a:pPr>
            <a:endParaRPr lang="en-US" dirty="0"/>
          </a:p>
          <a:p>
            <a:pPr marL="0" indent="0">
              <a:buNone/>
            </a:pPr>
            <a:r>
              <a:rPr lang="en-US" dirty="0" smtClean="0"/>
              <a:t>            0    1    2    3    4     5    6     7    8    9    10</a:t>
            </a:r>
          </a:p>
          <a:p>
            <a:pPr marL="0" indent="0">
              <a:buNone/>
            </a:pPr>
            <a:r>
              <a:rPr lang="en-US" dirty="0" smtClean="0">
                <a:solidFill>
                  <a:srgbClr val="7030A0"/>
                </a:solidFill>
              </a:rPr>
              <a:t>text: </a:t>
            </a:r>
          </a:p>
          <a:p>
            <a:pPr marL="0" indent="0">
              <a:buNone/>
            </a:pPr>
            <a:r>
              <a:rPr lang="en-US" dirty="0" smtClean="0"/>
              <a:t>	        </a:t>
            </a:r>
            <a:r>
              <a:rPr lang="en-US" dirty="0" smtClean="0">
                <a:solidFill>
                  <a:srgbClr val="00B0F0"/>
                </a:solidFill>
              </a:rPr>
              <a:t>       i</a:t>
            </a:r>
            <a:r>
              <a:rPr lang="en-US" dirty="0" smtClean="0"/>
              <a:t>	</a:t>
            </a:r>
            <a:endParaRPr lang="en-US" dirty="0"/>
          </a:p>
          <a:p>
            <a:pPr marL="0" indent="0">
              <a:buNone/>
            </a:pPr>
            <a:r>
              <a:rPr lang="en-US" dirty="0" smtClean="0">
                <a:solidFill>
                  <a:srgbClr val="7030A0"/>
                </a:solidFill>
              </a:rPr>
              <a:t>pattern:</a:t>
            </a:r>
          </a:p>
          <a:p>
            <a:pPr marL="0" indent="0">
              <a:buNone/>
            </a:pPr>
            <a:r>
              <a:rPr lang="en-US" dirty="0" smtClean="0"/>
              <a:t>              0    1   2    3   </a:t>
            </a:r>
          </a:p>
          <a:p>
            <a:pPr marL="0" indent="0">
              <a:buNone/>
            </a:pPr>
            <a:r>
              <a:rPr lang="en-US" dirty="0"/>
              <a:t> </a:t>
            </a:r>
            <a:r>
              <a:rPr lang="en-US" dirty="0" smtClean="0"/>
              <a:t>            </a:t>
            </a:r>
            <a:r>
              <a:rPr lang="en-US" dirty="0" smtClean="0">
                <a:solidFill>
                  <a:srgbClr val="00B0F0"/>
                </a:solidFill>
              </a:rPr>
              <a:t>            j </a:t>
            </a:r>
            <a:endParaRPr lang="en-US" dirty="0">
              <a:solidFill>
                <a:srgbClr val="00B0F0"/>
              </a:solidFill>
            </a:endParaRPr>
          </a:p>
        </p:txBody>
      </p:sp>
      <p:graphicFrame>
        <p:nvGraphicFramePr>
          <p:cNvPr id="8" name="Table 7"/>
          <p:cNvGraphicFramePr>
            <a:graphicFrameLocks noGrp="1"/>
          </p:cNvGraphicFramePr>
          <p:nvPr>
            <p:extLst>
              <p:ext uri="{D42A27DB-BD31-4B8C-83A1-F6EECF244321}">
                <p14:modId xmlns:p14="http://schemas.microsoft.com/office/powerpoint/2010/main" val="3554232973"/>
              </p:ext>
            </p:extLst>
          </p:nvPr>
        </p:nvGraphicFramePr>
        <p:xfrm>
          <a:off x="1524000" y="2743200"/>
          <a:ext cx="6096002" cy="370840"/>
        </p:xfrm>
        <a:graphic>
          <a:graphicData uri="http://schemas.openxmlformats.org/drawingml/2006/table">
            <a:tbl>
              <a:tblPr firstRow="1" bandRow="1">
                <a:tableStyleId>{616DA210-FB5B-4158-B5E0-FEB733F419BA}</a:tableStyleId>
              </a:tblPr>
              <a:tblGrid>
                <a:gridCol w="554182"/>
                <a:gridCol w="554182"/>
                <a:gridCol w="554182"/>
                <a:gridCol w="554182"/>
                <a:gridCol w="554182"/>
                <a:gridCol w="554182"/>
                <a:gridCol w="554182"/>
                <a:gridCol w="554182"/>
                <a:gridCol w="554182"/>
                <a:gridCol w="554182"/>
                <a:gridCol w="554182"/>
              </a:tblGrid>
              <a:tr h="370840">
                <a:tc>
                  <a:txBody>
                    <a:bodyPr/>
                    <a:lstStyle/>
                    <a:p>
                      <a:r>
                        <a:rPr lang="en-US" dirty="0" smtClean="0"/>
                        <a:t>A</a:t>
                      </a:r>
                      <a:endParaRPr lang="en-US" dirty="0"/>
                    </a:p>
                  </a:txBody>
                  <a:tcPr>
                    <a:solidFill>
                      <a:srgbClr val="00B050"/>
                    </a:solidFill>
                  </a:tcPr>
                </a:tc>
                <a:tc>
                  <a:txBody>
                    <a:bodyPr/>
                    <a:lstStyle/>
                    <a:p>
                      <a:r>
                        <a:rPr lang="en-US" dirty="0" smtClean="0"/>
                        <a:t>A</a:t>
                      </a:r>
                      <a:endParaRPr lang="en-US" dirty="0"/>
                    </a:p>
                  </a:txBody>
                  <a:tcPr>
                    <a:solidFill>
                      <a:srgbClr val="00B050"/>
                    </a:solidFill>
                  </a:tcPr>
                </a:tc>
                <a:tc>
                  <a:txBody>
                    <a:bodyPr/>
                    <a:lstStyle/>
                    <a:p>
                      <a:r>
                        <a:rPr lang="en-US" dirty="0" smtClean="0"/>
                        <a:t>A</a:t>
                      </a:r>
                      <a:endParaRPr lang="en-US" dirty="0"/>
                    </a:p>
                  </a:txBody>
                  <a:tcPr>
                    <a:solidFill>
                      <a:srgbClr val="00B050"/>
                    </a:solidFill>
                  </a:tcPr>
                </a:tc>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A</a:t>
                      </a:r>
                      <a:endParaRPr lang="en-US" dirty="0"/>
                    </a:p>
                  </a:txBody>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168755352"/>
              </p:ext>
            </p:extLst>
          </p:nvPr>
        </p:nvGraphicFramePr>
        <p:xfrm>
          <a:off x="1752600" y="3657600"/>
          <a:ext cx="1905000" cy="365760"/>
        </p:xfrm>
        <a:graphic>
          <a:graphicData uri="http://schemas.openxmlformats.org/drawingml/2006/table">
            <a:tbl>
              <a:tblPr firstRow="1" bandRow="1">
                <a:tableStyleId>{616DA210-FB5B-4158-B5E0-FEB733F419BA}</a:tableStyleId>
              </a:tblPr>
              <a:tblGrid>
                <a:gridCol w="476250"/>
                <a:gridCol w="476250"/>
                <a:gridCol w="476250"/>
                <a:gridCol w="476250"/>
              </a:tblGrid>
              <a:tr h="304800">
                <a:tc>
                  <a:txBody>
                    <a:bodyPr/>
                    <a:lstStyle/>
                    <a:p>
                      <a:r>
                        <a:rPr lang="en-US" dirty="0" smtClean="0"/>
                        <a:t>A</a:t>
                      </a:r>
                      <a:endParaRPr lang="en-US" dirty="0"/>
                    </a:p>
                  </a:txBody>
                  <a:tcPr>
                    <a:solidFill>
                      <a:srgbClr val="00B050"/>
                    </a:solidFill>
                  </a:tcPr>
                </a:tc>
                <a:tc>
                  <a:txBody>
                    <a:bodyPr/>
                    <a:lstStyle/>
                    <a:p>
                      <a:r>
                        <a:rPr lang="en-US" dirty="0" smtClean="0"/>
                        <a:t>A</a:t>
                      </a:r>
                      <a:endParaRPr lang="en-US" dirty="0"/>
                    </a:p>
                  </a:txBody>
                  <a:tcPr>
                    <a:solidFill>
                      <a:srgbClr val="00B050"/>
                    </a:solidFill>
                  </a:tcPr>
                </a:tc>
                <a:tc>
                  <a:txBody>
                    <a:bodyPr/>
                    <a:lstStyle/>
                    <a:p>
                      <a:r>
                        <a:rPr lang="en-US" dirty="0" smtClean="0"/>
                        <a:t>A</a:t>
                      </a:r>
                      <a:endParaRPr lang="en-US" dirty="0"/>
                    </a:p>
                  </a:txBody>
                  <a:tcPr>
                    <a:solidFill>
                      <a:srgbClr val="00B050"/>
                    </a:solidFill>
                  </a:tcPr>
                </a:tc>
                <a:tc>
                  <a:txBody>
                    <a:bodyPr/>
                    <a:lstStyle/>
                    <a:p>
                      <a:r>
                        <a:rPr lang="en-US" dirty="0" smtClean="0"/>
                        <a:t>A</a:t>
                      </a:r>
                      <a:endParaRPr lang="en-US" dirty="0"/>
                    </a:p>
                  </a:txBody>
                  <a:tcPr/>
                </a:tc>
              </a:tr>
            </a:tbl>
          </a:graphicData>
        </a:graphic>
      </p:graphicFrame>
      <p:sp>
        <p:nvSpPr>
          <p:cNvPr id="7" name="Curved Right Arrow 6"/>
          <p:cNvSpPr/>
          <p:nvPr/>
        </p:nvSpPr>
        <p:spPr>
          <a:xfrm>
            <a:off x="2286000" y="2895600"/>
            <a:ext cx="381000" cy="914400"/>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extBox 9"/>
          <p:cNvSpPr txBox="1"/>
          <p:nvPr/>
        </p:nvSpPr>
        <p:spPr>
          <a:xfrm>
            <a:off x="1447800" y="3172444"/>
            <a:ext cx="755335" cy="369332"/>
          </a:xfrm>
          <a:prstGeom prst="rect">
            <a:avLst/>
          </a:prstGeom>
          <a:noFill/>
          <a:ln>
            <a:solidFill>
              <a:schemeClr val="tx1"/>
            </a:solidFill>
          </a:ln>
        </p:spPr>
        <p:txBody>
          <a:bodyPr wrap="none" rtlCol="0">
            <a:spAutoFit/>
          </a:bodyPr>
          <a:lstStyle/>
          <a:p>
            <a:r>
              <a:rPr lang="en-US" dirty="0" smtClean="0">
                <a:solidFill>
                  <a:srgbClr val="C00000"/>
                </a:solidFill>
              </a:rPr>
              <a:t>Match</a:t>
            </a:r>
            <a:endParaRPr lang="en-US" dirty="0">
              <a:solidFill>
                <a:srgbClr val="C00000"/>
              </a:solidFill>
            </a:endParaRPr>
          </a:p>
        </p:txBody>
      </p:sp>
    </p:spTree>
    <p:extLst>
      <p:ext uri="{BB962C8B-B14F-4D97-AF65-F5344CB8AC3E}">
        <p14:creationId xmlns:p14="http://schemas.microsoft.com/office/powerpoint/2010/main" val="112260584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17</a:t>
            </a:fld>
            <a:endParaRPr lang="en-US"/>
          </a:p>
        </p:txBody>
      </p:sp>
      <p:sp>
        <p:nvSpPr>
          <p:cNvPr id="6" name="Content Placeholder 5"/>
          <p:cNvSpPr>
            <a:spLocks noGrp="1"/>
          </p:cNvSpPr>
          <p:nvPr>
            <p:ph sz="quarter" idx="1"/>
          </p:nvPr>
        </p:nvSpPr>
        <p:spPr/>
        <p:txBody>
          <a:bodyPr/>
          <a:lstStyle/>
          <a:p>
            <a:pPr marL="0" indent="0">
              <a:buNone/>
            </a:pPr>
            <a:r>
              <a:rPr lang="en-US" dirty="0" smtClean="0"/>
              <a:t>Till now simply Naïve process continues.</a:t>
            </a:r>
            <a:endParaRPr lang="en-US" dirty="0"/>
          </a:p>
          <a:p>
            <a:pPr marL="0" indent="0">
              <a:buNone/>
            </a:pPr>
            <a:endParaRPr lang="en-US" dirty="0"/>
          </a:p>
          <a:p>
            <a:pPr marL="0" indent="0">
              <a:buNone/>
            </a:pPr>
            <a:r>
              <a:rPr lang="en-US" dirty="0" smtClean="0"/>
              <a:t>            0    1    2    3    4     5    6     7    8    9    10</a:t>
            </a:r>
          </a:p>
          <a:p>
            <a:pPr marL="0" indent="0">
              <a:buNone/>
            </a:pPr>
            <a:r>
              <a:rPr lang="en-US" dirty="0" smtClean="0">
                <a:solidFill>
                  <a:srgbClr val="7030A0"/>
                </a:solidFill>
              </a:rPr>
              <a:t>text: </a:t>
            </a:r>
          </a:p>
          <a:p>
            <a:pPr marL="0" indent="0">
              <a:buNone/>
            </a:pPr>
            <a:r>
              <a:rPr lang="en-US" dirty="0" smtClean="0"/>
              <a:t>	        </a:t>
            </a:r>
            <a:r>
              <a:rPr lang="en-US" dirty="0" smtClean="0">
                <a:solidFill>
                  <a:srgbClr val="00B0F0"/>
                </a:solidFill>
              </a:rPr>
              <a:t>             i</a:t>
            </a:r>
            <a:r>
              <a:rPr lang="en-US" dirty="0" smtClean="0"/>
              <a:t>	</a:t>
            </a:r>
            <a:endParaRPr lang="en-US" dirty="0"/>
          </a:p>
          <a:p>
            <a:pPr marL="0" indent="0">
              <a:buNone/>
            </a:pPr>
            <a:r>
              <a:rPr lang="en-US" dirty="0" smtClean="0">
                <a:solidFill>
                  <a:srgbClr val="7030A0"/>
                </a:solidFill>
              </a:rPr>
              <a:t>pattern:</a:t>
            </a:r>
          </a:p>
          <a:p>
            <a:pPr marL="0" indent="0">
              <a:buNone/>
            </a:pPr>
            <a:r>
              <a:rPr lang="en-US" dirty="0" smtClean="0"/>
              <a:t>              0    1   2    3   </a:t>
            </a:r>
          </a:p>
          <a:p>
            <a:pPr marL="0" indent="0">
              <a:buNone/>
            </a:pPr>
            <a:r>
              <a:rPr lang="en-US" dirty="0">
                <a:solidFill>
                  <a:srgbClr val="00B0F0"/>
                </a:solidFill>
              </a:rPr>
              <a:t> </a:t>
            </a:r>
            <a:r>
              <a:rPr lang="en-US" dirty="0" smtClean="0">
                <a:solidFill>
                  <a:srgbClr val="00B0F0"/>
                </a:solidFill>
              </a:rPr>
              <a:t>                              j </a:t>
            </a:r>
            <a:endParaRPr lang="en-US" dirty="0" smtClean="0"/>
          </a:p>
          <a:p>
            <a:pPr marL="0" indent="0">
              <a:buNone/>
            </a:pPr>
            <a:r>
              <a:rPr lang="en-US" dirty="0" smtClean="0"/>
              <a:t>Pattern is matched from </a:t>
            </a:r>
            <a:r>
              <a:rPr lang="en-US" dirty="0" smtClean="0">
                <a:solidFill>
                  <a:srgbClr val="7030A0"/>
                </a:solidFill>
              </a:rPr>
              <a:t>0</a:t>
            </a:r>
            <a:r>
              <a:rPr lang="en-US" baseline="30000" dirty="0" smtClean="0">
                <a:solidFill>
                  <a:srgbClr val="7030A0"/>
                </a:solidFill>
              </a:rPr>
              <a:t>th</a:t>
            </a:r>
            <a:r>
              <a:rPr lang="en-US" dirty="0" smtClean="0"/>
              <a:t> position of text. But searching is still not finished. </a:t>
            </a:r>
          </a:p>
        </p:txBody>
      </p:sp>
      <p:graphicFrame>
        <p:nvGraphicFramePr>
          <p:cNvPr id="8" name="Table 7"/>
          <p:cNvGraphicFramePr>
            <a:graphicFrameLocks noGrp="1"/>
          </p:cNvGraphicFramePr>
          <p:nvPr>
            <p:extLst>
              <p:ext uri="{D42A27DB-BD31-4B8C-83A1-F6EECF244321}">
                <p14:modId xmlns:p14="http://schemas.microsoft.com/office/powerpoint/2010/main" val="3437360764"/>
              </p:ext>
            </p:extLst>
          </p:nvPr>
        </p:nvGraphicFramePr>
        <p:xfrm>
          <a:off x="1524000" y="2743200"/>
          <a:ext cx="6096002" cy="370840"/>
        </p:xfrm>
        <a:graphic>
          <a:graphicData uri="http://schemas.openxmlformats.org/drawingml/2006/table">
            <a:tbl>
              <a:tblPr firstRow="1" bandRow="1">
                <a:tableStyleId>{616DA210-FB5B-4158-B5E0-FEB733F419BA}</a:tableStyleId>
              </a:tblPr>
              <a:tblGrid>
                <a:gridCol w="554182"/>
                <a:gridCol w="554182"/>
                <a:gridCol w="554182"/>
                <a:gridCol w="554182"/>
                <a:gridCol w="554182"/>
                <a:gridCol w="554182"/>
                <a:gridCol w="554182"/>
                <a:gridCol w="554182"/>
                <a:gridCol w="554182"/>
                <a:gridCol w="554182"/>
                <a:gridCol w="554182"/>
              </a:tblGrid>
              <a:tr h="370840">
                <a:tc>
                  <a:txBody>
                    <a:bodyPr/>
                    <a:lstStyle/>
                    <a:p>
                      <a:r>
                        <a:rPr lang="en-US" dirty="0" smtClean="0"/>
                        <a:t>A</a:t>
                      </a:r>
                      <a:endParaRPr lang="en-US" dirty="0"/>
                    </a:p>
                  </a:txBody>
                  <a:tcPr>
                    <a:solidFill>
                      <a:srgbClr val="00B050"/>
                    </a:solidFill>
                  </a:tcPr>
                </a:tc>
                <a:tc>
                  <a:txBody>
                    <a:bodyPr/>
                    <a:lstStyle/>
                    <a:p>
                      <a:r>
                        <a:rPr lang="en-US" dirty="0" smtClean="0"/>
                        <a:t>A</a:t>
                      </a:r>
                      <a:endParaRPr lang="en-US" dirty="0"/>
                    </a:p>
                  </a:txBody>
                  <a:tcPr>
                    <a:solidFill>
                      <a:srgbClr val="00B050"/>
                    </a:solidFill>
                  </a:tcPr>
                </a:tc>
                <a:tc>
                  <a:txBody>
                    <a:bodyPr/>
                    <a:lstStyle/>
                    <a:p>
                      <a:r>
                        <a:rPr lang="en-US" dirty="0" smtClean="0"/>
                        <a:t>A</a:t>
                      </a:r>
                      <a:endParaRPr lang="en-US" dirty="0"/>
                    </a:p>
                  </a:txBody>
                  <a:tcPr>
                    <a:solidFill>
                      <a:srgbClr val="00B050"/>
                    </a:solidFill>
                  </a:tcPr>
                </a:tc>
                <a:tc>
                  <a:txBody>
                    <a:bodyPr/>
                    <a:lstStyle/>
                    <a:p>
                      <a:r>
                        <a:rPr lang="en-US" dirty="0" smtClean="0"/>
                        <a:t>A</a:t>
                      </a:r>
                      <a:endParaRPr lang="en-US" dirty="0"/>
                    </a:p>
                  </a:txBody>
                  <a:tcPr>
                    <a:solidFill>
                      <a:srgbClr val="00B050"/>
                    </a:solidFill>
                  </a:tcPr>
                </a:tc>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A</a:t>
                      </a:r>
                      <a:endParaRPr lang="en-US" dirty="0"/>
                    </a:p>
                  </a:txBody>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4283613700"/>
              </p:ext>
            </p:extLst>
          </p:nvPr>
        </p:nvGraphicFramePr>
        <p:xfrm>
          <a:off x="1752600" y="3657600"/>
          <a:ext cx="1905000" cy="365760"/>
        </p:xfrm>
        <a:graphic>
          <a:graphicData uri="http://schemas.openxmlformats.org/drawingml/2006/table">
            <a:tbl>
              <a:tblPr firstRow="1" bandRow="1">
                <a:tableStyleId>{616DA210-FB5B-4158-B5E0-FEB733F419BA}</a:tableStyleId>
              </a:tblPr>
              <a:tblGrid>
                <a:gridCol w="476250"/>
                <a:gridCol w="476250"/>
                <a:gridCol w="476250"/>
                <a:gridCol w="476250"/>
              </a:tblGrid>
              <a:tr h="304800">
                <a:tc>
                  <a:txBody>
                    <a:bodyPr/>
                    <a:lstStyle/>
                    <a:p>
                      <a:r>
                        <a:rPr lang="en-US" dirty="0" smtClean="0"/>
                        <a:t>A</a:t>
                      </a:r>
                      <a:endParaRPr lang="en-US" dirty="0"/>
                    </a:p>
                  </a:txBody>
                  <a:tcPr>
                    <a:solidFill>
                      <a:srgbClr val="00B050"/>
                    </a:solidFill>
                  </a:tcPr>
                </a:tc>
                <a:tc>
                  <a:txBody>
                    <a:bodyPr/>
                    <a:lstStyle/>
                    <a:p>
                      <a:r>
                        <a:rPr lang="en-US" dirty="0" smtClean="0"/>
                        <a:t>A</a:t>
                      </a:r>
                      <a:endParaRPr lang="en-US" dirty="0"/>
                    </a:p>
                  </a:txBody>
                  <a:tcPr>
                    <a:solidFill>
                      <a:srgbClr val="00B050"/>
                    </a:solidFill>
                  </a:tcPr>
                </a:tc>
                <a:tc>
                  <a:txBody>
                    <a:bodyPr/>
                    <a:lstStyle/>
                    <a:p>
                      <a:r>
                        <a:rPr lang="en-US" dirty="0" smtClean="0"/>
                        <a:t>A</a:t>
                      </a:r>
                      <a:endParaRPr lang="en-US" dirty="0"/>
                    </a:p>
                  </a:txBody>
                  <a:tcPr>
                    <a:solidFill>
                      <a:srgbClr val="00B050"/>
                    </a:solidFill>
                  </a:tcPr>
                </a:tc>
                <a:tc>
                  <a:txBody>
                    <a:bodyPr/>
                    <a:lstStyle/>
                    <a:p>
                      <a:r>
                        <a:rPr lang="en-US" dirty="0" smtClean="0"/>
                        <a:t>A</a:t>
                      </a:r>
                      <a:endParaRPr lang="en-US" dirty="0"/>
                    </a:p>
                  </a:txBody>
                  <a:tcPr>
                    <a:solidFill>
                      <a:srgbClr val="00B050"/>
                    </a:solidFill>
                  </a:tcPr>
                </a:tc>
              </a:tr>
            </a:tbl>
          </a:graphicData>
        </a:graphic>
      </p:graphicFrame>
      <p:sp>
        <p:nvSpPr>
          <p:cNvPr id="7" name="Curved Right Arrow 6"/>
          <p:cNvSpPr/>
          <p:nvPr/>
        </p:nvSpPr>
        <p:spPr>
          <a:xfrm>
            <a:off x="2819400" y="2819400"/>
            <a:ext cx="381000" cy="990600"/>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extBox 9"/>
          <p:cNvSpPr txBox="1"/>
          <p:nvPr/>
        </p:nvSpPr>
        <p:spPr>
          <a:xfrm>
            <a:off x="1981200" y="3172444"/>
            <a:ext cx="755335" cy="369332"/>
          </a:xfrm>
          <a:prstGeom prst="rect">
            <a:avLst/>
          </a:prstGeom>
          <a:noFill/>
          <a:ln>
            <a:solidFill>
              <a:schemeClr val="tx1"/>
            </a:solidFill>
          </a:ln>
        </p:spPr>
        <p:txBody>
          <a:bodyPr wrap="none" rtlCol="0">
            <a:spAutoFit/>
          </a:bodyPr>
          <a:lstStyle/>
          <a:p>
            <a:r>
              <a:rPr lang="en-US" dirty="0" smtClean="0">
                <a:solidFill>
                  <a:srgbClr val="C00000"/>
                </a:solidFill>
              </a:rPr>
              <a:t>Match</a:t>
            </a:r>
            <a:endParaRPr lang="en-US" dirty="0">
              <a:solidFill>
                <a:srgbClr val="C00000"/>
              </a:solidFill>
            </a:endParaRPr>
          </a:p>
        </p:txBody>
      </p:sp>
    </p:spTree>
    <p:extLst>
      <p:ext uri="{BB962C8B-B14F-4D97-AF65-F5344CB8AC3E}">
        <p14:creationId xmlns:p14="http://schemas.microsoft.com/office/powerpoint/2010/main" val="249823441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18</a:t>
            </a:fld>
            <a:endParaRPr lang="en-US"/>
          </a:p>
        </p:txBody>
      </p:sp>
      <p:sp>
        <p:nvSpPr>
          <p:cNvPr id="6" name="Content Placeholder 5"/>
          <p:cNvSpPr>
            <a:spLocks noGrp="1"/>
          </p:cNvSpPr>
          <p:nvPr>
            <p:ph sz="quarter" idx="1"/>
          </p:nvPr>
        </p:nvSpPr>
        <p:spPr/>
        <p:txBody>
          <a:bodyPr/>
          <a:lstStyle/>
          <a:p>
            <a:pPr marL="0" indent="0">
              <a:buNone/>
            </a:pPr>
            <a:r>
              <a:rPr lang="en-US" dirty="0"/>
              <a:t>This is where </a:t>
            </a:r>
            <a:r>
              <a:rPr lang="en-US" dirty="0">
                <a:solidFill>
                  <a:srgbClr val="7030A0"/>
                </a:solidFill>
              </a:rPr>
              <a:t>KMP</a:t>
            </a:r>
            <a:r>
              <a:rPr lang="en-US" dirty="0"/>
              <a:t> does optimization over Naive</a:t>
            </a:r>
            <a:r>
              <a:rPr lang="en-US" dirty="0" smtClean="0"/>
              <a:t>.</a:t>
            </a:r>
          </a:p>
          <a:p>
            <a:pPr marL="0" indent="0">
              <a:buNone/>
            </a:pPr>
            <a:endParaRPr lang="en-US" dirty="0"/>
          </a:p>
          <a:p>
            <a:pPr marL="0" indent="0">
              <a:buNone/>
            </a:pPr>
            <a:r>
              <a:rPr lang="en-US" dirty="0" smtClean="0"/>
              <a:t>            0    1    2    3    4     5    6     7    8    9    10</a:t>
            </a:r>
          </a:p>
          <a:p>
            <a:pPr marL="0" indent="0">
              <a:buNone/>
            </a:pPr>
            <a:r>
              <a:rPr lang="en-US" dirty="0" smtClean="0">
                <a:solidFill>
                  <a:srgbClr val="7030A0"/>
                </a:solidFill>
              </a:rPr>
              <a:t>text: </a:t>
            </a:r>
          </a:p>
          <a:p>
            <a:pPr marL="0" indent="0">
              <a:buNone/>
            </a:pPr>
            <a:r>
              <a:rPr lang="en-US" dirty="0" smtClean="0"/>
              <a:t>	        </a:t>
            </a:r>
            <a:r>
              <a:rPr lang="en-US" dirty="0" smtClean="0">
                <a:solidFill>
                  <a:srgbClr val="00B0F0"/>
                </a:solidFill>
              </a:rPr>
              <a:t>                   i</a:t>
            </a:r>
            <a:r>
              <a:rPr lang="en-US" dirty="0" smtClean="0"/>
              <a:t>	</a:t>
            </a:r>
            <a:endParaRPr lang="en-US" dirty="0"/>
          </a:p>
          <a:p>
            <a:pPr marL="0" indent="0">
              <a:buNone/>
            </a:pPr>
            <a:r>
              <a:rPr lang="en-US" dirty="0" smtClean="0">
                <a:solidFill>
                  <a:srgbClr val="7030A0"/>
                </a:solidFill>
              </a:rPr>
              <a:t>pattern:        </a:t>
            </a:r>
          </a:p>
          <a:p>
            <a:pPr marL="0" indent="0">
              <a:buNone/>
            </a:pPr>
            <a:r>
              <a:rPr lang="en-US" dirty="0" smtClean="0"/>
              <a:t>                   0    1   2    3   </a:t>
            </a:r>
          </a:p>
          <a:p>
            <a:pPr marL="0" indent="0">
              <a:buNone/>
            </a:pPr>
            <a:endParaRPr lang="en-US" dirty="0"/>
          </a:p>
          <a:p>
            <a:pPr marL="0" indent="0">
              <a:buNone/>
            </a:pPr>
            <a:r>
              <a:rPr lang="en-US" dirty="0" smtClean="0"/>
              <a:t>The question is from which position</a:t>
            </a:r>
            <a:r>
              <a:rPr lang="en-US" dirty="0" smtClean="0">
                <a:solidFill>
                  <a:srgbClr val="00B0F0"/>
                </a:solidFill>
              </a:rPr>
              <a:t> j </a:t>
            </a:r>
            <a:r>
              <a:rPr lang="en-US" dirty="0" smtClean="0"/>
              <a:t>will start?</a:t>
            </a:r>
          </a:p>
          <a:p>
            <a:pPr marL="0" indent="0">
              <a:buNone/>
            </a:pPr>
            <a:r>
              <a:rPr lang="en-US" dirty="0"/>
              <a:t> </a:t>
            </a:r>
            <a:r>
              <a:rPr lang="en-US" dirty="0" smtClean="0"/>
              <a:t>            </a:t>
            </a:r>
            <a:r>
              <a:rPr lang="en-US" dirty="0" smtClean="0">
                <a:solidFill>
                  <a:srgbClr val="00B0F0"/>
                </a:solidFill>
              </a:rPr>
              <a:t>                  </a:t>
            </a:r>
            <a:endParaRPr lang="en-US" dirty="0">
              <a:solidFill>
                <a:srgbClr val="00B0F0"/>
              </a:solidFill>
            </a:endParaRPr>
          </a:p>
        </p:txBody>
      </p:sp>
      <p:graphicFrame>
        <p:nvGraphicFramePr>
          <p:cNvPr id="8" name="Table 7"/>
          <p:cNvGraphicFramePr>
            <a:graphicFrameLocks noGrp="1"/>
          </p:cNvGraphicFramePr>
          <p:nvPr>
            <p:extLst>
              <p:ext uri="{D42A27DB-BD31-4B8C-83A1-F6EECF244321}">
                <p14:modId xmlns:p14="http://schemas.microsoft.com/office/powerpoint/2010/main" val="2732505628"/>
              </p:ext>
            </p:extLst>
          </p:nvPr>
        </p:nvGraphicFramePr>
        <p:xfrm>
          <a:off x="1524000" y="2743200"/>
          <a:ext cx="6096002" cy="370840"/>
        </p:xfrm>
        <a:graphic>
          <a:graphicData uri="http://schemas.openxmlformats.org/drawingml/2006/table">
            <a:tbl>
              <a:tblPr firstRow="1" bandRow="1">
                <a:tableStyleId>{616DA210-FB5B-4158-B5E0-FEB733F419BA}</a:tableStyleId>
              </a:tblPr>
              <a:tblGrid>
                <a:gridCol w="554182"/>
                <a:gridCol w="554182"/>
                <a:gridCol w="554182"/>
                <a:gridCol w="554182"/>
                <a:gridCol w="554182"/>
                <a:gridCol w="554182"/>
                <a:gridCol w="554182"/>
                <a:gridCol w="554182"/>
                <a:gridCol w="554182"/>
                <a:gridCol w="554182"/>
                <a:gridCol w="554182"/>
              </a:tblGrid>
              <a:tr h="370840">
                <a:tc>
                  <a:txBody>
                    <a:bodyPr/>
                    <a:lstStyle/>
                    <a:p>
                      <a:r>
                        <a:rPr lang="en-US" dirty="0" smtClean="0"/>
                        <a:t>A</a:t>
                      </a:r>
                      <a:endParaRPr lang="en-US" dirty="0"/>
                    </a:p>
                  </a:txBody>
                  <a:tcPr>
                    <a:solidFill>
                      <a:schemeClr val="bg1"/>
                    </a:solidFill>
                  </a:tcPr>
                </a:tc>
                <a:tc>
                  <a:txBody>
                    <a:bodyPr/>
                    <a:lstStyle/>
                    <a:p>
                      <a:r>
                        <a:rPr lang="en-US" dirty="0" smtClean="0"/>
                        <a:t>A</a:t>
                      </a:r>
                      <a:endParaRPr lang="en-US" dirty="0"/>
                    </a:p>
                  </a:txBody>
                  <a:tcPr>
                    <a:solidFill>
                      <a:schemeClr val="bg1"/>
                    </a:solidFill>
                  </a:tcPr>
                </a:tc>
                <a:tc>
                  <a:txBody>
                    <a:bodyPr/>
                    <a:lstStyle/>
                    <a:p>
                      <a:r>
                        <a:rPr lang="en-US" dirty="0" smtClean="0"/>
                        <a:t>A</a:t>
                      </a:r>
                      <a:endParaRPr lang="en-US" dirty="0"/>
                    </a:p>
                  </a:txBody>
                  <a:tcPr>
                    <a:solidFill>
                      <a:schemeClr val="bg1"/>
                    </a:solidFill>
                  </a:tcPr>
                </a:tc>
                <a:tc>
                  <a:txBody>
                    <a:bodyPr/>
                    <a:lstStyle/>
                    <a:p>
                      <a:r>
                        <a:rPr lang="en-US" dirty="0" smtClean="0"/>
                        <a:t>A</a:t>
                      </a:r>
                      <a:endParaRPr lang="en-US" dirty="0"/>
                    </a:p>
                  </a:txBody>
                  <a:tcPr>
                    <a:solidFill>
                      <a:schemeClr val="bg1"/>
                    </a:solidFill>
                  </a:tcPr>
                </a:tc>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A</a:t>
                      </a:r>
                      <a:endParaRPr lang="en-US" dirty="0"/>
                    </a:p>
                  </a:txBody>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125701807"/>
              </p:ext>
            </p:extLst>
          </p:nvPr>
        </p:nvGraphicFramePr>
        <p:xfrm>
          <a:off x="2209800" y="3657600"/>
          <a:ext cx="1905000" cy="365760"/>
        </p:xfrm>
        <a:graphic>
          <a:graphicData uri="http://schemas.openxmlformats.org/drawingml/2006/table">
            <a:tbl>
              <a:tblPr firstRow="1" bandRow="1">
                <a:tableStyleId>{616DA210-FB5B-4158-B5E0-FEB733F419BA}</a:tableStyleId>
              </a:tblPr>
              <a:tblGrid>
                <a:gridCol w="476250"/>
                <a:gridCol w="476250"/>
                <a:gridCol w="476250"/>
                <a:gridCol w="476250"/>
              </a:tblGrid>
              <a:tr h="304800">
                <a:tc>
                  <a:txBody>
                    <a:bodyPr/>
                    <a:lstStyle/>
                    <a:p>
                      <a:r>
                        <a:rPr lang="en-US" dirty="0" smtClean="0"/>
                        <a:t>A</a:t>
                      </a:r>
                      <a:endParaRPr lang="en-US" dirty="0"/>
                    </a:p>
                  </a:txBody>
                  <a:tcPr>
                    <a:solidFill>
                      <a:schemeClr val="bg1"/>
                    </a:solidFill>
                  </a:tcPr>
                </a:tc>
                <a:tc>
                  <a:txBody>
                    <a:bodyPr/>
                    <a:lstStyle/>
                    <a:p>
                      <a:r>
                        <a:rPr lang="en-US" dirty="0" smtClean="0"/>
                        <a:t>A</a:t>
                      </a:r>
                      <a:endParaRPr lang="en-US" dirty="0"/>
                    </a:p>
                  </a:txBody>
                  <a:tcPr>
                    <a:solidFill>
                      <a:schemeClr val="bg1"/>
                    </a:solidFill>
                  </a:tcPr>
                </a:tc>
                <a:tc>
                  <a:txBody>
                    <a:bodyPr/>
                    <a:lstStyle/>
                    <a:p>
                      <a:r>
                        <a:rPr lang="en-US" dirty="0" smtClean="0"/>
                        <a:t>A</a:t>
                      </a:r>
                      <a:endParaRPr lang="en-US" dirty="0"/>
                    </a:p>
                  </a:txBody>
                  <a:tcPr>
                    <a:solidFill>
                      <a:schemeClr val="bg1"/>
                    </a:solidFill>
                  </a:tcPr>
                </a:tc>
                <a:tc>
                  <a:txBody>
                    <a:bodyPr/>
                    <a:lstStyle/>
                    <a:p>
                      <a:r>
                        <a:rPr lang="en-US" dirty="0" smtClean="0"/>
                        <a:t>A</a:t>
                      </a:r>
                      <a:endParaRPr lang="en-US" dirty="0"/>
                    </a:p>
                  </a:txBody>
                  <a:tcPr>
                    <a:solidFill>
                      <a:schemeClr val="bg1"/>
                    </a:solidFill>
                  </a:tcPr>
                </a:tc>
              </a:tr>
            </a:tbl>
          </a:graphicData>
        </a:graphic>
      </p:graphicFrame>
      <p:sp>
        <p:nvSpPr>
          <p:cNvPr id="10" name="TextBox 9"/>
          <p:cNvSpPr txBox="1"/>
          <p:nvPr/>
        </p:nvSpPr>
        <p:spPr>
          <a:xfrm>
            <a:off x="4800600" y="3816096"/>
            <a:ext cx="2784737"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smtClean="0">
                <a:solidFill>
                  <a:srgbClr val="C00000"/>
                </a:solidFill>
              </a:rPr>
              <a:t>Pattern shifted one position</a:t>
            </a:r>
            <a:endParaRPr lang="en-US" dirty="0">
              <a:solidFill>
                <a:srgbClr val="C00000"/>
              </a:solidFill>
            </a:endParaRPr>
          </a:p>
        </p:txBody>
      </p:sp>
    </p:spTree>
    <p:extLst>
      <p:ext uri="{BB962C8B-B14F-4D97-AF65-F5344CB8AC3E}">
        <p14:creationId xmlns:p14="http://schemas.microsoft.com/office/powerpoint/2010/main" val="319258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8" end="8"/>
                                            </p:txEl>
                                          </p:spTgt>
                                        </p:tgtEl>
                                        <p:attrNameLst>
                                          <p:attrName>style.visibility</p:attrName>
                                        </p:attrNameLst>
                                      </p:cBhvr>
                                      <p:to>
                                        <p:strVal val="visible"/>
                                      </p:to>
                                    </p:set>
                                    <p:animEffect transition="in" filter="fade">
                                      <p:cBhvr>
                                        <p:cTn id="7" dur="1000"/>
                                        <p:tgtEl>
                                          <p:spTgt spid="6">
                                            <p:txEl>
                                              <p:pRg st="8" end="8"/>
                                            </p:txEl>
                                          </p:spTgt>
                                        </p:tgtEl>
                                      </p:cBhvr>
                                    </p:animEffect>
                                    <p:anim calcmode="lin" valueType="num">
                                      <p:cBhvr>
                                        <p:cTn id="8"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19</a:t>
            </a:fld>
            <a:endParaRPr lang="en-US"/>
          </a:p>
        </p:txBody>
      </p:sp>
      <p:sp>
        <p:nvSpPr>
          <p:cNvPr id="6" name="Content Placeholder 5"/>
          <p:cNvSpPr>
            <a:spLocks noGrp="1"/>
          </p:cNvSpPr>
          <p:nvPr>
            <p:ph sz="quarter" idx="1"/>
          </p:nvPr>
        </p:nvSpPr>
        <p:spPr/>
        <p:txBody>
          <a:bodyPr/>
          <a:lstStyle/>
          <a:p>
            <a:pPr marL="0" indent="0">
              <a:buNone/>
            </a:pPr>
            <a:r>
              <a:rPr lang="en-US" dirty="0"/>
              <a:t>This is where </a:t>
            </a:r>
            <a:r>
              <a:rPr lang="en-US" dirty="0">
                <a:solidFill>
                  <a:srgbClr val="7030A0"/>
                </a:solidFill>
              </a:rPr>
              <a:t>KMP</a:t>
            </a:r>
            <a:r>
              <a:rPr lang="en-US" dirty="0"/>
              <a:t> does optimization over Naive</a:t>
            </a:r>
            <a:r>
              <a:rPr lang="en-US" dirty="0" smtClean="0"/>
              <a:t>.</a:t>
            </a:r>
          </a:p>
          <a:p>
            <a:pPr marL="0" indent="0">
              <a:buNone/>
            </a:pPr>
            <a:endParaRPr lang="en-US" dirty="0"/>
          </a:p>
          <a:p>
            <a:pPr marL="0" indent="0">
              <a:buNone/>
            </a:pPr>
            <a:r>
              <a:rPr lang="en-US" dirty="0" smtClean="0"/>
              <a:t>            0    1    2    3    4     5    6     7    8    9    10</a:t>
            </a:r>
          </a:p>
          <a:p>
            <a:pPr marL="0" indent="0">
              <a:buNone/>
            </a:pPr>
            <a:r>
              <a:rPr lang="en-US" dirty="0" smtClean="0">
                <a:solidFill>
                  <a:srgbClr val="7030A0"/>
                </a:solidFill>
              </a:rPr>
              <a:t>text: </a:t>
            </a:r>
          </a:p>
          <a:p>
            <a:pPr marL="0" indent="0">
              <a:buNone/>
            </a:pPr>
            <a:r>
              <a:rPr lang="en-US" dirty="0" smtClean="0"/>
              <a:t>	        </a:t>
            </a:r>
            <a:r>
              <a:rPr lang="en-US" dirty="0" smtClean="0">
                <a:solidFill>
                  <a:srgbClr val="00B0F0"/>
                </a:solidFill>
              </a:rPr>
              <a:t>                   i</a:t>
            </a:r>
            <a:r>
              <a:rPr lang="en-US" dirty="0" smtClean="0"/>
              <a:t>	</a:t>
            </a:r>
            <a:endParaRPr lang="en-US" dirty="0"/>
          </a:p>
          <a:p>
            <a:pPr marL="0" indent="0">
              <a:buNone/>
            </a:pPr>
            <a:r>
              <a:rPr lang="en-US" dirty="0" smtClean="0">
                <a:solidFill>
                  <a:srgbClr val="7030A0"/>
                </a:solidFill>
              </a:rPr>
              <a:t>pattern:        </a:t>
            </a:r>
          </a:p>
          <a:p>
            <a:pPr marL="0" indent="0">
              <a:buNone/>
            </a:pPr>
            <a:r>
              <a:rPr lang="en-US" dirty="0" smtClean="0"/>
              <a:t>                   0    1   2    3   </a:t>
            </a:r>
          </a:p>
          <a:p>
            <a:pPr marL="0" indent="0">
              <a:buNone/>
            </a:pPr>
            <a:endParaRPr lang="en-US" dirty="0"/>
          </a:p>
          <a:p>
            <a:pPr marL="0" indent="0">
              <a:buNone/>
            </a:pPr>
            <a:r>
              <a:rPr lang="en-US" dirty="0" smtClean="0"/>
              <a:t>Whether </a:t>
            </a:r>
            <a:r>
              <a:rPr lang="en-US" dirty="0"/>
              <a:t> </a:t>
            </a:r>
            <a:r>
              <a:rPr lang="en-US" dirty="0">
                <a:solidFill>
                  <a:srgbClr val="00B0F0"/>
                </a:solidFill>
              </a:rPr>
              <a:t>j</a:t>
            </a:r>
            <a:r>
              <a:rPr lang="en-US" dirty="0"/>
              <a:t> </a:t>
            </a:r>
            <a:r>
              <a:rPr lang="en-US" dirty="0" smtClean="0"/>
              <a:t>will start from 0 position or not?</a:t>
            </a:r>
          </a:p>
          <a:p>
            <a:pPr marL="0" indent="0">
              <a:buNone/>
            </a:pPr>
            <a:r>
              <a:rPr lang="en-US" dirty="0"/>
              <a:t> </a:t>
            </a:r>
            <a:r>
              <a:rPr lang="en-US" dirty="0" smtClean="0"/>
              <a:t>            </a:t>
            </a:r>
            <a:r>
              <a:rPr lang="en-US" dirty="0" smtClean="0">
                <a:solidFill>
                  <a:srgbClr val="00B0F0"/>
                </a:solidFill>
              </a:rPr>
              <a:t>                  </a:t>
            </a:r>
            <a:endParaRPr lang="en-US" dirty="0">
              <a:solidFill>
                <a:srgbClr val="00B0F0"/>
              </a:solidFill>
            </a:endParaRPr>
          </a:p>
        </p:txBody>
      </p:sp>
      <p:graphicFrame>
        <p:nvGraphicFramePr>
          <p:cNvPr id="8" name="Table 7"/>
          <p:cNvGraphicFramePr>
            <a:graphicFrameLocks noGrp="1"/>
          </p:cNvGraphicFramePr>
          <p:nvPr>
            <p:extLst>
              <p:ext uri="{D42A27DB-BD31-4B8C-83A1-F6EECF244321}">
                <p14:modId xmlns:p14="http://schemas.microsoft.com/office/powerpoint/2010/main" val="2731922078"/>
              </p:ext>
            </p:extLst>
          </p:nvPr>
        </p:nvGraphicFramePr>
        <p:xfrm>
          <a:off x="1524000" y="2743200"/>
          <a:ext cx="6096002" cy="370840"/>
        </p:xfrm>
        <a:graphic>
          <a:graphicData uri="http://schemas.openxmlformats.org/drawingml/2006/table">
            <a:tbl>
              <a:tblPr firstRow="1" bandRow="1">
                <a:tableStyleId>{616DA210-FB5B-4158-B5E0-FEB733F419BA}</a:tableStyleId>
              </a:tblPr>
              <a:tblGrid>
                <a:gridCol w="554182"/>
                <a:gridCol w="554182"/>
                <a:gridCol w="554182"/>
                <a:gridCol w="554182"/>
                <a:gridCol w="554182"/>
                <a:gridCol w="554182"/>
                <a:gridCol w="554182"/>
                <a:gridCol w="554182"/>
                <a:gridCol w="554182"/>
                <a:gridCol w="554182"/>
                <a:gridCol w="554182"/>
              </a:tblGrid>
              <a:tr h="370840">
                <a:tc>
                  <a:txBody>
                    <a:bodyPr/>
                    <a:lstStyle/>
                    <a:p>
                      <a:r>
                        <a:rPr lang="en-US" dirty="0" smtClean="0"/>
                        <a:t>A</a:t>
                      </a:r>
                      <a:endParaRPr lang="en-US" dirty="0"/>
                    </a:p>
                  </a:txBody>
                  <a:tcPr>
                    <a:solidFill>
                      <a:schemeClr val="bg1"/>
                    </a:solidFill>
                  </a:tcPr>
                </a:tc>
                <a:tc>
                  <a:txBody>
                    <a:bodyPr/>
                    <a:lstStyle/>
                    <a:p>
                      <a:r>
                        <a:rPr lang="en-US" dirty="0" smtClean="0"/>
                        <a:t>A</a:t>
                      </a:r>
                      <a:endParaRPr lang="en-US" dirty="0"/>
                    </a:p>
                  </a:txBody>
                  <a:tcPr>
                    <a:solidFill>
                      <a:schemeClr val="bg1"/>
                    </a:solidFill>
                  </a:tcPr>
                </a:tc>
                <a:tc>
                  <a:txBody>
                    <a:bodyPr/>
                    <a:lstStyle/>
                    <a:p>
                      <a:r>
                        <a:rPr lang="en-US" dirty="0" smtClean="0"/>
                        <a:t>A</a:t>
                      </a:r>
                      <a:endParaRPr lang="en-US" dirty="0"/>
                    </a:p>
                  </a:txBody>
                  <a:tcPr>
                    <a:solidFill>
                      <a:schemeClr val="bg1"/>
                    </a:solidFill>
                  </a:tcPr>
                </a:tc>
                <a:tc>
                  <a:txBody>
                    <a:bodyPr/>
                    <a:lstStyle/>
                    <a:p>
                      <a:r>
                        <a:rPr lang="en-US" dirty="0" smtClean="0"/>
                        <a:t>A</a:t>
                      </a:r>
                      <a:endParaRPr lang="en-US" dirty="0"/>
                    </a:p>
                  </a:txBody>
                  <a:tcPr>
                    <a:solidFill>
                      <a:schemeClr val="bg1"/>
                    </a:solidFill>
                  </a:tcPr>
                </a:tc>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A</a:t>
                      </a:r>
                      <a:endParaRPr lang="en-US" dirty="0"/>
                    </a:p>
                  </a:txBody>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830145511"/>
              </p:ext>
            </p:extLst>
          </p:nvPr>
        </p:nvGraphicFramePr>
        <p:xfrm>
          <a:off x="2209800" y="3657600"/>
          <a:ext cx="1905000" cy="365760"/>
        </p:xfrm>
        <a:graphic>
          <a:graphicData uri="http://schemas.openxmlformats.org/drawingml/2006/table">
            <a:tbl>
              <a:tblPr firstRow="1" bandRow="1">
                <a:tableStyleId>{616DA210-FB5B-4158-B5E0-FEB733F419BA}</a:tableStyleId>
              </a:tblPr>
              <a:tblGrid>
                <a:gridCol w="476250"/>
                <a:gridCol w="476250"/>
                <a:gridCol w="476250"/>
                <a:gridCol w="476250"/>
              </a:tblGrid>
              <a:tr h="304800">
                <a:tc>
                  <a:txBody>
                    <a:bodyPr/>
                    <a:lstStyle/>
                    <a:p>
                      <a:r>
                        <a:rPr lang="en-US" dirty="0" smtClean="0"/>
                        <a:t>A</a:t>
                      </a:r>
                      <a:endParaRPr lang="en-US" dirty="0"/>
                    </a:p>
                  </a:txBody>
                  <a:tcPr>
                    <a:solidFill>
                      <a:schemeClr val="bg1"/>
                    </a:solidFill>
                  </a:tcPr>
                </a:tc>
                <a:tc>
                  <a:txBody>
                    <a:bodyPr/>
                    <a:lstStyle/>
                    <a:p>
                      <a:r>
                        <a:rPr lang="en-US" dirty="0" smtClean="0"/>
                        <a:t>A</a:t>
                      </a:r>
                      <a:endParaRPr lang="en-US" dirty="0"/>
                    </a:p>
                  </a:txBody>
                  <a:tcPr>
                    <a:solidFill>
                      <a:schemeClr val="bg1"/>
                    </a:solidFill>
                  </a:tcPr>
                </a:tc>
                <a:tc>
                  <a:txBody>
                    <a:bodyPr/>
                    <a:lstStyle/>
                    <a:p>
                      <a:r>
                        <a:rPr lang="en-US" dirty="0" smtClean="0"/>
                        <a:t>A</a:t>
                      </a:r>
                      <a:endParaRPr lang="en-US" dirty="0"/>
                    </a:p>
                  </a:txBody>
                  <a:tcPr>
                    <a:solidFill>
                      <a:schemeClr val="bg1"/>
                    </a:solidFill>
                  </a:tcPr>
                </a:tc>
                <a:tc>
                  <a:txBody>
                    <a:bodyPr/>
                    <a:lstStyle/>
                    <a:p>
                      <a:r>
                        <a:rPr lang="en-US" dirty="0" smtClean="0"/>
                        <a:t>A</a:t>
                      </a:r>
                      <a:endParaRPr lang="en-US" dirty="0"/>
                    </a:p>
                  </a:txBody>
                  <a:tcPr>
                    <a:solidFill>
                      <a:schemeClr val="bg1"/>
                    </a:solidFill>
                  </a:tcPr>
                </a:tc>
              </a:tr>
            </a:tbl>
          </a:graphicData>
        </a:graphic>
      </p:graphicFrame>
    </p:spTree>
    <p:extLst>
      <p:ext uri="{BB962C8B-B14F-4D97-AF65-F5344CB8AC3E}">
        <p14:creationId xmlns:p14="http://schemas.microsoft.com/office/powerpoint/2010/main" val="3120522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8" end="8"/>
                                            </p:txEl>
                                          </p:spTgt>
                                        </p:tgtEl>
                                        <p:attrNameLst>
                                          <p:attrName>style.visibility</p:attrName>
                                        </p:attrNameLst>
                                      </p:cBhvr>
                                      <p:to>
                                        <p:strVal val="visible"/>
                                      </p:to>
                                    </p:set>
                                    <p:animEffect transition="in" filter="fade">
                                      <p:cBhvr>
                                        <p:cTn id="7" dur="1000"/>
                                        <p:tgtEl>
                                          <p:spTgt spid="6">
                                            <p:txEl>
                                              <p:pRg st="8" end="8"/>
                                            </p:txEl>
                                          </p:spTgt>
                                        </p:tgtEl>
                                      </p:cBhvr>
                                    </p:animEffect>
                                    <p:anim calcmode="lin" valueType="num">
                                      <p:cBhvr>
                                        <p:cTn id="8"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20</a:t>
            </a:fld>
            <a:endParaRPr lang="en-US"/>
          </a:p>
        </p:txBody>
      </p:sp>
      <p:sp>
        <p:nvSpPr>
          <p:cNvPr id="6" name="Content Placeholder 5"/>
          <p:cNvSpPr>
            <a:spLocks noGrp="1"/>
          </p:cNvSpPr>
          <p:nvPr>
            <p:ph sz="quarter" idx="1"/>
          </p:nvPr>
        </p:nvSpPr>
        <p:spPr/>
        <p:txBody>
          <a:bodyPr>
            <a:normAutofit fontScale="85000" lnSpcReduction="20000"/>
          </a:bodyPr>
          <a:lstStyle/>
          <a:p>
            <a:pPr marL="0" indent="0">
              <a:buNone/>
            </a:pPr>
            <a:r>
              <a:rPr lang="en-US" sz="2400" dirty="0">
                <a:latin typeface="Calibri" pitchFamily="34" charset="0"/>
                <a:cs typeface="Calibri" pitchFamily="34" charset="0"/>
              </a:rPr>
              <a:t>In this second window, we only compare </a:t>
            </a:r>
            <a:r>
              <a:rPr lang="en-US" sz="2400" dirty="0">
                <a:solidFill>
                  <a:srgbClr val="7030A0"/>
                </a:solidFill>
                <a:latin typeface="Calibri" pitchFamily="34" charset="0"/>
                <a:cs typeface="Calibri" pitchFamily="34" charset="0"/>
              </a:rPr>
              <a:t>fourth A</a:t>
            </a:r>
            <a:r>
              <a:rPr lang="en-US" sz="2400" dirty="0">
                <a:latin typeface="Calibri" pitchFamily="34" charset="0"/>
                <a:cs typeface="Calibri" pitchFamily="34" charset="0"/>
              </a:rPr>
              <a:t> of pattern with </a:t>
            </a:r>
            <a:r>
              <a:rPr lang="en-US" sz="2400" dirty="0">
                <a:solidFill>
                  <a:srgbClr val="7030A0"/>
                </a:solidFill>
                <a:latin typeface="Calibri" pitchFamily="34" charset="0"/>
                <a:cs typeface="Calibri" pitchFamily="34" charset="0"/>
              </a:rPr>
              <a:t>fourth character of current window of text </a:t>
            </a:r>
            <a:r>
              <a:rPr lang="en-US" sz="2400" dirty="0">
                <a:latin typeface="Calibri" pitchFamily="34" charset="0"/>
                <a:cs typeface="Calibri" pitchFamily="34" charset="0"/>
              </a:rPr>
              <a:t>to decide whether current window matches or not. Since we know first three characters will anyway match, we skipped matching first three characters.</a:t>
            </a:r>
            <a:endParaRPr lang="en-US" sz="2400" dirty="0" smtClean="0">
              <a:latin typeface="Calibri" pitchFamily="34" charset="0"/>
              <a:cs typeface="Calibri" pitchFamily="34" charset="0"/>
            </a:endParaRPr>
          </a:p>
          <a:p>
            <a:pPr marL="0" indent="0">
              <a:buNone/>
            </a:pPr>
            <a:r>
              <a:rPr lang="en-US" dirty="0" smtClean="0"/>
              <a:t>            </a:t>
            </a:r>
          </a:p>
          <a:p>
            <a:pPr marL="0" indent="0">
              <a:buNone/>
            </a:pPr>
            <a:r>
              <a:rPr lang="en-US" dirty="0" smtClean="0"/>
              <a:t>	        </a:t>
            </a:r>
            <a:r>
              <a:rPr lang="en-US" dirty="0" smtClean="0">
                <a:solidFill>
                  <a:srgbClr val="00B0F0"/>
                </a:solidFill>
              </a:rPr>
              <a:t>                   </a:t>
            </a:r>
            <a:r>
              <a:rPr lang="en-US" dirty="0" smtClean="0"/>
              <a:t>	</a:t>
            </a:r>
            <a:endParaRPr lang="en-US" dirty="0"/>
          </a:p>
          <a:p>
            <a:pPr marL="0" indent="0">
              <a:buNone/>
            </a:pPr>
            <a:endParaRPr lang="en-US" dirty="0" smtClean="0"/>
          </a:p>
          <a:p>
            <a:pPr marL="0" indent="0">
              <a:buNone/>
            </a:pPr>
            <a:endParaRPr lang="en-US" dirty="0"/>
          </a:p>
          <a:p>
            <a:pPr marL="0" indent="0">
              <a:buNone/>
            </a:pPr>
            <a:r>
              <a:rPr lang="en-US" dirty="0" smtClean="0"/>
              <a:t>	 </a:t>
            </a:r>
          </a:p>
          <a:p>
            <a:pPr marL="0" indent="0">
              <a:buNone/>
            </a:pPr>
            <a:r>
              <a:rPr lang="en-US" dirty="0"/>
              <a:t>	</a:t>
            </a:r>
            <a:r>
              <a:rPr lang="en-US" dirty="0" smtClean="0"/>
              <a:t>   0    1    2      3      4    5     6    7    8    9     10</a:t>
            </a:r>
            <a:r>
              <a:rPr lang="en-US" dirty="0" smtClean="0">
                <a:solidFill>
                  <a:srgbClr val="7030A0"/>
                </a:solidFill>
              </a:rPr>
              <a:t> </a:t>
            </a:r>
          </a:p>
          <a:p>
            <a:pPr marL="0" indent="0">
              <a:buNone/>
            </a:pPr>
            <a:r>
              <a:rPr lang="en-US" dirty="0" smtClean="0">
                <a:solidFill>
                  <a:srgbClr val="7030A0"/>
                </a:solidFill>
              </a:rPr>
              <a:t>text</a:t>
            </a:r>
            <a:r>
              <a:rPr lang="en-US" dirty="0">
                <a:solidFill>
                  <a:srgbClr val="7030A0"/>
                </a:solidFill>
              </a:rPr>
              <a:t>: </a:t>
            </a:r>
          </a:p>
          <a:p>
            <a:pPr marL="0" indent="0">
              <a:buNone/>
            </a:pPr>
            <a:r>
              <a:rPr lang="en-US" dirty="0" smtClean="0"/>
              <a:t>                                        </a:t>
            </a:r>
            <a:r>
              <a:rPr lang="en-US" dirty="0" smtClean="0">
                <a:solidFill>
                  <a:srgbClr val="00B0F0"/>
                </a:solidFill>
              </a:rPr>
              <a:t>i</a:t>
            </a:r>
          </a:p>
          <a:p>
            <a:pPr marL="0" indent="0">
              <a:buNone/>
            </a:pPr>
            <a:r>
              <a:rPr lang="en-US" dirty="0" smtClean="0">
                <a:solidFill>
                  <a:srgbClr val="7030A0"/>
                </a:solidFill>
              </a:rPr>
              <a:t>pattern:</a:t>
            </a:r>
            <a:endParaRPr lang="en-US" dirty="0"/>
          </a:p>
          <a:p>
            <a:pPr marL="0" indent="0">
              <a:buNone/>
            </a:pPr>
            <a:r>
              <a:rPr lang="en-US" dirty="0" smtClean="0">
                <a:solidFill>
                  <a:srgbClr val="00B0F0"/>
                </a:solidFill>
              </a:rPr>
              <a:t>                </a:t>
            </a:r>
            <a:endParaRPr lang="en-US" dirty="0">
              <a:solidFill>
                <a:srgbClr val="00B0F0"/>
              </a:solidFill>
            </a:endParaRPr>
          </a:p>
        </p:txBody>
      </p:sp>
      <p:graphicFrame>
        <p:nvGraphicFramePr>
          <p:cNvPr id="8" name="Table 7"/>
          <p:cNvGraphicFramePr>
            <a:graphicFrameLocks noGrp="1"/>
          </p:cNvGraphicFramePr>
          <p:nvPr>
            <p:extLst>
              <p:ext uri="{D42A27DB-BD31-4B8C-83A1-F6EECF244321}">
                <p14:modId xmlns:p14="http://schemas.microsoft.com/office/powerpoint/2010/main" val="2955967154"/>
              </p:ext>
            </p:extLst>
          </p:nvPr>
        </p:nvGraphicFramePr>
        <p:xfrm>
          <a:off x="1524000" y="4572000"/>
          <a:ext cx="6096002" cy="370840"/>
        </p:xfrm>
        <a:graphic>
          <a:graphicData uri="http://schemas.openxmlformats.org/drawingml/2006/table">
            <a:tbl>
              <a:tblPr firstRow="1" bandRow="1">
                <a:tableStyleId>{616DA210-FB5B-4158-B5E0-FEB733F419BA}</a:tableStyleId>
              </a:tblPr>
              <a:tblGrid>
                <a:gridCol w="554182"/>
                <a:gridCol w="554182"/>
                <a:gridCol w="554182"/>
                <a:gridCol w="554182"/>
                <a:gridCol w="554182"/>
                <a:gridCol w="554182"/>
                <a:gridCol w="554182"/>
                <a:gridCol w="554182"/>
                <a:gridCol w="554182"/>
                <a:gridCol w="554182"/>
                <a:gridCol w="554182"/>
              </a:tblGrid>
              <a:tr h="370840">
                <a:tc>
                  <a:txBody>
                    <a:bodyPr/>
                    <a:lstStyle/>
                    <a:p>
                      <a:r>
                        <a:rPr lang="en-US" dirty="0" smtClean="0"/>
                        <a:t>A</a:t>
                      </a:r>
                      <a:endParaRPr lang="en-US" dirty="0"/>
                    </a:p>
                  </a:txBody>
                  <a:tcPr>
                    <a:solidFill>
                      <a:schemeClr val="bg1"/>
                    </a:solidFill>
                  </a:tcPr>
                </a:tc>
                <a:tc>
                  <a:txBody>
                    <a:bodyPr/>
                    <a:lstStyle/>
                    <a:p>
                      <a:r>
                        <a:rPr lang="en-US" dirty="0" smtClean="0"/>
                        <a:t>A</a:t>
                      </a:r>
                      <a:endParaRPr lang="en-US" dirty="0"/>
                    </a:p>
                  </a:txBody>
                  <a:tcPr>
                    <a:solidFill>
                      <a:schemeClr val="bg1"/>
                    </a:solidFill>
                  </a:tcPr>
                </a:tc>
                <a:tc>
                  <a:txBody>
                    <a:bodyPr/>
                    <a:lstStyle/>
                    <a:p>
                      <a:r>
                        <a:rPr lang="en-US" dirty="0" smtClean="0"/>
                        <a:t>A</a:t>
                      </a:r>
                      <a:endParaRPr lang="en-US" dirty="0"/>
                    </a:p>
                  </a:txBody>
                  <a:tcPr>
                    <a:solidFill>
                      <a:schemeClr val="bg1"/>
                    </a:solidFill>
                  </a:tcPr>
                </a:tc>
                <a:tc>
                  <a:txBody>
                    <a:bodyPr/>
                    <a:lstStyle/>
                    <a:p>
                      <a:r>
                        <a:rPr lang="en-US" dirty="0" smtClean="0"/>
                        <a:t>A</a:t>
                      </a:r>
                      <a:endParaRPr lang="en-US" dirty="0"/>
                    </a:p>
                  </a:txBody>
                  <a:tcPr>
                    <a:solidFill>
                      <a:schemeClr val="bg1"/>
                    </a:solidFill>
                  </a:tcPr>
                </a:tc>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A</a:t>
                      </a:r>
                      <a:endParaRPr lang="en-US" dirty="0"/>
                    </a:p>
                  </a:txBody>
                  <a:tcPr/>
                </a:tc>
                <a:tc>
                  <a:txBody>
                    <a:bodyPr/>
                    <a:lstStyle/>
                    <a:p>
                      <a:r>
                        <a:rPr lang="en-US" dirty="0" smtClean="0"/>
                        <a:t>B</a:t>
                      </a:r>
                      <a:endParaRPr lang="en-US" dirty="0"/>
                    </a:p>
                  </a:txBody>
                  <a:tcPr/>
                </a:tc>
                <a:tc>
                  <a:txBody>
                    <a:bodyPr/>
                    <a:lstStyle/>
                    <a:p>
                      <a:r>
                        <a:rPr lang="en-US" dirty="0" smtClean="0"/>
                        <a:t>A</a:t>
                      </a:r>
                      <a:endParaRPr lang="en-US" dirty="0"/>
                    </a:p>
                  </a:txBody>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89204625"/>
              </p:ext>
            </p:extLst>
          </p:nvPr>
        </p:nvGraphicFramePr>
        <p:xfrm>
          <a:off x="2099181" y="5273040"/>
          <a:ext cx="1905000" cy="365760"/>
        </p:xfrm>
        <a:graphic>
          <a:graphicData uri="http://schemas.openxmlformats.org/drawingml/2006/table">
            <a:tbl>
              <a:tblPr firstRow="1" bandRow="1">
                <a:tableStyleId>{616DA210-FB5B-4158-B5E0-FEB733F419BA}</a:tableStyleId>
              </a:tblPr>
              <a:tblGrid>
                <a:gridCol w="476250"/>
                <a:gridCol w="476250"/>
                <a:gridCol w="476250"/>
                <a:gridCol w="476250"/>
              </a:tblGrid>
              <a:tr h="304800">
                <a:tc>
                  <a:txBody>
                    <a:bodyPr/>
                    <a:lstStyle/>
                    <a:p>
                      <a:r>
                        <a:rPr lang="en-US" dirty="0" smtClean="0"/>
                        <a:t>A</a:t>
                      </a:r>
                      <a:endParaRPr lang="en-US" dirty="0"/>
                    </a:p>
                  </a:txBody>
                  <a:tcPr>
                    <a:solidFill>
                      <a:schemeClr val="bg1"/>
                    </a:solidFill>
                  </a:tcPr>
                </a:tc>
                <a:tc>
                  <a:txBody>
                    <a:bodyPr/>
                    <a:lstStyle/>
                    <a:p>
                      <a:r>
                        <a:rPr lang="en-US" dirty="0" smtClean="0"/>
                        <a:t>A</a:t>
                      </a:r>
                      <a:endParaRPr lang="en-US" dirty="0"/>
                    </a:p>
                  </a:txBody>
                  <a:tcPr>
                    <a:solidFill>
                      <a:schemeClr val="bg1"/>
                    </a:solidFill>
                  </a:tcPr>
                </a:tc>
                <a:tc>
                  <a:txBody>
                    <a:bodyPr/>
                    <a:lstStyle/>
                    <a:p>
                      <a:r>
                        <a:rPr lang="en-US" dirty="0" smtClean="0"/>
                        <a:t>A</a:t>
                      </a:r>
                      <a:endParaRPr lang="en-US" dirty="0"/>
                    </a:p>
                  </a:txBody>
                  <a:tcPr>
                    <a:solidFill>
                      <a:schemeClr val="bg1"/>
                    </a:solidFill>
                  </a:tcPr>
                </a:tc>
                <a:tc>
                  <a:txBody>
                    <a:bodyPr/>
                    <a:lstStyle/>
                    <a:p>
                      <a:r>
                        <a:rPr lang="en-US" dirty="0" smtClean="0"/>
                        <a:t>A</a:t>
                      </a:r>
                      <a:endParaRPr lang="en-US" dirty="0"/>
                    </a:p>
                  </a:txBody>
                  <a:tcPr>
                    <a:solidFill>
                      <a:schemeClr val="bg1"/>
                    </a:solidFill>
                  </a:tcPr>
                </a:tc>
              </a:tr>
            </a:tbl>
          </a:graphicData>
        </a:graphic>
      </p:graphicFrame>
      <p:sp>
        <p:nvSpPr>
          <p:cNvPr id="7" name="Rectangle 6"/>
          <p:cNvSpPr/>
          <p:nvPr/>
        </p:nvSpPr>
        <p:spPr>
          <a:xfrm>
            <a:off x="1752600" y="5638800"/>
            <a:ext cx="2441694" cy="369332"/>
          </a:xfrm>
          <a:prstGeom prst="rect">
            <a:avLst/>
          </a:prstGeom>
        </p:spPr>
        <p:txBody>
          <a:bodyPr wrap="none">
            <a:spAutoFit/>
          </a:bodyPr>
          <a:lstStyle/>
          <a:p>
            <a:r>
              <a:rPr lang="en-US" dirty="0"/>
              <a:t> </a:t>
            </a:r>
            <a:r>
              <a:rPr lang="en-US" dirty="0" smtClean="0"/>
              <a:t>      0     1        </a:t>
            </a:r>
            <a:r>
              <a:rPr lang="en-US" dirty="0"/>
              <a:t>2    3   </a:t>
            </a:r>
          </a:p>
        </p:txBody>
      </p:sp>
      <p:sp>
        <p:nvSpPr>
          <p:cNvPr id="10" name="TextBox 9"/>
          <p:cNvSpPr txBox="1"/>
          <p:nvPr/>
        </p:nvSpPr>
        <p:spPr>
          <a:xfrm>
            <a:off x="3886200" y="4953000"/>
            <a:ext cx="235962" cy="369332"/>
          </a:xfrm>
          <a:prstGeom prst="rect">
            <a:avLst/>
          </a:prstGeom>
          <a:noFill/>
        </p:spPr>
        <p:txBody>
          <a:bodyPr wrap="none" rtlCol="0">
            <a:spAutoFit/>
          </a:bodyPr>
          <a:lstStyle/>
          <a:p>
            <a:r>
              <a:rPr lang="en-US" dirty="0" smtClean="0">
                <a:solidFill>
                  <a:srgbClr val="00B0F0"/>
                </a:solidFill>
              </a:rPr>
              <a:t>i</a:t>
            </a:r>
            <a:endParaRPr lang="en-US" dirty="0">
              <a:solidFill>
                <a:srgbClr val="00B0F0"/>
              </a:solidFill>
            </a:endParaRPr>
          </a:p>
        </p:txBody>
      </p:sp>
    </p:spTree>
    <p:extLst>
      <p:ext uri="{BB962C8B-B14F-4D97-AF65-F5344CB8AC3E}">
        <p14:creationId xmlns:p14="http://schemas.microsoft.com/office/powerpoint/2010/main" val="323223039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Need of Preprocessing?</a:t>
            </a:r>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21</a:t>
            </a:fld>
            <a:endParaRPr lang="en-US"/>
          </a:p>
        </p:txBody>
      </p:sp>
      <p:sp>
        <p:nvSpPr>
          <p:cNvPr id="6" name="Content Placeholder 5"/>
          <p:cNvSpPr>
            <a:spLocks noGrp="1"/>
          </p:cNvSpPr>
          <p:nvPr>
            <p:ph sz="quarter" idx="1"/>
          </p:nvPr>
        </p:nvSpPr>
        <p:spPr/>
        <p:txBody>
          <a:bodyPr>
            <a:normAutofit/>
          </a:bodyPr>
          <a:lstStyle/>
          <a:p>
            <a:pPr marL="0" indent="0">
              <a:buNone/>
            </a:pPr>
            <a:r>
              <a:rPr lang="en-US" sz="1800" dirty="0">
                <a:latin typeface="Calibri" pitchFamily="34" charset="0"/>
                <a:cs typeface="Calibri" pitchFamily="34" charset="0"/>
              </a:rPr>
              <a:t>An important question arises from the above explanation, how to know how many characters to be skipped. To know this, </a:t>
            </a:r>
            <a:r>
              <a:rPr lang="en-US" sz="1800" dirty="0" smtClean="0">
                <a:latin typeface="Calibri" pitchFamily="34" charset="0"/>
                <a:cs typeface="Calibri" pitchFamily="34" charset="0"/>
              </a:rPr>
              <a:t>pre-process </a:t>
            </a:r>
            <a:r>
              <a:rPr lang="en-US" sz="1800" dirty="0">
                <a:latin typeface="Calibri" pitchFamily="34" charset="0"/>
                <a:cs typeface="Calibri" pitchFamily="34" charset="0"/>
              </a:rPr>
              <a:t>pattern and prepare an integer </a:t>
            </a:r>
            <a:r>
              <a:rPr lang="en-US" sz="1800" dirty="0">
                <a:solidFill>
                  <a:srgbClr val="7030A0"/>
                </a:solidFill>
                <a:latin typeface="Calibri" pitchFamily="34" charset="0"/>
                <a:cs typeface="Calibri" pitchFamily="34" charset="0"/>
              </a:rPr>
              <a:t>array </a:t>
            </a:r>
            <a:r>
              <a:rPr lang="en-US" sz="1800" dirty="0" err="1">
                <a:solidFill>
                  <a:srgbClr val="7030A0"/>
                </a:solidFill>
                <a:latin typeface="Calibri" pitchFamily="34" charset="0"/>
                <a:cs typeface="Calibri" pitchFamily="34" charset="0"/>
              </a:rPr>
              <a:t>lps</a:t>
            </a:r>
            <a:r>
              <a:rPr lang="en-US" sz="1800" dirty="0">
                <a:solidFill>
                  <a:srgbClr val="7030A0"/>
                </a:solidFill>
                <a:latin typeface="Calibri" pitchFamily="34" charset="0"/>
                <a:cs typeface="Calibri" pitchFamily="34" charset="0"/>
              </a:rPr>
              <a:t>[] </a:t>
            </a:r>
            <a:r>
              <a:rPr lang="en-US" sz="1800" dirty="0">
                <a:latin typeface="Calibri" pitchFamily="34" charset="0"/>
                <a:cs typeface="Calibri" pitchFamily="34" charset="0"/>
              </a:rPr>
              <a:t>that </a:t>
            </a:r>
            <a:r>
              <a:rPr lang="en-US" sz="1800" dirty="0" smtClean="0">
                <a:latin typeface="Calibri" pitchFamily="34" charset="0"/>
                <a:cs typeface="Calibri" pitchFamily="34" charset="0"/>
              </a:rPr>
              <a:t>tells the </a:t>
            </a:r>
            <a:r>
              <a:rPr lang="en-US" sz="1800" dirty="0">
                <a:latin typeface="Calibri" pitchFamily="34" charset="0"/>
                <a:cs typeface="Calibri" pitchFamily="34" charset="0"/>
              </a:rPr>
              <a:t>count of characters to be skipped</a:t>
            </a:r>
            <a:r>
              <a:rPr lang="en-US" sz="1800" dirty="0" smtClean="0">
                <a:latin typeface="Calibri" pitchFamily="34" charset="0"/>
                <a:cs typeface="Calibri" pitchFamily="34" charset="0"/>
              </a:rPr>
              <a:t>.</a:t>
            </a:r>
          </a:p>
          <a:p>
            <a:pPr marL="0" indent="0">
              <a:buNone/>
            </a:pPr>
            <a:endParaRPr lang="en-US" sz="1800" dirty="0">
              <a:latin typeface="Calibri" pitchFamily="34" charset="0"/>
              <a:cs typeface="Calibri" pitchFamily="34" charset="0"/>
            </a:endParaRPr>
          </a:p>
          <a:p>
            <a:pPr marL="0" indent="0">
              <a:buNone/>
            </a:pPr>
            <a:r>
              <a:rPr lang="en-US" sz="1800" dirty="0" smtClean="0">
                <a:latin typeface="Calibri" pitchFamily="34" charset="0"/>
                <a:cs typeface="Calibri" pitchFamily="34" charset="0"/>
              </a:rPr>
              <a:t>To do it first, </a:t>
            </a:r>
            <a:r>
              <a:rPr lang="en-US" sz="1800" dirty="0">
                <a:latin typeface="Calibri" pitchFamily="34" charset="0"/>
                <a:cs typeface="Calibri" pitchFamily="34" charset="0"/>
              </a:rPr>
              <a:t> </a:t>
            </a:r>
            <a:r>
              <a:rPr lang="en-US" sz="1800" dirty="0" smtClean="0">
                <a:latin typeface="Calibri" pitchFamily="34" charset="0"/>
                <a:cs typeface="Calibri" pitchFamily="34" charset="0"/>
              </a:rPr>
              <a:t>need to know the idea of prefix and suffix</a:t>
            </a:r>
          </a:p>
          <a:p>
            <a:pPr marL="0" indent="0">
              <a:buNone/>
            </a:pPr>
            <a:r>
              <a:rPr lang="en-US" sz="1800" dirty="0" smtClean="0">
                <a:latin typeface="Calibri" pitchFamily="34" charset="0"/>
                <a:cs typeface="Calibri" pitchFamily="34" charset="0"/>
              </a:rPr>
              <a:t>So, </a:t>
            </a:r>
          </a:p>
          <a:p>
            <a:pPr marL="0" indent="0">
              <a:buNone/>
            </a:pPr>
            <a:r>
              <a:rPr lang="en-US" sz="1800" dirty="0" smtClean="0">
                <a:latin typeface="Calibri" pitchFamily="34" charset="0"/>
                <a:cs typeface="Calibri" pitchFamily="34" charset="0"/>
              </a:rPr>
              <a:t>If the pattern is  “ABAC”</a:t>
            </a:r>
          </a:p>
          <a:p>
            <a:pPr marL="0" indent="0">
              <a:buNone/>
            </a:pPr>
            <a:r>
              <a:rPr lang="en-US" sz="1800" dirty="0" smtClean="0">
                <a:latin typeface="Calibri" pitchFamily="34" charset="0"/>
                <a:cs typeface="Calibri" pitchFamily="34" charset="0"/>
              </a:rPr>
              <a:t>Then, </a:t>
            </a:r>
          </a:p>
          <a:p>
            <a:pPr marL="0" indent="0">
              <a:buNone/>
            </a:pPr>
            <a:r>
              <a:rPr lang="en-US" sz="1800" dirty="0" smtClean="0">
                <a:latin typeface="Calibri" pitchFamily="34" charset="0"/>
                <a:cs typeface="Calibri" pitchFamily="34" charset="0"/>
              </a:rPr>
              <a:t>Prefix:  A, AB, ABA,    ABAC </a:t>
            </a:r>
            <a:r>
              <a:rPr lang="en-US" sz="1800" dirty="0" smtClean="0">
                <a:solidFill>
                  <a:srgbClr val="C00000"/>
                </a:solidFill>
                <a:latin typeface="Calibri" pitchFamily="34" charset="0"/>
                <a:cs typeface="Calibri" pitchFamily="34" charset="0"/>
              </a:rPr>
              <a:t>(not proper </a:t>
            </a:r>
            <a:r>
              <a:rPr lang="en-US" sz="1800" dirty="0" smtClean="0">
                <a:solidFill>
                  <a:srgbClr val="7030A0"/>
                </a:solidFill>
                <a:latin typeface="Calibri" pitchFamily="34" charset="0"/>
                <a:cs typeface="Calibri" pitchFamily="34" charset="0"/>
              </a:rPr>
              <a:t>prefix</a:t>
            </a:r>
            <a:r>
              <a:rPr lang="en-US" sz="1800" dirty="0" smtClean="0">
                <a:solidFill>
                  <a:srgbClr val="C00000"/>
                </a:solidFill>
                <a:latin typeface="Calibri" pitchFamily="34" charset="0"/>
                <a:cs typeface="Calibri" pitchFamily="34" charset="0"/>
              </a:rPr>
              <a:t> as it is same as the pattern)</a:t>
            </a:r>
          </a:p>
          <a:p>
            <a:pPr marL="0" indent="0">
              <a:buNone/>
            </a:pPr>
            <a:r>
              <a:rPr lang="en-US" sz="1800" dirty="0" smtClean="0">
                <a:latin typeface="Calibri" pitchFamily="34" charset="0"/>
                <a:cs typeface="Calibri" pitchFamily="34" charset="0"/>
              </a:rPr>
              <a:t>Suffix</a:t>
            </a:r>
            <a:r>
              <a:rPr lang="en-US" sz="1800" dirty="0">
                <a:latin typeface="Calibri" pitchFamily="34" charset="0"/>
                <a:cs typeface="Calibri" pitchFamily="34" charset="0"/>
              </a:rPr>
              <a:t>:  </a:t>
            </a:r>
            <a:r>
              <a:rPr lang="en-US" sz="1800" dirty="0" smtClean="0">
                <a:latin typeface="Calibri" pitchFamily="34" charset="0"/>
                <a:cs typeface="Calibri" pitchFamily="34" charset="0"/>
              </a:rPr>
              <a:t>C, AC, BAC,    ABAC </a:t>
            </a:r>
            <a:r>
              <a:rPr lang="en-US" sz="1800" dirty="0">
                <a:solidFill>
                  <a:srgbClr val="C00000"/>
                </a:solidFill>
                <a:latin typeface="Calibri" pitchFamily="34" charset="0"/>
                <a:cs typeface="Calibri" pitchFamily="34" charset="0"/>
              </a:rPr>
              <a:t>(not proper </a:t>
            </a:r>
            <a:r>
              <a:rPr lang="en-US" sz="1800" dirty="0" smtClean="0">
                <a:solidFill>
                  <a:srgbClr val="7030A0"/>
                </a:solidFill>
                <a:latin typeface="Calibri" pitchFamily="34" charset="0"/>
                <a:cs typeface="Calibri" pitchFamily="34" charset="0"/>
              </a:rPr>
              <a:t>suffix</a:t>
            </a:r>
            <a:r>
              <a:rPr lang="en-US" sz="1800" dirty="0" smtClean="0">
                <a:solidFill>
                  <a:srgbClr val="C00000"/>
                </a:solidFill>
                <a:latin typeface="Calibri" pitchFamily="34" charset="0"/>
                <a:cs typeface="Calibri" pitchFamily="34" charset="0"/>
              </a:rPr>
              <a:t> </a:t>
            </a:r>
            <a:r>
              <a:rPr lang="en-US" sz="1800" dirty="0">
                <a:solidFill>
                  <a:srgbClr val="C00000"/>
                </a:solidFill>
                <a:latin typeface="Calibri" pitchFamily="34" charset="0"/>
                <a:cs typeface="Calibri" pitchFamily="34" charset="0"/>
              </a:rPr>
              <a:t>as it is same as the pattern)</a:t>
            </a:r>
          </a:p>
          <a:p>
            <a:pPr marL="0" indent="0">
              <a:buNone/>
            </a:pPr>
            <a:endParaRPr lang="en-US" sz="1800" dirty="0">
              <a:solidFill>
                <a:srgbClr val="C00000"/>
              </a:solidFill>
              <a:latin typeface="Calibri" pitchFamily="34" charset="0"/>
              <a:cs typeface="Calibri" pitchFamily="34" charset="0"/>
            </a:endParaRPr>
          </a:p>
        </p:txBody>
      </p:sp>
    </p:spTree>
    <p:extLst>
      <p:ext uri="{BB962C8B-B14F-4D97-AF65-F5344CB8AC3E}">
        <p14:creationId xmlns:p14="http://schemas.microsoft.com/office/powerpoint/2010/main" val="309415231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Preprocessing Overview</a:t>
            </a:r>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22</a:t>
            </a:fld>
            <a:endParaRPr lang="en-US"/>
          </a:p>
        </p:txBody>
      </p:sp>
      <p:sp>
        <p:nvSpPr>
          <p:cNvPr id="6" name="Content Placeholder 5"/>
          <p:cNvSpPr>
            <a:spLocks noGrp="1"/>
          </p:cNvSpPr>
          <p:nvPr>
            <p:ph sz="quarter" idx="1"/>
          </p:nvPr>
        </p:nvSpPr>
        <p:spPr/>
        <p:txBody>
          <a:bodyPr>
            <a:normAutofit fontScale="92500" lnSpcReduction="10000"/>
          </a:bodyPr>
          <a:lstStyle/>
          <a:p>
            <a:pPr fontAlgn="base"/>
            <a:r>
              <a:rPr lang="en-US" sz="2000" dirty="0">
                <a:latin typeface="Calibri" pitchFamily="34" charset="0"/>
                <a:cs typeface="Calibri" pitchFamily="34" charset="0"/>
              </a:rPr>
              <a:t>KMP algorithm preprocesses </a:t>
            </a:r>
            <a:r>
              <a:rPr lang="en-US" sz="2000" dirty="0">
                <a:solidFill>
                  <a:srgbClr val="7030A0"/>
                </a:solidFill>
                <a:latin typeface="Calibri" pitchFamily="34" charset="0"/>
                <a:cs typeface="Calibri" pitchFamily="34" charset="0"/>
              </a:rPr>
              <a:t>pat[] </a:t>
            </a:r>
            <a:r>
              <a:rPr lang="en-US" sz="2000" dirty="0">
                <a:latin typeface="Calibri" pitchFamily="34" charset="0"/>
                <a:cs typeface="Calibri" pitchFamily="34" charset="0"/>
              </a:rPr>
              <a:t>and constructs an auxiliary</a:t>
            </a:r>
            <a:r>
              <a:rPr lang="en-US" sz="2000" dirty="0">
                <a:solidFill>
                  <a:srgbClr val="7030A0"/>
                </a:solidFill>
                <a:latin typeface="Calibri" pitchFamily="34" charset="0"/>
                <a:cs typeface="Calibri" pitchFamily="34" charset="0"/>
              </a:rPr>
              <a:t> </a:t>
            </a:r>
            <a:r>
              <a:rPr lang="en-US" sz="2000" b="1" dirty="0" err="1">
                <a:solidFill>
                  <a:srgbClr val="7030A0"/>
                </a:solidFill>
                <a:latin typeface="Calibri" pitchFamily="34" charset="0"/>
                <a:cs typeface="Calibri" pitchFamily="34" charset="0"/>
              </a:rPr>
              <a:t>lps</a:t>
            </a:r>
            <a:r>
              <a:rPr lang="en-US" sz="2000" b="1" dirty="0">
                <a:solidFill>
                  <a:srgbClr val="7030A0"/>
                </a:solidFill>
                <a:latin typeface="Calibri" pitchFamily="34" charset="0"/>
                <a:cs typeface="Calibri" pitchFamily="34" charset="0"/>
              </a:rPr>
              <a:t>[]</a:t>
            </a:r>
            <a:r>
              <a:rPr lang="en-US" sz="2000" dirty="0">
                <a:latin typeface="Calibri" pitchFamily="34" charset="0"/>
                <a:cs typeface="Calibri" pitchFamily="34" charset="0"/>
              </a:rPr>
              <a:t> of size </a:t>
            </a:r>
            <a:r>
              <a:rPr lang="en-US" sz="2000" dirty="0">
                <a:solidFill>
                  <a:srgbClr val="7030A0"/>
                </a:solidFill>
                <a:latin typeface="Calibri" pitchFamily="34" charset="0"/>
                <a:cs typeface="Calibri" pitchFamily="34" charset="0"/>
              </a:rPr>
              <a:t>m</a:t>
            </a:r>
            <a:r>
              <a:rPr lang="en-US" sz="2000" dirty="0">
                <a:latin typeface="Calibri" pitchFamily="34" charset="0"/>
                <a:cs typeface="Calibri" pitchFamily="34" charset="0"/>
              </a:rPr>
              <a:t> (</a:t>
            </a:r>
            <a:r>
              <a:rPr lang="en-US" sz="2000" dirty="0">
                <a:solidFill>
                  <a:srgbClr val="00B0F0"/>
                </a:solidFill>
                <a:latin typeface="Calibri" pitchFamily="34" charset="0"/>
                <a:cs typeface="Calibri" pitchFamily="34" charset="0"/>
              </a:rPr>
              <a:t>same as size of pattern</a:t>
            </a:r>
            <a:r>
              <a:rPr lang="en-US" sz="2000" dirty="0">
                <a:latin typeface="Calibri" pitchFamily="34" charset="0"/>
                <a:cs typeface="Calibri" pitchFamily="34" charset="0"/>
              </a:rPr>
              <a:t>) which is used to </a:t>
            </a:r>
            <a:r>
              <a:rPr lang="en-US" sz="2000" dirty="0">
                <a:solidFill>
                  <a:srgbClr val="00B0F0"/>
                </a:solidFill>
                <a:latin typeface="Calibri" pitchFamily="34" charset="0"/>
                <a:cs typeface="Calibri" pitchFamily="34" charset="0"/>
              </a:rPr>
              <a:t>skip</a:t>
            </a:r>
            <a:r>
              <a:rPr lang="en-US" sz="2000" dirty="0">
                <a:latin typeface="Calibri" pitchFamily="34" charset="0"/>
                <a:cs typeface="Calibri" pitchFamily="34" charset="0"/>
              </a:rPr>
              <a:t> characters while matching.</a:t>
            </a:r>
          </a:p>
          <a:p>
            <a:pPr fontAlgn="base"/>
            <a:r>
              <a:rPr lang="en-US" sz="2000" b="1" dirty="0">
                <a:solidFill>
                  <a:srgbClr val="7030A0"/>
                </a:solidFill>
                <a:latin typeface="Calibri" pitchFamily="34" charset="0"/>
                <a:cs typeface="Calibri" pitchFamily="34" charset="0"/>
              </a:rPr>
              <a:t>name </a:t>
            </a:r>
            <a:r>
              <a:rPr lang="en-US" sz="2000" b="1" dirty="0" err="1">
                <a:solidFill>
                  <a:srgbClr val="7030A0"/>
                </a:solidFill>
                <a:latin typeface="Calibri" pitchFamily="34" charset="0"/>
                <a:cs typeface="Calibri" pitchFamily="34" charset="0"/>
              </a:rPr>
              <a:t>lps</a:t>
            </a:r>
            <a:r>
              <a:rPr lang="en-US" sz="2000" b="1" dirty="0">
                <a:solidFill>
                  <a:srgbClr val="7030A0"/>
                </a:solidFill>
                <a:latin typeface="Calibri" pitchFamily="34" charset="0"/>
                <a:cs typeface="Calibri" pitchFamily="34" charset="0"/>
              </a:rPr>
              <a:t> indicates longest proper prefix which is also suffix</a:t>
            </a:r>
            <a:r>
              <a:rPr lang="en-US" sz="2000" b="1" dirty="0">
                <a:latin typeface="Calibri" pitchFamily="34" charset="0"/>
                <a:cs typeface="Calibri" pitchFamily="34" charset="0"/>
              </a:rPr>
              <a:t>.</a:t>
            </a:r>
            <a:r>
              <a:rPr lang="en-US" sz="2000" dirty="0">
                <a:latin typeface="Calibri" pitchFamily="34" charset="0"/>
                <a:cs typeface="Calibri" pitchFamily="34" charset="0"/>
              </a:rPr>
              <a:t>. A proper prefix is prefix with whole string </a:t>
            </a:r>
            <a:r>
              <a:rPr lang="en-US" sz="2000" b="1" dirty="0">
                <a:latin typeface="Calibri" pitchFamily="34" charset="0"/>
                <a:cs typeface="Calibri" pitchFamily="34" charset="0"/>
              </a:rPr>
              <a:t>not</a:t>
            </a:r>
            <a:r>
              <a:rPr lang="en-US" sz="2000" dirty="0">
                <a:latin typeface="Calibri" pitchFamily="34" charset="0"/>
                <a:cs typeface="Calibri" pitchFamily="34" charset="0"/>
              </a:rPr>
              <a:t> allowed. </a:t>
            </a:r>
            <a:endParaRPr lang="en-US" sz="2000" dirty="0" smtClean="0">
              <a:latin typeface="Calibri" pitchFamily="34" charset="0"/>
              <a:cs typeface="Calibri" pitchFamily="34" charset="0"/>
            </a:endParaRPr>
          </a:p>
          <a:p>
            <a:pPr fontAlgn="base"/>
            <a:r>
              <a:rPr lang="en-US" sz="2000" dirty="0" smtClean="0">
                <a:latin typeface="Calibri" pitchFamily="34" charset="0"/>
                <a:cs typeface="Calibri" pitchFamily="34" charset="0"/>
              </a:rPr>
              <a:t>Search </a:t>
            </a:r>
            <a:r>
              <a:rPr lang="en-US" sz="2000" dirty="0">
                <a:latin typeface="Calibri" pitchFamily="34" charset="0"/>
                <a:cs typeface="Calibri" pitchFamily="34" charset="0"/>
              </a:rPr>
              <a:t>for </a:t>
            </a:r>
            <a:r>
              <a:rPr lang="en-US" sz="2000" dirty="0" err="1">
                <a:solidFill>
                  <a:srgbClr val="7030A0"/>
                </a:solidFill>
                <a:latin typeface="Calibri" pitchFamily="34" charset="0"/>
                <a:cs typeface="Calibri" pitchFamily="34" charset="0"/>
              </a:rPr>
              <a:t>lps</a:t>
            </a:r>
            <a:r>
              <a:rPr lang="en-US" sz="2000" dirty="0">
                <a:latin typeface="Calibri" pitchFamily="34" charset="0"/>
                <a:cs typeface="Calibri" pitchFamily="34" charset="0"/>
              </a:rPr>
              <a:t> in sub-patterns. More clearly </a:t>
            </a:r>
            <a:r>
              <a:rPr lang="en-US" sz="2000" dirty="0" smtClean="0">
                <a:latin typeface="Calibri" pitchFamily="34" charset="0"/>
                <a:cs typeface="Calibri" pitchFamily="34" charset="0"/>
              </a:rPr>
              <a:t>focus </a:t>
            </a:r>
            <a:r>
              <a:rPr lang="en-US" sz="2000" dirty="0">
                <a:latin typeface="Calibri" pitchFamily="34" charset="0"/>
                <a:cs typeface="Calibri" pitchFamily="34" charset="0"/>
              </a:rPr>
              <a:t>on </a:t>
            </a:r>
            <a:r>
              <a:rPr lang="en-US" sz="2000" dirty="0">
                <a:solidFill>
                  <a:srgbClr val="7030A0"/>
                </a:solidFill>
                <a:latin typeface="Calibri" pitchFamily="34" charset="0"/>
                <a:cs typeface="Calibri" pitchFamily="34" charset="0"/>
              </a:rPr>
              <a:t>sub-strings</a:t>
            </a:r>
            <a:r>
              <a:rPr lang="en-US" sz="2000" dirty="0">
                <a:latin typeface="Calibri" pitchFamily="34" charset="0"/>
                <a:cs typeface="Calibri" pitchFamily="34" charset="0"/>
              </a:rPr>
              <a:t> of patterns that are either </a:t>
            </a:r>
            <a:r>
              <a:rPr lang="en-US" sz="2000" dirty="0">
                <a:solidFill>
                  <a:srgbClr val="7030A0"/>
                </a:solidFill>
                <a:latin typeface="Calibri" pitchFamily="34" charset="0"/>
                <a:cs typeface="Calibri" pitchFamily="34" charset="0"/>
              </a:rPr>
              <a:t>prefix and suffix</a:t>
            </a:r>
            <a:r>
              <a:rPr lang="en-US" sz="2000" dirty="0">
                <a:latin typeface="Calibri" pitchFamily="34" charset="0"/>
                <a:cs typeface="Calibri" pitchFamily="34" charset="0"/>
              </a:rPr>
              <a:t>.</a:t>
            </a:r>
          </a:p>
          <a:p>
            <a:pPr fontAlgn="base"/>
            <a:r>
              <a:rPr lang="en-US" sz="2000" dirty="0">
                <a:latin typeface="Calibri" pitchFamily="34" charset="0"/>
                <a:cs typeface="Calibri" pitchFamily="34" charset="0"/>
              </a:rPr>
              <a:t>For each sub-pattern pat[0..i] where i = 0 to m-1, </a:t>
            </a:r>
            <a:r>
              <a:rPr lang="en-US" sz="2000" dirty="0" err="1">
                <a:solidFill>
                  <a:srgbClr val="7030A0"/>
                </a:solidFill>
                <a:latin typeface="Calibri" pitchFamily="34" charset="0"/>
                <a:cs typeface="Calibri" pitchFamily="34" charset="0"/>
              </a:rPr>
              <a:t>lps</a:t>
            </a:r>
            <a:r>
              <a:rPr lang="en-US" sz="2000" dirty="0">
                <a:solidFill>
                  <a:srgbClr val="7030A0"/>
                </a:solidFill>
                <a:latin typeface="Calibri" pitchFamily="34" charset="0"/>
                <a:cs typeface="Calibri" pitchFamily="34" charset="0"/>
              </a:rPr>
              <a:t>[i] </a:t>
            </a:r>
            <a:r>
              <a:rPr lang="en-US" sz="2000" dirty="0">
                <a:latin typeface="Calibri" pitchFamily="34" charset="0"/>
                <a:cs typeface="Calibri" pitchFamily="34" charset="0"/>
              </a:rPr>
              <a:t>stores length of the maximum matching proper prefix which is also a suffix of the sub-pattern </a:t>
            </a:r>
            <a:r>
              <a:rPr lang="en-US" sz="2000" dirty="0">
                <a:solidFill>
                  <a:srgbClr val="7030A0"/>
                </a:solidFill>
                <a:latin typeface="Calibri" pitchFamily="34" charset="0"/>
                <a:cs typeface="Calibri" pitchFamily="34" charset="0"/>
              </a:rPr>
              <a:t>pat[0..i</a:t>
            </a:r>
            <a:r>
              <a:rPr lang="en-US" sz="2000" dirty="0" smtClean="0">
                <a:solidFill>
                  <a:srgbClr val="7030A0"/>
                </a:solidFill>
                <a:latin typeface="Calibri" pitchFamily="34" charset="0"/>
                <a:cs typeface="Calibri" pitchFamily="34" charset="0"/>
              </a:rPr>
              <a:t>].</a:t>
            </a:r>
          </a:p>
          <a:p>
            <a:pPr marL="0" indent="0" fontAlgn="base">
              <a:buNone/>
            </a:pPr>
            <a:endParaRPr lang="en-US" sz="2000" dirty="0" smtClean="0">
              <a:latin typeface="Calibri" pitchFamily="34" charset="0"/>
              <a:cs typeface="Calibri" pitchFamily="34" charset="0"/>
            </a:endParaRPr>
          </a:p>
          <a:p>
            <a:pPr marL="0" indent="0" fontAlgn="base">
              <a:buNone/>
            </a:pPr>
            <a:r>
              <a:rPr lang="en-US" sz="2000" dirty="0" err="1" smtClean="0">
                <a:solidFill>
                  <a:srgbClr val="7030A0"/>
                </a:solidFill>
                <a:latin typeface="Calibri" pitchFamily="34" charset="0"/>
                <a:cs typeface="Calibri" pitchFamily="34" charset="0"/>
              </a:rPr>
              <a:t>lps</a:t>
            </a:r>
            <a:r>
              <a:rPr lang="en-US" sz="2000" dirty="0" smtClean="0">
                <a:solidFill>
                  <a:srgbClr val="7030A0"/>
                </a:solidFill>
                <a:latin typeface="Calibri" pitchFamily="34" charset="0"/>
                <a:cs typeface="Calibri" pitchFamily="34" charset="0"/>
              </a:rPr>
              <a:t>[i</a:t>
            </a:r>
            <a:r>
              <a:rPr lang="en-US" sz="2000" dirty="0">
                <a:solidFill>
                  <a:srgbClr val="7030A0"/>
                </a:solidFill>
                <a:latin typeface="Calibri" pitchFamily="34" charset="0"/>
                <a:cs typeface="Calibri" pitchFamily="34" charset="0"/>
              </a:rPr>
              <a:t>] </a:t>
            </a:r>
            <a:r>
              <a:rPr lang="en-US" sz="2000" dirty="0">
                <a:latin typeface="Calibri" pitchFamily="34" charset="0"/>
                <a:cs typeface="Calibri" pitchFamily="34" charset="0"/>
              </a:rPr>
              <a:t>= the longest proper prefix of pat[0..i] </a:t>
            </a:r>
            <a:endParaRPr lang="en-US" sz="2000" dirty="0" smtClean="0">
              <a:latin typeface="Calibri" pitchFamily="34" charset="0"/>
              <a:cs typeface="Calibri" pitchFamily="34" charset="0"/>
            </a:endParaRPr>
          </a:p>
          <a:p>
            <a:pPr marL="0" indent="0" fontAlgn="base">
              <a:buNone/>
            </a:pPr>
            <a:r>
              <a:rPr lang="en-US" sz="2000" dirty="0">
                <a:latin typeface="Calibri" pitchFamily="34" charset="0"/>
                <a:cs typeface="Calibri" pitchFamily="34" charset="0"/>
              </a:rPr>
              <a:t>	</a:t>
            </a:r>
            <a:r>
              <a:rPr lang="en-US" sz="2000" dirty="0" smtClean="0">
                <a:latin typeface="Calibri" pitchFamily="34" charset="0"/>
                <a:cs typeface="Calibri" pitchFamily="34" charset="0"/>
              </a:rPr>
              <a:t>which </a:t>
            </a:r>
            <a:r>
              <a:rPr lang="en-US" sz="2000" dirty="0">
                <a:latin typeface="Calibri" pitchFamily="34" charset="0"/>
                <a:cs typeface="Calibri" pitchFamily="34" charset="0"/>
              </a:rPr>
              <a:t>is also a suffix of pat[0..i]. </a:t>
            </a:r>
            <a:endParaRPr lang="en-US" sz="2000" dirty="0" smtClean="0">
              <a:latin typeface="Calibri" pitchFamily="34" charset="0"/>
              <a:cs typeface="Calibri" pitchFamily="34" charset="0"/>
            </a:endParaRPr>
          </a:p>
          <a:p>
            <a:pPr marL="0" indent="0" fontAlgn="base">
              <a:buNone/>
            </a:pPr>
            <a:endParaRPr lang="en-US" sz="2000" b="1" dirty="0">
              <a:latin typeface="Calibri" pitchFamily="34" charset="0"/>
              <a:cs typeface="Calibri" pitchFamily="34" charset="0"/>
            </a:endParaRPr>
          </a:p>
          <a:p>
            <a:pPr marL="0" indent="0" fontAlgn="base">
              <a:buNone/>
            </a:pPr>
            <a:r>
              <a:rPr lang="en-US" sz="2000" b="1" dirty="0" smtClean="0">
                <a:latin typeface="Calibri" pitchFamily="34" charset="0"/>
                <a:cs typeface="Calibri" pitchFamily="34" charset="0"/>
              </a:rPr>
              <a:t>Note </a:t>
            </a:r>
            <a:r>
              <a:rPr lang="en-US" sz="2000" b="1" dirty="0">
                <a:latin typeface="Calibri" pitchFamily="34" charset="0"/>
                <a:cs typeface="Calibri" pitchFamily="34" charset="0"/>
              </a:rPr>
              <a:t>:</a:t>
            </a:r>
            <a:r>
              <a:rPr lang="en-US" sz="2000" dirty="0">
                <a:latin typeface="Calibri" pitchFamily="34" charset="0"/>
                <a:cs typeface="Calibri" pitchFamily="34" charset="0"/>
              </a:rPr>
              <a:t> </a:t>
            </a:r>
            <a:r>
              <a:rPr lang="en-US" sz="2000" dirty="0" err="1">
                <a:solidFill>
                  <a:srgbClr val="7030A0"/>
                </a:solidFill>
                <a:latin typeface="Calibri" pitchFamily="34" charset="0"/>
                <a:cs typeface="Calibri" pitchFamily="34" charset="0"/>
              </a:rPr>
              <a:t>lps</a:t>
            </a:r>
            <a:r>
              <a:rPr lang="en-US" sz="2000" dirty="0">
                <a:solidFill>
                  <a:srgbClr val="7030A0"/>
                </a:solidFill>
                <a:latin typeface="Calibri" pitchFamily="34" charset="0"/>
                <a:cs typeface="Calibri" pitchFamily="34" charset="0"/>
              </a:rPr>
              <a:t>[i] </a:t>
            </a:r>
            <a:r>
              <a:rPr lang="en-US" sz="2000" dirty="0">
                <a:latin typeface="Calibri" pitchFamily="34" charset="0"/>
                <a:cs typeface="Calibri" pitchFamily="34" charset="0"/>
              </a:rPr>
              <a:t>could also be defined as longest prefix which is also proper </a:t>
            </a:r>
            <a:r>
              <a:rPr lang="en-US" sz="2000" dirty="0" smtClean="0">
                <a:latin typeface="Calibri" pitchFamily="34" charset="0"/>
                <a:cs typeface="Calibri" pitchFamily="34" charset="0"/>
              </a:rPr>
              <a:t>suffix. Need </a:t>
            </a:r>
            <a:r>
              <a:rPr lang="en-US" sz="2000" dirty="0">
                <a:latin typeface="Calibri" pitchFamily="34" charset="0"/>
                <a:cs typeface="Calibri" pitchFamily="34" charset="0"/>
              </a:rPr>
              <a:t>to use properly at one place to make sure that the whole substring is not considered.</a:t>
            </a:r>
          </a:p>
          <a:p>
            <a:pPr marL="0" indent="0">
              <a:buNone/>
            </a:pPr>
            <a:endParaRPr lang="en-US" sz="2000" dirty="0">
              <a:latin typeface="Calibri" pitchFamily="34" charset="0"/>
              <a:cs typeface="Calibri" pitchFamily="34" charset="0"/>
            </a:endParaRPr>
          </a:p>
        </p:txBody>
      </p:sp>
    </p:spTree>
    <p:extLst>
      <p:ext uri="{BB962C8B-B14F-4D97-AF65-F5344CB8AC3E}">
        <p14:creationId xmlns:p14="http://schemas.microsoft.com/office/powerpoint/2010/main" val="72275371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Preprocessing Algorithm</a:t>
            </a:r>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23</a:t>
            </a:fld>
            <a:endParaRPr lang="en-US"/>
          </a:p>
        </p:txBody>
      </p:sp>
      <p:sp>
        <p:nvSpPr>
          <p:cNvPr id="6" name="Content Placeholder 5"/>
          <p:cNvSpPr>
            <a:spLocks noGrp="1"/>
          </p:cNvSpPr>
          <p:nvPr>
            <p:ph sz="quarter" idx="1"/>
          </p:nvPr>
        </p:nvSpPr>
        <p:spPr/>
        <p:txBody>
          <a:bodyPr>
            <a:normAutofit lnSpcReduction="10000"/>
          </a:bodyPr>
          <a:lstStyle/>
          <a:p>
            <a:pPr marL="0" indent="0">
              <a:buNone/>
            </a:pPr>
            <a:r>
              <a:rPr lang="en-US" dirty="0"/>
              <a:t>In the preprocessing part, </a:t>
            </a:r>
            <a:r>
              <a:rPr lang="en-US" dirty="0" smtClean="0"/>
              <a:t>calculate </a:t>
            </a:r>
            <a:r>
              <a:rPr lang="en-US" dirty="0"/>
              <a:t>values in </a:t>
            </a:r>
            <a:r>
              <a:rPr lang="en-US" dirty="0" err="1"/>
              <a:t>lps</a:t>
            </a:r>
            <a:r>
              <a:rPr lang="en-US" dirty="0"/>
              <a:t>[]. </a:t>
            </a:r>
            <a:endParaRPr lang="en-US" dirty="0" smtClean="0"/>
          </a:p>
          <a:p>
            <a:pPr marL="0" indent="0">
              <a:buNone/>
            </a:pPr>
            <a:r>
              <a:rPr lang="en-US" dirty="0" smtClean="0"/>
              <a:t>To </a:t>
            </a:r>
            <a:r>
              <a:rPr lang="en-US" dirty="0"/>
              <a:t>do that, </a:t>
            </a:r>
            <a:r>
              <a:rPr lang="en-US" dirty="0" smtClean="0"/>
              <a:t>keep </a:t>
            </a:r>
            <a:r>
              <a:rPr lang="en-US" dirty="0"/>
              <a:t>track of </a:t>
            </a:r>
            <a:r>
              <a:rPr lang="en-US" dirty="0">
                <a:solidFill>
                  <a:srgbClr val="7030A0"/>
                </a:solidFill>
              </a:rPr>
              <a:t>the length of the longest prefix </a:t>
            </a:r>
            <a:r>
              <a:rPr lang="en-US" dirty="0"/>
              <a:t>suffix value </a:t>
            </a:r>
            <a:r>
              <a:rPr lang="en-US" dirty="0" smtClean="0"/>
              <a:t>(use </a:t>
            </a:r>
            <a:r>
              <a:rPr lang="en-US" dirty="0" err="1">
                <a:solidFill>
                  <a:srgbClr val="00B0F0"/>
                </a:solidFill>
              </a:rPr>
              <a:t>len</a:t>
            </a:r>
            <a:r>
              <a:rPr lang="en-US" dirty="0"/>
              <a:t> variable for this purpose) for the previous index. </a:t>
            </a:r>
            <a:endParaRPr lang="en-US" dirty="0" smtClean="0"/>
          </a:p>
          <a:p>
            <a:pPr marL="0" indent="0">
              <a:buNone/>
            </a:pPr>
            <a:r>
              <a:rPr lang="en-US" dirty="0" smtClean="0"/>
              <a:t>Initialize </a:t>
            </a:r>
            <a:r>
              <a:rPr lang="en-US" dirty="0" err="1">
                <a:solidFill>
                  <a:srgbClr val="7030A0"/>
                </a:solidFill>
              </a:rPr>
              <a:t>lps</a:t>
            </a:r>
            <a:r>
              <a:rPr lang="en-US" dirty="0">
                <a:solidFill>
                  <a:srgbClr val="7030A0"/>
                </a:solidFill>
              </a:rPr>
              <a:t>[0] </a:t>
            </a:r>
            <a:r>
              <a:rPr lang="en-US" dirty="0"/>
              <a:t>and </a:t>
            </a:r>
            <a:r>
              <a:rPr lang="en-US" dirty="0" err="1"/>
              <a:t>len</a:t>
            </a:r>
            <a:r>
              <a:rPr lang="en-US" dirty="0"/>
              <a:t> as</a:t>
            </a:r>
            <a:r>
              <a:rPr lang="en-US" dirty="0">
                <a:solidFill>
                  <a:srgbClr val="00B0F0"/>
                </a:solidFill>
              </a:rPr>
              <a:t> 0</a:t>
            </a:r>
            <a:r>
              <a:rPr lang="en-US" dirty="0"/>
              <a:t>. </a:t>
            </a:r>
            <a:endParaRPr lang="en-US" dirty="0" smtClean="0"/>
          </a:p>
          <a:p>
            <a:pPr marL="0" indent="0">
              <a:buNone/>
            </a:pPr>
            <a:r>
              <a:rPr lang="en-US" dirty="0" smtClean="0"/>
              <a:t>If </a:t>
            </a:r>
            <a:r>
              <a:rPr lang="en-US" dirty="0">
                <a:solidFill>
                  <a:srgbClr val="7030A0"/>
                </a:solidFill>
              </a:rPr>
              <a:t>pat[</a:t>
            </a:r>
            <a:r>
              <a:rPr lang="en-US" dirty="0" err="1">
                <a:solidFill>
                  <a:srgbClr val="7030A0"/>
                </a:solidFill>
              </a:rPr>
              <a:t>len</a:t>
            </a:r>
            <a:r>
              <a:rPr lang="en-US" dirty="0">
                <a:solidFill>
                  <a:srgbClr val="7030A0"/>
                </a:solidFill>
              </a:rPr>
              <a:t>] </a:t>
            </a:r>
            <a:r>
              <a:rPr lang="en-US" dirty="0"/>
              <a:t>and </a:t>
            </a:r>
            <a:r>
              <a:rPr lang="en-US" dirty="0">
                <a:solidFill>
                  <a:srgbClr val="7030A0"/>
                </a:solidFill>
              </a:rPr>
              <a:t>pat[i] </a:t>
            </a:r>
            <a:r>
              <a:rPr lang="en-US" dirty="0"/>
              <a:t>match, </a:t>
            </a:r>
            <a:endParaRPr lang="en-US" dirty="0"/>
          </a:p>
          <a:p>
            <a:pPr marL="0" indent="0">
              <a:buNone/>
            </a:pPr>
            <a:r>
              <a:rPr lang="en-US" dirty="0" smtClean="0"/>
              <a:t>	</a:t>
            </a:r>
            <a:r>
              <a:rPr lang="en-US" dirty="0" smtClean="0">
                <a:solidFill>
                  <a:srgbClr val="00B0F0"/>
                </a:solidFill>
              </a:rPr>
              <a:t>increment</a:t>
            </a:r>
            <a:r>
              <a:rPr lang="en-US" dirty="0" smtClean="0"/>
              <a:t> </a:t>
            </a:r>
            <a:r>
              <a:rPr lang="en-US" dirty="0" err="1">
                <a:solidFill>
                  <a:srgbClr val="7030A0"/>
                </a:solidFill>
              </a:rPr>
              <a:t>len</a:t>
            </a:r>
            <a:r>
              <a:rPr lang="en-US" dirty="0">
                <a:solidFill>
                  <a:srgbClr val="7030A0"/>
                </a:solidFill>
              </a:rPr>
              <a:t> by 1 </a:t>
            </a:r>
            <a:endParaRPr lang="en-US" dirty="0" smtClean="0">
              <a:solidFill>
                <a:srgbClr val="7030A0"/>
              </a:solidFill>
            </a:endParaRPr>
          </a:p>
          <a:p>
            <a:pPr marL="0" indent="0">
              <a:buNone/>
            </a:pPr>
            <a:r>
              <a:rPr lang="en-US" dirty="0">
                <a:solidFill>
                  <a:srgbClr val="00B0F0"/>
                </a:solidFill>
              </a:rPr>
              <a:t>	</a:t>
            </a:r>
            <a:r>
              <a:rPr lang="en-US" dirty="0" smtClean="0">
                <a:solidFill>
                  <a:srgbClr val="00B0F0"/>
                </a:solidFill>
              </a:rPr>
              <a:t>assign</a:t>
            </a:r>
            <a:r>
              <a:rPr lang="en-US" dirty="0" smtClean="0"/>
              <a:t> </a:t>
            </a:r>
            <a:r>
              <a:rPr lang="en-US" dirty="0"/>
              <a:t>the incremented value to </a:t>
            </a:r>
            <a:r>
              <a:rPr lang="en-US" dirty="0" err="1">
                <a:solidFill>
                  <a:srgbClr val="7030A0"/>
                </a:solidFill>
              </a:rPr>
              <a:t>lps</a:t>
            </a:r>
            <a:r>
              <a:rPr lang="en-US" dirty="0">
                <a:solidFill>
                  <a:srgbClr val="7030A0"/>
                </a:solidFill>
              </a:rPr>
              <a:t>[i]</a:t>
            </a:r>
            <a:r>
              <a:rPr lang="en-US" dirty="0"/>
              <a:t>. </a:t>
            </a:r>
            <a:endParaRPr lang="en-US" dirty="0" smtClean="0"/>
          </a:p>
          <a:p>
            <a:pPr marL="0" indent="0">
              <a:buNone/>
            </a:pPr>
            <a:r>
              <a:rPr lang="en-US" dirty="0" smtClean="0"/>
              <a:t>If </a:t>
            </a:r>
            <a:r>
              <a:rPr lang="en-US" dirty="0">
                <a:solidFill>
                  <a:srgbClr val="7030A0"/>
                </a:solidFill>
              </a:rPr>
              <a:t>pat[i] </a:t>
            </a:r>
            <a:r>
              <a:rPr lang="en-US" dirty="0"/>
              <a:t>and </a:t>
            </a:r>
            <a:r>
              <a:rPr lang="en-US" dirty="0">
                <a:solidFill>
                  <a:srgbClr val="7030A0"/>
                </a:solidFill>
              </a:rPr>
              <a:t>pat[</a:t>
            </a:r>
            <a:r>
              <a:rPr lang="en-US" dirty="0" err="1">
                <a:solidFill>
                  <a:srgbClr val="7030A0"/>
                </a:solidFill>
              </a:rPr>
              <a:t>len</a:t>
            </a:r>
            <a:r>
              <a:rPr lang="en-US" dirty="0">
                <a:solidFill>
                  <a:srgbClr val="7030A0"/>
                </a:solidFill>
              </a:rPr>
              <a:t>] </a:t>
            </a:r>
            <a:r>
              <a:rPr lang="en-US" dirty="0"/>
              <a:t>do not match </a:t>
            </a:r>
            <a:endParaRPr lang="en-US" dirty="0" smtClean="0"/>
          </a:p>
          <a:p>
            <a:pPr marL="0" indent="0">
              <a:buNone/>
            </a:pPr>
            <a:r>
              <a:rPr lang="en-US" dirty="0"/>
              <a:t>	</a:t>
            </a:r>
            <a:r>
              <a:rPr lang="en-US" dirty="0" smtClean="0"/>
              <a:t> </a:t>
            </a:r>
            <a:r>
              <a:rPr lang="en-US" dirty="0" err="1"/>
              <a:t>len</a:t>
            </a:r>
            <a:r>
              <a:rPr lang="en-US" dirty="0"/>
              <a:t> is not </a:t>
            </a:r>
            <a:r>
              <a:rPr lang="en-US" dirty="0" smtClean="0">
                <a:solidFill>
                  <a:srgbClr val="00B0F0"/>
                </a:solidFill>
              </a:rPr>
              <a:t>0</a:t>
            </a:r>
          </a:p>
          <a:p>
            <a:pPr marL="0" indent="0">
              <a:buNone/>
            </a:pPr>
            <a:r>
              <a:rPr lang="en-US" dirty="0"/>
              <a:t>	</a:t>
            </a:r>
            <a:r>
              <a:rPr lang="en-US" dirty="0" smtClean="0"/>
              <a:t>	</a:t>
            </a:r>
            <a:r>
              <a:rPr lang="en-US" dirty="0" smtClean="0">
                <a:solidFill>
                  <a:srgbClr val="00B0F0"/>
                </a:solidFill>
              </a:rPr>
              <a:t>update</a:t>
            </a:r>
            <a:r>
              <a:rPr lang="en-US" dirty="0" smtClean="0"/>
              <a:t> </a:t>
            </a:r>
            <a:r>
              <a:rPr lang="en-US" dirty="0" err="1"/>
              <a:t>len</a:t>
            </a:r>
            <a:r>
              <a:rPr lang="en-US" dirty="0"/>
              <a:t> to </a:t>
            </a:r>
            <a:r>
              <a:rPr lang="en-US" dirty="0" err="1">
                <a:solidFill>
                  <a:srgbClr val="7030A0"/>
                </a:solidFill>
              </a:rPr>
              <a:t>lps</a:t>
            </a:r>
            <a:r>
              <a:rPr lang="en-US" dirty="0">
                <a:solidFill>
                  <a:srgbClr val="7030A0"/>
                </a:solidFill>
              </a:rPr>
              <a:t>[len-1].</a:t>
            </a:r>
            <a:endParaRPr lang="en-US" dirty="0">
              <a:solidFill>
                <a:srgbClr val="7030A0"/>
              </a:solidFill>
            </a:endParaRPr>
          </a:p>
        </p:txBody>
      </p:sp>
    </p:spTree>
    <p:extLst>
      <p:ext uri="{BB962C8B-B14F-4D97-AF65-F5344CB8AC3E}">
        <p14:creationId xmlns:p14="http://schemas.microsoft.com/office/powerpoint/2010/main" val="316246331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Illustration</a:t>
            </a:r>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24</a:t>
            </a:fld>
            <a:endParaRPr lang="en-US"/>
          </a:p>
        </p:txBody>
      </p:sp>
      <p:sp>
        <p:nvSpPr>
          <p:cNvPr id="6" name="Content Placeholder 5"/>
          <p:cNvSpPr>
            <a:spLocks noGrp="1"/>
          </p:cNvSpPr>
          <p:nvPr>
            <p:ph sz="quarter" idx="1"/>
          </p:nvPr>
        </p:nvSpPr>
        <p:spPr/>
        <p:txBody>
          <a:bodyPr>
            <a:normAutofit fontScale="92500" lnSpcReduction="20000"/>
          </a:bodyPr>
          <a:lstStyle/>
          <a:p>
            <a:pPr marL="0" indent="0">
              <a:buNone/>
            </a:pPr>
            <a:r>
              <a:rPr lang="en-US" dirty="0"/>
              <a:t>pat[] = "</a:t>
            </a:r>
            <a:r>
              <a:rPr lang="en-US" b="1" dirty="0" smtClean="0"/>
              <a:t>AAACAAAA</a:t>
            </a:r>
            <a:r>
              <a:rPr lang="en-US" dirty="0" smtClean="0"/>
              <a:t>“</a:t>
            </a:r>
          </a:p>
          <a:p>
            <a:pPr marL="0" indent="0">
              <a:buNone/>
            </a:pPr>
            <a:r>
              <a:rPr lang="en-US" dirty="0" smtClean="0"/>
              <a:t> </a:t>
            </a:r>
            <a:r>
              <a:rPr lang="en-US" dirty="0" err="1"/>
              <a:t>len</a:t>
            </a:r>
            <a:r>
              <a:rPr lang="en-US" dirty="0"/>
              <a:t> = 0, i = 0. </a:t>
            </a:r>
            <a:r>
              <a:rPr lang="en-US" b="1" dirty="0" err="1"/>
              <a:t>lps</a:t>
            </a:r>
            <a:r>
              <a:rPr lang="en-US" b="1" dirty="0"/>
              <a:t>[0] is always 0</a:t>
            </a:r>
            <a:r>
              <a:rPr lang="en-US" dirty="0"/>
              <a:t>, </a:t>
            </a:r>
            <a:endParaRPr lang="en-US" dirty="0" smtClean="0"/>
          </a:p>
          <a:p>
            <a:pPr marL="0" indent="0">
              <a:buNone/>
            </a:pPr>
            <a:r>
              <a:rPr lang="en-US" dirty="0" smtClean="0"/>
              <a:t>move </a:t>
            </a:r>
            <a:r>
              <a:rPr lang="en-US" dirty="0"/>
              <a:t>to i = 1 </a:t>
            </a:r>
            <a:endParaRPr lang="en-US" dirty="0" smtClean="0"/>
          </a:p>
          <a:p>
            <a:pPr marL="0" indent="0">
              <a:buNone/>
            </a:pPr>
            <a:endParaRPr lang="en-US" dirty="0"/>
          </a:p>
          <a:p>
            <a:pPr marL="0" indent="0">
              <a:buNone/>
            </a:pPr>
            <a:r>
              <a:rPr lang="en-US" dirty="0" err="1" smtClean="0"/>
              <a:t>len</a:t>
            </a:r>
            <a:r>
              <a:rPr lang="en-US" dirty="0" smtClean="0"/>
              <a:t> </a:t>
            </a:r>
            <a:r>
              <a:rPr lang="en-US" dirty="0"/>
              <a:t>= 0, i = 1. </a:t>
            </a:r>
            <a:endParaRPr lang="en-US" dirty="0" smtClean="0"/>
          </a:p>
          <a:p>
            <a:pPr marL="0" indent="0">
              <a:buNone/>
            </a:pPr>
            <a:r>
              <a:rPr lang="en-US" dirty="0" smtClean="0"/>
              <a:t>Since </a:t>
            </a:r>
            <a:r>
              <a:rPr lang="en-US" dirty="0"/>
              <a:t>pat[</a:t>
            </a:r>
            <a:r>
              <a:rPr lang="en-US" dirty="0" err="1"/>
              <a:t>len</a:t>
            </a:r>
            <a:r>
              <a:rPr lang="en-US" dirty="0"/>
              <a:t>] and pat[i] match, do </a:t>
            </a:r>
            <a:r>
              <a:rPr lang="en-US" dirty="0" err="1"/>
              <a:t>len</a:t>
            </a:r>
            <a:r>
              <a:rPr lang="en-US" dirty="0"/>
              <a:t>++, </a:t>
            </a:r>
            <a:endParaRPr lang="en-US" dirty="0" smtClean="0"/>
          </a:p>
          <a:p>
            <a:pPr marL="0" indent="0">
              <a:buNone/>
            </a:pPr>
            <a:r>
              <a:rPr lang="en-US" dirty="0" smtClean="0"/>
              <a:t>store </a:t>
            </a:r>
            <a:r>
              <a:rPr lang="en-US" dirty="0"/>
              <a:t>it in </a:t>
            </a:r>
            <a:r>
              <a:rPr lang="en-US" dirty="0" err="1"/>
              <a:t>lps</a:t>
            </a:r>
            <a:r>
              <a:rPr lang="en-US" dirty="0"/>
              <a:t>[i] and do i++. </a:t>
            </a:r>
            <a:endParaRPr lang="en-US" dirty="0" smtClean="0"/>
          </a:p>
          <a:p>
            <a:pPr marL="0" indent="0">
              <a:buNone/>
            </a:pPr>
            <a:r>
              <a:rPr lang="en-US" dirty="0" err="1" smtClean="0"/>
              <a:t>len</a:t>
            </a:r>
            <a:r>
              <a:rPr lang="en-US" dirty="0" smtClean="0"/>
              <a:t> </a:t>
            </a:r>
            <a:r>
              <a:rPr lang="en-US" dirty="0"/>
              <a:t>= 1, </a:t>
            </a:r>
            <a:r>
              <a:rPr lang="en-US" b="1" dirty="0" err="1"/>
              <a:t>lps</a:t>
            </a:r>
            <a:r>
              <a:rPr lang="en-US" b="1" dirty="0"/>
              <a:t>[1] = </a:t>
            </a:r>
            <a:r>
              <a:rPr lang="en-US" b="1" dirty="0" smtClean="0"/>
              <a:t>1, </a:t>
            </a:r>
            <a:r>
              <a:rPr lang="en-US" dirty="0"/>
              <a:t>i = 2 </a:t>
            </a:r>
            <a:endParaRPr lang="en-US" dirty="0" smtClean="0"/>
          </a:p>
          <a:p>
            <a:pPr marL="0" indent="0">
              <a:buNone/>
            </a:pPr>
            <a:endParaRPr lang="en-US" dirty="0"/>
          </a:p>
          <a:p>
            <a:pPr marL="0" indent="0">
              <a:buNone/>
            </a:pPr>
            <a:r>
              <a:rPr lang="en-US" dirty="0" err="1" smtClean="0"/>
              <a:t>len</a:t>
            </a:r>
            <a:r>
              <a:rPr lang="en-US" dirty="0" smtClean="0"/>
              <a:t> </a:t>
            </a:r>
            <a:r>
              <a:rPr lang="en-US" dirty="0"/>
              <a:t>= 1, i = 2. </a:t>
            </a:r>
            <a:endParaRPr lang="en-US" dirty="0" smtClean="0"/>
          </a:p>
          <a:p>
            <a:pPr marL="0" indent="0">
              <a:buNone/>
            </a:pPr>
            <a:r>
              <a:rPr lang="en-US" dirty="0" smtClean="0"/>
              <a:t>Since </a:t>
            </a:r>
            <a:r>
              <a:rPr lang="en-US" dirty="0"/>
              <a:t>pat[</a:t>
            </a:r>
            <a:r>
              <a:rPr lang="en-US" dirty="0" err="1"/>
              <a:t>len</a:t>
            </a:r>
            <a:r>
              <a:rPr lang="en-US" dirty="0"/>
              <a:t>] and pat[i] match, do </a:t>
            </a:r>
            <a:r>
              <a:rPr lang="en-US" dirty="0" err="1"/>
              <a:t>len</a:t>
            </a:r>
            <a:r>
              <a:rPr lang="en-US" dirty="0"/>
              <a:t>++, </a:t>
            </a:r>
            <a:endParaRPr lang="en-US" dirty="0" smtClean="0"/>
          </a:p>
          <a:p>
            <a:pPr marL="0" indent="0">
              <a:buNone/>
            </a:pPr>
            <a:r>
              <a:rPr lang="en-US" dirty="0" smtClean="0"/>
              <a:t>store </a:t>
            </a:r>
            <a:r>
              <a:rPr lang="en-US" dirty="0"/>
              <a:t>it in </a:t>
            </a:r>
            <a:r>
              <a:rPr lang="en-US" dirty="0" err="1"/>
              <a:t>lps</a:t>
            </a:r>
            <a:r>
              <a:rPr lang="en-US" dirty="0"/>
              <a:t>[i] and do i++. </a:t>
            </a:r>
            <a:endParaRPr lang="en-US" dirty="0" smtClean="0"/>
          </a:p>
          <a:p>
            <a:pPr marL="0" indent="0">
              <a:buNone/>
            </a:pPr>
            <a:r>
              <a:rPr lang="en-US" dirty="0" err="1" smtClean="0"/>
              <a:t>len</a:t>
            </a:r>
            <a:r>
              <a:rPr lang="en-US" dirty="0" smtClean="0"/>
              <a:t> </a:t>
            </a:r>
            <a:r>
              <a:rPr lang="en-US" dirty="0"/>
              <a:t>= 2, </a:t>
            </a:r>
            <a:r>
              <a:rPr lang="en-US" b="1" dirty="0" err="1"/>
              <a:t>lps</a:t>
            </a:r>
            <a:r>
              <a:rPr lang="en-US" b="1" dirty="0"/>
              <a:t>[2] = 2</a:t>
            </a:r>
            <a:r>
              <a:rPr lang="en-US" dirty="0"/>
              <a:t>, i = 3 </a:t>
            </a:r>
            <a:endParaRPr lang="en-US" dirty="0" smtClean="0"/>
          </a:p>
          <a:p>
            <a:pPr marL="0" indent="0">
              <a:buNone/>
            </a:pP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4191342628"/>
              </p:ext>
            </p:extLst>
          </p:nvPr>
        </p:nvGraphicFramePr>
        <p:xfrm>
          <a:off x="4907465" y="1600200"/>
          <a:ext cx="4038600" cy="365760"/>
        </p:xfrm>
        <a:graphic>
          <a:graphicData uri="http://schemas.openxmlformats.org/drawingml/2006/table">
            <a:tbl>
              <a:tblPr firstRow="1" bandRow="1">
                <a:tableStyleId>{616DA210-FB5B-4158-B5E0-FEB733F419BA}</a:tableStyleId>
              </a:tblPr>
              <a:tblGrid>
                <a:gridCol w="504825"/>
                <a:gridCol w="504825"/>
                <a:gridCol w="504825"/>
                <a:gridCol w="504825"/>
                <a:gridCol w="504825"/>
                <a:gridCol w="504825"/>
                <a:gridCol w="504825"/>
                <a:gridCol w="504825"/>
              </a:tblGrid>
              <a:tr h="304800">
                <a:tc>
                  <a:txBody>
                    <a:bodyPr/>
                    <a:lstStyle/>
                    <a:p>
                      <a:r>
                        <a:rPr lang="en-US" dirty="0" smtClean="0"/>
                        <a:t>0</a:t>
                      </a:r>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r>
            </a:tbl>
          </a:graphicData>
        </a:graphic>
      </p:graphicFrame>
      <p:sp>
        <p:nvSpPr>
          <p:cNvPr id="8" name="TextBox 7"/>
          <p:cNvSpPr txBox="1"/>
          <p:nvPr/>
        </p:nvSpPr>
        <p:spPr>
          <a:xfrm>
            <a:off x="5105400" y="2133600"/>
            <a:ext cx="3801041" cy="369332"/>
          </a:xfrm>
          <a:prstGeom prst="rect">
            <a:avLst/>
          </a:prstGeom>
          <a:noFill/>
        </p:spPr>
        <p:txBody>
          <a:bodyPr wrap="none" rtlCol="0">
            <a:spAutoFit/>
          </a:bodyPr>
          <a:lstStyle/>
          <a:p>
            <a:r>
              <a:rPr lang="en-US" dirty="0" smtClean="0"/>
              <a:t>0     1      2       3      4     5      6       7</a:t>
            </a:r>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3205242032"/>
              </p:ext>
            </p:extLst>
          </p:nvPr>
        </p:nvGraphicFramePr>
        <p:xfrm>
          <a:off x="4191000" y="3810000"/>
          <a:ext cx="4038600" cy="365760"/>
        </p:xfrm>
        <a:graphic>
          <a:graphicData uri="http://schemas.openxmlformats.org/drawingml/2006/table">
            <a:tbl>
              <a:tblPr firstRow="1" bandRow="1">
                <a:tableStyleId>{616DA210-FB5B-4158-B5E0-FEB733F419BA}</a:tableStyleId>
              </a:tblPr>
              <a:tblGrid>
                <a:gridCol w="504825"/>
                <a:gridCol w="504825"/>
                <a:gridCol w="504825"/>
                <a:gridCol w="504825"/>
                <a:gridCol w="504825"/>
                <a:gridCol w="504825"/>
                <a:gridCol w="504825"/>
                <a:gridCol w="504825"/>
              </a:tblGrid>
              <a:tr h="30480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r>
            </a:tbl>
          </a:graphicData>
        </a:graphic>
      </p:graphicFrame>
      <p:sp>
        <p:nvSpPr>
          <p:cNvPr id="10" name="TextBox 9"/>
          <p:cNvSpPr txBox="1"/>
          <p:nvPr/>
        </p:nvSpPr>
        <p:spPr>
          <a:xfrm>
            <a:off x="4191000" y="4343400"/>
            <a:ext cx="3801041" cy="369332"/>
          </a:xfrm>
          <a:prstGeom prst="rect">
            <a:avLst/>
          </a:prstGeom>
          <a:noFill/>
        </p:spPr>
        <p:txBody>
          <a:bodyPr wrap="none" rtlCol="0">
            <a:spAutoFit/>
          </a:bodyPr>
          <a:lstStyle/>
          <a:p>
            <a:r>
              <a:rPr lang="en-US" dirty="0" smtClean="0"/>
              <a:t>0     1      2       3      4     5      6       7</a:t>
            </a:r>
            <a:endParaRPr lang="en-US" dirty="0"/>
          </a:p>
        </p:txBody>
      </p:sp>
      <p:graphicFrame>
        <p:nvGraphicFramePr>
          <p:cNvPr id="11" name="Table 10"/>
          <p:cNvGraphicFramePr>
            <a:graphicFrameLocks noGrp="1"/>
          </p:cNvGraphicFramePr>
          <p:nvPr>
            <p:extLst>
              <p:ext uri="{D42A27DB-BD31-4B8C-83A1-F6EECF244321}">
                <p14:modId xmlns:p14="http://schemas.microsoft.com/office/powerpoint/2010/main" val="325135861"/>
              </p:ext>
            </p:extLst>
          </p:nvPr>
        </p:nvGraphicFramePr>
        <p:xfrm>
          <a:off x="4846505" y="5616940"/>
          <a:ext cx="4038600" cy="365760"/>
        </p:xfrm>
        <a:graphic>
          <a:graphicData uri="http://schemas.openxmlformats.org/drawingml/2006/table">
            <a:tbl>
              <a:tblPr firstRow="1" bandRow="1">
                <a:tableStyleId>{616DA210-FB5B-4158-B5E0-FEB733F419BA}</a:tableStyleId>
              </a:tblPr>
              <a:tblGrid>
                <a:gridCol w="504825"/>
                <a:gridCol w="504825"/>
                <a:gridCol w="504825"/>
                <a:gridCol w="504825"/>
                <a:gridCol w="504825"/>
                <a:gridCol w="504825"/>
                <a:gridCol w="504825"/>
                <a:gridCol w="504825"/>
              </a:tblGrid>
              <a:tr h="30480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2</a:t>
                      </a:r>
                      <a:endParaRPr lang="en-US" dirty="0"/>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r>
            </a:tbl>
          </a:graphicData>
        </a:graphic>
      </p:graphicFrame>
      <p:sp>
        <p:nvSpPr>
          <p:cNvPr id="12" name="TextBox 11"/>
          <p:cNvSpPr txBox="1"/>
          <p:nvPr/>
        </p:nvSpPr>
        <p:spPr>
          <a:xfrm>
            <a:off x="4876800" y="6031468"/>
            <a:ext cx="3801041" cy="369332"/>
          </a:xfrm>
          <a:prstGeom prst="rect">
            <a:avLst/>
          </a:prstGeom>
          <a:noFill/>
        </p:spPr>
        <p:txBody>
          <a:bodyPr wrap="none" rtlCol="0">
            <a:spAutoFit/>
          </a:bodyPr>
          <a:lstStyle/>
          <a:p>
            <a:r>
              <a:rPr lang="en-US" dirty="0" smtClean="0"/>
              <a:t>0     1      2       3      4     5      6       7</a:t>
            </a:r>
            <a:endParaRPr lang="en-US" dirty="0"/>
          </a:p>
        </p:txBody>
      </p:sp>
      <p:sp>
        <p:nvSpPr>
          <p:cNvPr id="13" name="TextBox 12"/>
          <p:cNvSpPr txBox="1"/>
          <p:nvPr/>
        </p:nvSpPr>
        <p:spPr>
          <a:xfrm>
            <a:off x="4200144" y="3352800"/>
            <a:ext cx="3979936" cy="369332"/>
          </a:xfrm>
          <a:prstGeom prst="rect">
            <a:avLst/>
          </a:prstGeom>
          <a:noFill/>
        </p:spPr>
        <p:txBody>
          <a:bodyPr wrap="none" rtlCol="0">
            <a:spAutoFit/>
          </a:bodyPr>
          <a:lstStyle/>
          <a:p>
            <a:r>
              <a:rPr lang="en-US" dirty="0" smtClean="0">
                <a:solidFill>
                  <a:srgbClr val="00B050"/>
                </a:solidFill>
              </a:rPr>
              <a:t>A</a:t>
            </a:r>
            <a:r>
              <a:rPr lang="en-US" dirty="0" smtClean="0"/>
              <a:t>     </a:t>
            </a:r>
            <a:r>
              <a:rPr lang="en-US" dirty="0" err="1" smtClean="0">
                <a:solidFill>
                  <a:srgbClr val="00B050"/>
                </a:solidFill>
              </a:rPr>
              <a:t>A</a:t>
            </a:r>
            <a:r>
              <a:rPr lang="en-US" dirty="0" smtClean="0"/>
              <a:t>      </a:t>
            </a:r>
            <a:r>
              <a:rPr lang="en-US" dirty="0" err="1" smtClean="0"/>
              <a:t>A</a:t>
            </a:r>
            <a:r>
              <a:rPr lang="en-US" dirty="0" smtClean="0"/>
              <a:t>      C      A      </a:t>
            </a:r>
            <a:r>
              <a:rPr lang="en-US" dirty="0" err="1" smtClean="0"/>
              <a:t>A</a:t>
            </a:r>
            <a:r>
              <a:rPr lang="en-US" dirty="0" smtClean="0"/>
              <a:t>       </a:t>
            </a:r>
            <a:r>
              <a:rPr lang="en-US" dirty="0" err="1" smtClean="0"/>
              <a:t>A</a:t>
            </a:r>
            <a:r>
              <a:rPr lang="en-US" dirty="0" smtClean="0"/>
              <a:t>      </a:t>
            </a:r>
            <a:r>
              <a:rPr lang="en-US" dirty="0" err="1" smtClean="0"/>
              <a:t>A</a:t>
            </a:r>
            <a:endParaRPr lang="en-US" dirty="0"/>
          </a:p>
        </p:txBody>
      </p:sp>
      <p:sp>
        <p:nvSpPr>
          <p:cNvPr id="16" name="TextBox 15"/>
          <p:cNvSpPr txBox="1"/>
          <p:nvPr/>
        </p:nvSpPr>
        <p:spPr>
          <a:xfrm>
            <a:off x="4876800" y="5171932"/>
            <a:ext cx="3979936" cy="369332"/>
          </a:xfrm>
          <a:prstGeom prst="rect">
            <a:avLst/>
          </a:prstGeom>
          <a:noFill/>
        </p:spPr>
        <p:txBody>
          <a:bodyPr wrap="none" rtlCol="0">
            <a:spAutoFit/>
          </a:bodyPr>
          <a:lstStyle/>
          <a:p>
            <a:r>
              <a:rPr lang="en-US" dirty="0" smtClean="0"/>
              <a:t>A     </a:t>
            </a:r>
            <a:r>
              <a:rPr lang="en-US" dirty="0" err="1" smtClean="0">
                <a:solidFill>
                  <a:srgbClr val="00B050"/>
                </a:solidFill>
              </a:rPr>
              <a:t>A</a:t>
            </a:r>
            <a:r>
              <a:rPr lang="en-US" dirty="0" smtClean="0">
                <a:solidFill>
                  <a:srgbClr val="00B050"/>
                </a:solidFill>
              </a:rPr>
              <a:t>      </a:t>
            </a:r>
            <a:r>
              <a:rPr lang="en-US" dirty="0" err="1" smtClean="0">
                <a:solidFill>
                  <a:srgbClr val="00B050"/>
                </a:solidFill>
              </a:rPr>
              <a:t>A</a:t>
            </a:r>
            <a:r>
              <a:rPr lang="en-US" dirty="0" smtClean="0">
                <a:solidFill>
                  <a:srgbClr val="00B050"/>
                </a:solidFill>
              </a:rPr>
              <a:t>      </a:t>
            </a:r>
            <a:r>
              <a:rPr lang="en-US" dirty="0" smtClean="0"/>
              <a:t>C      A      </a:t>
            </a:r>
            <a:r>
              <a:rPr lang="en-US" dirty="0" err="1" smtClean="0"/>
              <a:t>A</a:t>
            </a:r>
            <a:r>
              <a:rPr lang="en-US" dirty="0" smtClean="0"/>
              <a:t>       </a:t>
            </a:r>
            <a:r>
              <a:rPr lang="en-US" dirty="0" err="1" smtClean="0"/>
              <a:t>A</a:t>
            </a:r>
            <a:r>
              <a:rPr lang="en-US" dirty="0" smtClean="0"/>
              <a:t>      </a:t>
            </a:r>
            <a:r>
              <a:rPr lang="en-US" dirty="0" err="1" smtClean="0"/>
              <a:t>A</a:t>
            </a:r>
            <a:endParaRPr lang="en-US" dirty="0"/>
          </a:p>
        </p:txBody>
      </p:sp>
      <p:sp>
        <p:nvSpPr>
          <p:cNvPr id="17" name="TextBox 16"/>
          <p:cNvSpPr txBox="1"/>
          <p:nvPr/>
        </p:nvSpPr>
        <p:spPr>
          <a:xfrm>
            <a:off x="4926505" y="1143000"/>
            <a:ext cx="3979936" cy="369332"/>
          </a:xfrm>
          <a:prstGeom prst="rect">
            <a:avLst/>
          </a:prstGeom>
          <a:noFill/>
        </p:spPr>
        <p:txBody>
          <a:bodyPr wrap="none" rtlCol="0">
            <a:spAutoFit/>
          </a:bodyPr>
          <a:lstStyle/>
          <a:p>
            <a:r>
              <a:rPr lang="en-US" dirty="0" smtClean="0">
                <a:solidFill>
                  <a:srgbClr val="00B050"/>
                </a:solidFill>
              </a:rPr>
              <a:t>A</a:t>
            </a:r>
            <a:r>
              <a:rPr lang="en-US" dirty="0" smtClean="0"/>
              <a:t>     </a:t>
            </a:r>
            <a:r>
              <a:rPr lang="en-US" dirty="0" err="1" smtClean="0"/>
              <a:t>A</a:t>
            </a:r>
            <a:r>
              <a:rPr lang="en-US" dirty="0" smtClean="0"/>
              <a:t>      </a:t>
            </a:r>
            <a:r>
              <a:rPr lang="en-US" dirty="0" err="1" smtClean="0"/>
              <a:t>A</a:t>
            </a:r>
            <a:r>
              <a:rPr lang="en-US" dirty="0" smtClean="0"/>
              <a:t>      C      A      </a:t>
            </a:r>
            <a:r>
              <a:rPr lang="en-US" dirty="0" err="1" smtClean="0"/>
              <a:t>A</a:t>
            </a:r>
            <a:r>
              <a:rPr lang="en-US" dirty="0" smtClean="0"/>
              <a:t>       </a:t>
            </a:r>
            <a:r>
              <a:rPr lang="en-US" dirty="0" err="1" smtClean="0"/>
              <a:t>A</a:t>
            </a:r>
            <a:r>
              <a:rPr lang="en-US" dirty="0" smtClean="0"/>
              <a:t>      </a:t>
            </a:r>
            <a:r>
              <a:rPr lang="en-US" dirty="0" err="1" smtClean="0"/>
              <a:t>A</a:t>
            </a:r>
            <a:endParaRPr lang="en-US" dirty="0"/>
          </a:p>
        </p:txBody>
      </p:sp>
    </p:spTree>
    <p:extLst>
      <p:ext uri="{BB962C8B-B14F-4D97-AF65-F5344CB8AC3E}">
        <p14:creationId xmlns:p14="http://schemas.microsoft.com/office/powerpoint/2010/main" val="3677003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1000"/>
                                        <p:tgtEl>
                                          <p:spTgt spid="6">
                                            <p:txEl>
                                              <p:pRg st="1" end="1"/>
                                            </p:txEl>
                                          </p:spTgt>
                                        </p:tgtEl>
                                      </p:cBhvr>
                                    </p:animEffect>
                                    <p:anim calcmode="lin" valueType="num">
                                      <p:cBhvr>
                                        <p:cTn id="13"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1000"/>
                                        <p:tgtEl>
                                          <p:spTgt spid="6">
                                            <p:txEl>
                                              <p:pRg st="2" end="2"/>
                                            </p:txEl>
                                          </p:spTgt>
                                        </p:tgtEl>
                                      </p:cBhvr>
                                    </p:animEffect>
                                    <p:anim calcmode="lin" valueType="num">
                                      <p:cBhvr>
                                        <p:cTn id="1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barn(inVertical)">
                                      <p:cBhvr>
                                        <p:cTn id="24" dur="500"/>
                                        <p:tgtEl>
                                          <p:spTgt spid="17"/>
                                        </p:tgtEl>
                                      </p:cBhvr>
                                    </p:animEffect>
                                  </p:childTnLst>
                                </p:cTn>
                              </p:par>
                              <p:par>
                                <p:cTn id="25" presetID="16" presetClass="entr" presetSubtype="21"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barn(inVertical)">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animEffect transition="in" filter="fade">
                                      <p:cBhvr>
                                        <p:cTn id="35" dur="1000"/>
                                        <p:tgtEl>
                                          <p:spTgt spid="6">
                                            <p:txEl>
                                              <p:pRg st="4" end="4"/>
                                            </p:txEl>
                                          </p:spTgt>
                                        </p:tgtEl>
                                      </p:cBhvr>
                                    </p:animEffect>
                                    <p:anim calcmode="lin" valueType="num">
                                      <p:cBhvr>
                                        <p:cTn id="36"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4" end="4"/>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6">
                                            <p:txEl>
                                              <p:pRg st="5" end="5"/>
                                            </p:txEl>
                                          </p:spTgt>
                                        </p:tgtEl>
                                        <p:attrNameLst>
                                          <p:attrName>style.visibility</p:attrName>
                                        </p:attrNameLst>
                                      </p:cBhvr>
                                      <p:to>
                                        <p:strVal val="visible"/>
                                      </p:to>
                                    </p:set>
                                    <p:animEffect transition="in" filter="fade">
                                      <p:cBhvr>
                                        <p:cTn id="40" dur="1000"/>
                                        <p:tgtEl>
                                          <p:spTgt spid="6">
                                            <p:txEl>
                                              <p:pRg st="5" end="5"/>
                                            </p:txEl>
                                          </p:spTgt>
                                        </p:tgtEl>
                                      </p:cBhvr>
                                    </p:animEffect>
                                    <p:anim calcmode="lin" valueType="num">
                                      <p:cBhvr>
                                        <p:cTn id="41"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6">
                                            <p:txEl>
                                              <p:pRg st="5" end="5"/>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6">
                                            <p:txEl>
                                              <p:pRg st="6" end="6"/>
                                            </p:txEl>
                                          </p:spTgt>
                                        </p:tgtEl>
                                        <p:attrNameLst>
                                          <p:attrName>style.visibility</p:attrName>
                                        </p:attrNameLst>
                                      </p:cBhvr>
                                      <p:to>
                                        <p:strVal val="visible"/>
                                      </p:to>
                                    </p:set>
                                    <p:animEffect transition="in" filter="fade">
                                      <p:cBhvr>
                                        <p:cTn id="45" dur="1000"/>
                                        <p:tgtEl>
                                          <p:spTgt spid="6">
                                            <p:txEl>
                                              <p:pRg st="6" end="6"/>
                                            </p:txEl>
                                          </p:spTgt>
                                        </p:tgtEl>
                                      </p:cBhvr>
                                    </p:animEffect>
                                    <p:anim calcmode="lin" valueType="num">
                                      <p:cBhvr>
                                        <p:cTn id="46"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47" dur="1000" fill="hold"/>
                                        <p:tgtEl>
                                          <p:spTgt spid="6">
                                            <p:txEl>
                                              <p:pRg st="6" end="6"/>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6">
                                            <p:txEl>
                                              <p:pRg st="7" end="7"/>
                                            </p:txEl>
                                          </p:spTgt>
                                        </p:tgtEl>
                                        <p:attrNameLst>
                                          <p:attrName>style.visibility</p:attrName>
                                        </p:attrNameLst>
                                      </p:cBhvr>
                                      <p:to>
                                        <p:strVal val="visible"/>
                                      </p:to>
                                    </p:set>
                                    <p:animEffect transition="in" filter="fade">
                                      <p:cBhvr>
                                        <p:cTn id="50" dur="1000"/>
                                        <p:tgtEl>
                                          <p:spTgt spid="6">
                                            <p:txEl>
                                              <p:pRg st="7" end="7"/>
                                            </p:txEl>
                                          </p:spTgt>
                                        </p:tgtEl>
                                      </p:cBhvr>
                                    </p:animEffect>
                                    <p:anim calcmode="lin" valueType="num">
                                      <p:cBhvr>
                                        <p:cTn id="51"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52"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barn(inVertical)">
                                      <p:cBhvr>
                                        <p:cTn id="57" dur="500"/>
                                        <p:tgtEl>
                                          <p:spTgt spid="13"/>
                                        </p:tgtEl>
                                      </p:cBhvr>
                                    </p:animEffect>
                                  </p:childTnLst>
                                </p:cTn>
                              </p:par>
                              <p:par>
                                <p:cTn id="58" presetID="16" presetClass="entr" presetSubtype="21" fill="hold" nodeType="withEffect">
                                  <p:stCondLst>
                                    <p:cond delay="0"/>
                                  </p:stCondLst>
                                  <p:childTnLst>
                                    <p:set>
                                      <p:cBhvr>
                                        <p:cTn id="59" dur="1" fill="hold">
                                          <p:stCondLst>
                                            <p:cond delay="0"/>
                                          </p:stCondLst>
                                        </p:cTn>
                                        <p:tgtEl>
                                          <p:spTgt spid="9"/>
                                        </p:tgtEl>
                                        <p:attrNameLst>
                                          <p:attrName>style.visibility</p:attrName>
                                        </p:attrNameLst>
                                      </p:cBhvr>
                                      <p:to>
                                        <p:strVal val="visible"/>
                                      </p:to>
                                    </p:set>
                                    <p:animEffect transition="in" filter="barn(inVertical)">
                                      <p:cBhvr>
                                        <p:cTn id="60" dur="500"/>
                                        <p:tgtEl>
                                          <p:spTgt spid="9"/>
                                        </p:tgtEl>
                                      </p:cBhvr>
                                    </p:animEffect>
                                  </p:childTnLst>
                                </p:cTn>
                              </p:par>
                              <p:par>
                                <p:cTn id="61" presetID="16" presetClass="entr" presetSubtype="21" fill="hold" grpId="0" nodeType="withEffect">
                                  <p:stCondLst>
                                    <p:cond delay="0"/>
                                  </p:stCondLst>
                                  <p:childTnLst>
                                    <p:set>
                                      <p:cBhvr>
                                        <p:cTn id="62" dur="1" fill="hold">
                                          <p:stCondLst>
                                            <p:cond delay="0"/>
                                          </p:stCondLst>
                                        </p:cTn>
                                        <p:tgtEl>
                                          <p:spTgt spid="10"/>
                                        </p:tgtEl>
                                        <p:attrNameLst>
                                          <p:attrName>style.visibility</p:attrName>
                                        </p:attrNameLst>
                                      </p:cBhvr>
                                      <p:to>
                                        <p:strVal val="visible"/>
                                      </p:to>
                                    </p:set>
                                    <p:animEffect transition="in" filter="barn(inVertical)">
                                      <p:cBhvr>
                                        <p:cTn id="63" dur="500"/>
                                        <p:tgtEl>
                                          <p:spTgt spid="10"/>
                                        </p:tgtEl>
                                      </p:cBhvr>
                                    </p:animEffect>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nodeType="clickEffect">
                                  <p:stCondLst>
                                    <p:cond delay="0"/>
                                  </p:stCondLst>
                                  <p:childTnLst>
                                    <p:set>
                                      <p:cBhvr>
                                        <p:cTn id="67" dur="1" fill="hold">
                                          <p:stCondLst>
                                            <p:cond delay="0"/>
                                          </p:stCondLst>
                                        </p:cTn>
                                        <p:tgtEl>
                                          <p:spTgt spid="6">
                                            <p:txEl>
                                              <p:pRg st="9" end="9"/>
                                            </p:txEl>
                                          </p:spTgt>
                                        </p:tgtEl>
                                        <p:attrNameLst>
                                          <p:attrName>style.visibility</p:attrName>
                                        </p:attrNameLst>
                                      </p:cBhvr>
                                      <p:to>
                                        <p:strVal val="visible"/>
                                      </p:to>
                                    </p:set>
                                    <p:animEffect transition="in" filter="fade">
                                      <p:cBhvr>
                                        <p:cTn id="68" dur="1000"/>
                                        <p:tgtEl>
                                          <p:spTgt spid="6">
                                            <p:txEl>
                                              <p:pRg st="9" end="9"/>
                                            </p:txEl>
                                          </p:spTgt>
                                        </p:tgtEl>
                                      </p:cBhvr>
                                    </p:animEffect>
                                    <p:anim calcmode="lin" valueType="num">
                                      <p:cBhvr>
                                        <p:cTn id="69" dur="1000" fill="hold"/>
                                        <p:tgtEl>
                                          <p:spTgt spid="6">
                                            <p:txEl>
                                              <p:pRg st="9" end="9"/>
                                            </p:txEl>
                                          </p:spTgt>
                                        </p:tgtEl>
                                        <p:attrNameLst>
                                          <p:attrName>ppt_x</p:attrName>
                                        </p:attrNameLst>
                                      </p:cBhvr>
                                      <p:tavLst>
                                        <p:tav tm="0">
                                          <p:val>
                                            <p:strVal val="#ppt_x"/>
                                          </p:val>
                                        </p:tav>
                                        <p:tav tm="100000">
                                          <p:val>
                                            <p:strVal val="#ppt_x"/>
                                          </p:val>
                                        </p:tav>
                                      </p:tavLst>
                                    </p:anim>
                                    <p:anim calcmode="lin" valueType="num">
                                      <p:cBhvr>
                                        <p:cTn id="70" dur="1000" fill="hold"/>
                                        <p:tgtEl>
                                          <p:spTgt spid="6">
                                            <p:txEl>
                                              <p:pRg st="9" end="9"/>
                                            </p:txEl>
                                          </p:spTgt>
                                        </p:tgtEl>
                                        <p:attrNameLst>
                                          <p:attrName>ppt_y</p:attrName>
                                        </p:attrNameLst>
                                      </p:cBhvr>
                                      <p:tavLst>
                                        <p:tav tm="0">
                                          <p:val>
                                            <p:strVal val="#ppt_y+.1"/>
                                          </p:val>
                                        </p:tav>
                                        <p:tav tm="100000">
                                          <p:val>
                                            <p:strVal val="#ppt_y"/>
                                          </p:val>
                                        </p:tav>
                                      </p:tavLst>
                                    </p:anim>
                                  </p:childTnLst>
                                </p:cTn>
                              </p:par>
                              <p:par>
                                <p:cTn id="71" presetID="42" presetClass="entr" presetSubtype="0" fill="hold" nodeType="withEffect">
                                  <p:stCondLst>
                                    <p:cond delay="0"/>
                                  </p:stCondLst>
                                  <p:childTnLst>
                                    <p:set>
                                      <p:cBhvr>
                                        <p:cTn id="72" dur="1" fill="hold">
                                          <p:stCondLst>
                                            <p:cond delay="0"/>
                                          </p:stCondLst>
                                        </p:cTn>
                                        <p:tgtEl>
                                          <p:spTgt spid="6">
                                            <p:txEl>
                                              <p:pRg st="10" end="10"/>
                                            </p:txEl>
                                          </p:spTgt>
                                        </p:tgtEl>
                                        <p:attrNameLst>
                                          <p:attrName>style.visibility</p:attrName>
                                        </p:attrNameLst>
                                      </p:cBhvr>
                                      <p:to>
                                        <p:strVal val="visible"/>
                                      </p:to>
                                    </p:set>
                                    <p:animEffect transition="in" filter="fade">
                                      <p:cBhvr>
                                        <p:cTn id="73" dur="1000"/>
                                        <p:tgtEl>
                                          <p:spTgt spid="6">
                                            <p:txEl>
                                              <p:pRg st="10" end="10"/>
                                            </p:txEl>
                                          </p:spTgt>
                                        </p:tgtEl>
                                      </p:cBhvr>
                                    </p:animEffect>
                                    <p:anim calcmode="lin" valueType="num">
                                      <p:cBhvr>
                                        <p:cTn id="74" dur="1000" fill="hold"/>
                                        <p:tgtEl>
                                          <p:spTgt spid="6">
                                            <p:txEl>
                                              <p:pRg st="10" end="10"/>
                                            </p:txEl>
                                          </p:spTgt>
                                        </p:tgtEl>
                                        <p:attrNameLst>
                                          <p:attrName>ppt_x</p:attrName>
                                        </p:attrNameLst>
                                      </p:cBhvr>
                                      <p:tavLst>
                                        <p:tav tm="0">
                                          <p:val>
                                            <p:strVal val="#ppt_x"/>
                                          </p:val>
                                        </p:tav>
                                        <p:tav tm="100000">
                                          <p:val>
                                            <p:strVal val="#ppt_x"/>
                                          </p:val>
                                        </p:tav>
                                      </p:tavLst>
                                    </p:anim>
                                    <p:anim calcmode="lin" valueType="num">
                                      <p:cBhvr>
                                        <p:cTn id="75" dur="1000" fill="hold"/>
                                        <p:tgtEl>
                                          <p:spTgt spid="6">
                                            <p:txEl>
                                              <p:pRg st="10" end="10"/>
                                            </p:txEl>
                                          </p:spTgt>
                                        </p:tgtEl>
                                        <p:attrNameLst>
                                          <p:attrName>ppt_y</p:attrName>
                                        </p:attrNameLst>
                                      </p:cBhvr>
                                      <p:tavLst>
                                        <p:tav tm="0">
                                          <p:val>
                                            <p:strVal val="#ppt_y+.1"/>
                                          </p:val>
                                        </p:tav>
                                        <p:tav tm="100000">
                                          <p:val>
                                            <p:strVal val="#ppt_y"/>
                                          </p:val>
                                        </p:tav>
                                      </p:tavLst>
                                    </p:anim>
                                  </p:childTnLst>
                                </p:cTn>
                              </p:par>
                              <p:par>
                                <p:cTn id="76" presetID="42" presetClass="entr" presetSubtype="0" fill="hold" nodeType="withEffect">
                                  <p:stCondLst>
                                    <p:cond delay="0"/>
                                  </p:stCondLst>
                                  <p:childTnLst>
                                    <p:set>
                                      <p:cBhvr>
                                        <p:cTn id="77" dur="1" fill="hold">
                                          <p:stCondLst>
                                            <p:cond delay="0"/>
                                          </p:stCondLst>
                                        </p:cTn>
                                        <p:tgtEl>
                                          <p:spTgt spid="6">
                                            <p:txEl>
                                              <p:pRg st="11" end="11"/>
                                            </p:txEl>
                                          </p:spTgt>
                                        </p:tgtEl>
                                        <p:attrNameLst>
                                          <p:attrName>style.visibility</p:attrName>
                                        </p:attrNameLst>
                                      </p:cBhvr>
                                      <p:to>
                                        <p:strVal val="visible"/>
                                      </p:to>
                                    </p:set>
                                    <p:animEffect transition="in" filter="fade">
                                      <p:cBhvr>
                                        <p:cTn id="78" dur="1000"/>
                                        <p:tgtEl>
                                          <p:spTgt spid="6">
                                            <p:txEl>
                                              <p:pRg st="11" end="11"/>
                                            </p:txEl>
                                          </p:spTgt>
                                        </p:tgtEl>
                                      </p:cBhvr>
                                    </p:animEffect>
                                    <p:anim calcmode="lin" valueType="num">
                                      <p:cBhvr>
                                        <p:cTn id="79" dur="1000" fill="hold"/>
                                        <p:tgtEl>
                                          <p:spTgt spid="6">
                                            <p:txEl>
                                              <p:pRg st="11" end="11"/>
                                            </p:txEl>
                                          </p:spTgt>
                                        </p:tgtEl>
                                        <p:attrNameLst>
                                          <p:attrName>ppt_x</p:attrName>
                                        </p:attrNameLst>
                                      </p:cBhvr>
                                      <p:tavLst>
                                        <p:tav tm="0">
                                          <p:val>
                                            <p:strVal val="#ppt_x"/>
                                          </p:val>
                                        </p:tav>
                                        <p:tav tm="100000">
                                          <p:val>
                                            <p:strVal val="#ppt_x"/>
                                          </p:val>
                                        </p:tav>
                                      </p:tavLst>
                                    </p:anim>
                                    <p:anim calcmode="lin" valueType="num">
                                      <p:cBhvr>
                                        <p:cTn id="80" dur="1000" fill="hold"/>
                                        <p:tgtEl>
                                          <p:spTgt spid="6">
                                            <p:txEl>
                                              <p:pRg st="11" end="11"/>
                                            </p:txEl>
                                          </p:spTgt>
                                        </p:tgtEl>
                                        <p:attrNameLst>
                                          <p:attrName>ppt_y</p:attrName>
                                        </p:attrNameLst>
                                      </p:cBhvr>
                                      <p:tavLst>
                                        <p:tav tm="0">
                                          <p:val>
                                            <p:strVal val="#ppt_y+.1"/>
                                          </p:val>
                                        </p:tav>
                                        <p:tav tm="100000">
                                          <p:val>
                                            <p:strVal val="#ppt_y"/>
                                          </p:val>
                                        </p:tav>
                                      </p:tavLst>
                                    </p:anim>
                                  </p:childTnLst>
                                </p:cTn>
                              </p:par>
                              <p:par>
                                <p:cTn id="81" presetID="42" presetClass="entr" presetSubtype="0" fill="hold" nodeType="withEffect">
                                  <p:stCondLst>
                                    <p:cond delay="0"/>
                                  </p:stCondLst>
                                  <p:childTnLst>
                                    <p:set>
                                      <p:cBhvr>
                                        <p:cTn id="82" dur="1" fill="hold">
                                          <p:stCondLst>
                                            <p:cond delay="0"/>
                                          </p:stCondLst>
                                        </p:cTn>
                                        <p:tgtEl>
                                          <p:spTgt spid="6">
                                            <p:txEl>
                                              <p:pRg st="12" end="12"/>
                                            </p:txEl>
                                          </p:spTgt>
                                        </p:tgtEl>
                                        <p:attrNameLst>
                                          <p:attrName>style.visibility</p:attrName>
                                        </p:attrNameLst>
                                      </p:cBhvr>
                                      <p:to>
                                        <p:strVal val="visible"/>
                                      </p:to>
                                    </p:set>
                                    <p:animEffect transition="in" filter="fade">
                                      <p:cBhvr>
                                        <p:cTn id="83" dur="1000"/>
                                        <p:tgtEl>
                                          <p:spTgt spid="6">
                                            <p:txEl>
                                              <p:pRg st="12" end="12"/>
                                            </p:txEl>
                                          </p:spTgt>
                                        </p:tgtEl>
                                      </p:cBhvr>
                                    </p:animEffect>
                                    <p:anim calcmode="lin" valueType="num">
                                      <p:cBhvr>
                                        <p:cTn id="84" dur="1000" fill="hold"/>
                                        <p:tgtEl>
                                          <p:spTgt spid="6">
                                            <p:txEl>
                                              <p:pRg st="12" end="12"/>
                                            </p:txEl>
                                          </p:spTgt>
                                        </p:tgtEl>
                                        <p:attrNameLst>
                                          <p:attrName>ppt_x</p:attrName>
                                        </p:attrNameLst>
                                      </p:cBhvr>
                                      <p:tavLst>
                                        <p:tav tm="0">
                                          <p:val>
                                            <p:strVal val="#ppt_x"/>
                                          </p:val>
                                        </p:tav>
                                        <p:tav tm="100000">
                                          <p:val>
                                            <p:strVal val="#ppt_x"/>
                                          </p:val>
                                        </p:tav>
                                      </p:tavLst>
                                    </p:anim>
                                    <p:anim calcmode="lin" valueType="num">
                                      <p:cBhvr>
                                        <p:cTn id="85" dur="1000" fill="hold"/>
                                        <p:tgtEl>
                                          <p:spTgt spid="6">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16" presetClass="entr" presetSubtype="21" fill="hold" grpId="0" nodeType="clickEffect">
                                  <p:stCondLst>
                                    <p:cond delay="0"/>
                                  </p:stCondLst>
                                  <p:childTnLst>
                                    <p:set>
                                      <p:cBhvr>
                                        <p:cTn id="89" dur="1" fill="hold">
                                          <p:stCondLst>
                                            <p:cond delay="0"/>
                                          </p:stCondLst>
                                        </p:cTn>
                                        <p:tgtEl>
                                          <p:spTgt spid="16"/>
                                        </p:tgtEl>
                                        <p:attrNameLst>
                                          <p:attrName>style.visibility</p:attrName>
                                        </p:attrNameLst>
                                      </p:cBhvr>
                                      <p:to>
                                        <p:strVal val="visible"/>
                                      </p:to>
                                    </p:set>
                                    <p:animEffect transition="in" filter="barn(inVertical)">
                                      <p:cBhvr>
                                        <p:cTn id="90" dur="500"/>
                                        <p:tgtEl>
                                          <p:spTgt spid="16"/>
                                        </p:tgtEl>
                                      </p:cBhvr>
                                    </p:animEffect>
                                  </p:childTnLst>
                                </p:cTn>
                              </p:par>
                              <p:par>
                                <p:cTn id="91" presetID="16" presetClass="entr" presetSubtype="21" fill="hold" nodeType="withEffect">
                                  <p:stCondLst>
                                    <p:cond delay="0"/>
                                  </p:stCondLst>
                                  <p:childTnLst>
                                    <p:set>
                                      <p:cBhvr>
                                        <p:cTn id="92" dur="1" fill="hold">
                                          <p:stCondLst>
                                            <p:cond delay="0"/>
                                          </p:stCondLst>
                                        </p:cTn>
                                        <p:tgtEl>
                                          <p:spTgt spid="11"/>
                                        </p:tgtEl>
                                        <p:attrNameLst>
                                          <p:attrName>style.visibility</p:attrName>
                                        </p:attrNameLst>
                                      </p:cBhvr>
                                      <p:to>
                                        <p:strVal val="visible"/>
                                      </p:to>
                                    </p:set>
                                    <p:animEffect transition="in" filter="barn(inVertical)">
                                      <p:cBhvr>
                                        <p:cTn id="93" dur="500"/>
                                        <p:tgtEl>
                                          <p:spTgt spid="11"/>
                                        </p:tgtEl>
                                      </p:cBhvr>
                                    </p:animEffect>
                                  </p:childTnLst>
                                </p:cTn>
                              </p:par>
                              <p:par>
                                <p:cTn id="94" presetID="16" presetClass="entr" presetSubtype="21" fill="hold" grpId="0" nodeType="withEffect">
                                  <p:stCondLst>
                                    <p:cond delay="0"/>
                                  </p:stCondLst>
                                  <p:childTnLst>
                                    <p:set>
                                      <p:cBhvr>
                                        <p:cTn id="95" dur="1" fill="hold">
                                          <p:stCondLst>
                                            <p:cond delay="0"/>
                                          </p:stCondLst>
                                        </p:cTn>
                                        <p:tgtEl>
                                          <p:spTgt spid="12"/>
                                        </p:tgtEl>
                                        <p:attrNameLst>
                                          <p:attrName>style.visibility</p:attrName>
                                        </p:attrNameLst>
                                      </p:cBhvr>
                                      <p:to>
                                        <p:strVal val="visible"/>
                                      </p:to>
                                    </p:set>
                                    <p:animEffect transition="in" filter="barn(inVertical)">
                                      <p:cBhvr>
                                        <p:cTn id="9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2" grpId="0"/>
      <p:bldP spid="13" grpId="0"/>
      <p:bldP spid="16" grpId="0"/>
      <p:bldP spid="1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Illustration continues…</a:t>
            </a:r>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25</a:t>
            </a:fld>
            <a:endParaRPr lang="en-US"/>
          </a:p>
        </p:txBody>
      </p:sp>
      <p:sp>
        <p:nvSpPr>
          <p:cNvPr id="6" name="Content Placeholder 5"/>
          <p:cNvSpPr>
            <a:spLocks noGrp="1"/>
          </p:cNvSpPr>
          <p:nvPr>
            <p:ph sz="quarter" idx="1"/>
          </p:nvPr>
        </p:nvSpPr>
        <p:spPr/>
        <p:txBody>
          <a:bodyPr>
            <a:normAutofit lnSpcReduction="10000"/>
          </a:bodyPr>
          <a:lstStyle/>
          <a:p>
            <a:pPr marL="0" indent="0">
              <a:buNone/>
            </a:pPr>
            <a:r>
              <a:rPr lang="en-US" dirty="0" err="1"/>
              <a:t>len</a:t>
            </a:r>
            <a:r>
              <a:rPr lang="en-US" dirty="0"/>
              <a:t> = 2, i = 3. </a:t>
            </a:r>
            <a:endParaRPr lang="en-US" dirty="0" smtClean="0"/>
          </a:p>
          <a:p>
            <a:pPr marL="0" indent="0">
              <a:buNone/>
            </a:pPr>
            <a:r>
              <a:rPr lang="en-US" dirty="0" smtClean="0"/>
              <a:t>Since </a:t>
            </a:r>
            <a:r>
              <a:rPr lang="en-US" dirty="0"/>
              <a:t>pat[</a:t>
            </a:r>
            <a:r>
              <a:rPr lang="en-US" dirty="0" err="1"/>
              <a:t>len</a:t>
            </a:r>
            <a:r>
              <a:rPr lang="en-US" dirty="0"/>
              <a:t>] and pat[i] do not match, and </a:t>
            </a:r>
            <a:r>
              <a:rPr lang="en-US" dirty="0" err="1"/>
              <a:t>len</a:t>
            </a:r>
            <a:r>
              <a:rPr lang="en-US" dirty="0"/>
              <a:t> &gt; 0, </a:t>
            </a:r>
            <a:endParaRPr lang="en-US" dirty="0" smtClean="0"/>
          </a:p>
          <a:p>
            <a:pPr marL="0" indent="0">
              <a:buNone/>
            </a:pPr>
            <a:r>
              <a:rPr lang="en-US" dirty="0" smtClean="0"/>
              <a:t>set </a:t>
            </a:r>
            <a:r>
              <a:rPr lang="en-US" dirty="0" err="1"/>
              <a:t>len</a:t>
            </a:r>
            <a:r>
              <a:rPr lang="en-US" dirty="0"/>
              <a:t> = </a:t>
            </a:r>
            <a:r>
              <a:rPr lang="en-US" dirty="0" err="1"/>
              <a:t>lps</a:t>
            </a:r>
            <a:r>
              <a:rPr lang="en-US" dirty="0"/>
              <a:t>[len-1] = </a:t>
            </a:r>
            <a:r>
              <a:rPr lang="en-US" dirty="0" err="1"/>
              <a:t>lps</a:t>
            </a:r>
            <a:r>
              <a:rPr lang="en-US" dirty="0"/>
              <a:t>[1] = 1 </a:t>
            </a:r>
            <a:endParaRPr lang="en-US" dirty="0" smtClean="0"/>
          </a:p>
          <a:p>
            <a:pPr marL="0" indent="0">
              <a:buNone/>
            </a:pPr>
            <a:endParaRPr lang="en-US" dirty="0"/>
          </a:p>
          <a:p>
            <a:pPr marL="0" indent="0">
              <a:buNone/>
            </a:pPr>
            <a:r>
              <a:rPr lang="en-US" dirty="0" err="1" smtClean="0"/>
              <a:t>len</a:t>
            </a:r>
            <a:r>
              <a:rPr lang="en-US" dirty="0" smtClean="0"/>
              <a:t> </a:t>
            </a:r>
            <a:r>
              <a:rPr lang="en-US" dirty="0"/>
              <a:t>= 1, i = 3. </a:t>
            </a:r>
            <a:endParaRPr lang="en-US" dirty="0" smtClean="0"/>
          </a:p>
          <a:p>
            <a:pPr marL="0" indent="0">
              <a:buNone/>
            </a:pPr>
            <a:r>
              <a:rPr lang="en-US" dirty="0" smtClean="0"/>
              <a:t>Since </a:t>
            </a:r>
            <a:r>
              <a:rPr lang="en-US" dirty="0"/>
              <a:t>pat[</a:t>
            </a:r>
            <a:r>
              <a:rPr lang="en-US" dirty="0" err="1"/>
              <a:t>len</a:t>
            </a:r>
            <a:r>
              <a:rPr lang="en-US" dirty="0"/>
              <a:t>] and pat[i] do not match and </a:t>
            </a:r>
            <a:r>
              <a:rPr lang="en-US" dirty="0" err="1"/>
              <a:t>len</a:t>
            </a:r>
            <a:r>
              <a:rPr lang="en-US" dirty="0"/>
              <a:t> &gt; 0, </a:t>
            </a:r>
            <a:endParaRPr lang="en-US" dirty="0" smtClean="0"/>
          </a:p>
          <a:p>
            <a:pPr marL="0" indent="0">
              <a:buNone/>
            </a:pPr>
            <a:r>
              <a:rPr lang="en-US" dirty="0" err="1" smtClean="0"/>
              <a:t>len</a:t>
            </a:r>
            <a:r>
              <a:rPr lang="en-US" dirty="0" smtClean="0"/>
              <a:t> </a:t>
            </a:r>
            <a:r>
              <a:rPr lang="en-US" dirty="0"/>
              <a:t>= </a:t>
            </a:r>
            <a:r>
              <a:rPr lang="en-US" dirty="0" err="1"/>
              <a:t>lps</a:t>
            </a:r>
            <a:r>
              <a:rPr lang="en-US" dirty="0"/>
              <a:t>[len-1] = </a:t>
            </a:r>
            <a:r>
              <a:rPr lang="en-US" dirty="0" err="1"/>
              <a:t>lps</a:t>
            </a:r>
            <a:r>
              <a:rPr lang="en-US" dirty="0"/>
              <a:t>[0] = 0 </a:t>
            </a:r>
            <a:endParaRPr lang="en-US" dirty="0" smtClean="0"/>
          </a:p>
          <a:p>
            <a:pPr marL="0" indent="0">
              <a:buNone/>
            </a:pPr>
            <a:endParaRPr lang="en-US" dirty="0"/>
          </a:p>
          <a:p>
            <a:pPr marL="0" indent="0">
              <a:buNone/>
            </a:pPr>
            <a:r>
              <a:rPr lang="en-US" dirty="0" err="1" smtClean="0"/>
              <a:t>len</a:t>
            </a:r>
            <a:r>
              <a:rPr lang="en-US" dirty="0" smtClean="0"/>
              <a:t> </a:t>
            </a:r>
            <a:r>
              <a:rPr lang="en-US" dirty="0"/>
              <a:t>= 0, i = 3. </a:t>
            </a:r>
          </a:p>
          <a:p>
            <a:pPr marL="0" indent="0">
              <a:buNone/>
            </a:pPr>
            <a:r>
              <a:rPr lang="en-US" dirty="0" smtClean="0"/>
              <a:t>Since </a:t>
            </a:r>
            <a:r>
              <a:rPr lang="en-US" dirty="0"/>
              <a:t>pat[</a:t>
            </a:r>
            <a:r>
              <a:rPr lang="en-US" dirty="0" err="1"/>
              <a:t>len</a:t>
            </a:r>
            <a:r>
              <a:rPr lang="en-US" dirty="0"/>
              <a:t>] and pat[i] do not match and </a:t>
            </a:r>
            <a:r>
              <a:rPr lang="en-US" dirty="0" err="1"/>
              <a:t>len</a:t>
            </a:r>
            <a:r>
              <a:rPr lang="en-US" dirty="0"/>
              <a:t> = 0, </a:t>
            </a:r>
            <a:endParaRPr lang="en-US" dirty="0" smtClean="0"/>
          </a:p>
          <a:p>
            <a:pPr marL="0" indent="0">
              <a:buNone/>
            </a:pPr>
            <a:r>
              <a:rPr lang="en-US" dirty="0" smtClean="0"/>
              <a:t>Set </a:t>
            </a:r>
            <a:r>
              <a:rPr lang="en-US" b="1" dirty="0" err="1"/>
              <a:t>lps</a:t>
            </a:r>
            <a:r>
              <a:rPr lang="en-US" b="1" dirty="0"/>
              <a:t>[3] = 0</a:t>
            </a:r>
            <a:r>
              <a:rPr lang="en-US" dirty="0"/>
              <a:t> and i = 4. </a:t>
            </a:r>
            <a:endParaRPr lang="en-US" dirty="0" smtClean="0"/>
          </a:p>
          <a:p>
            <a:pPr marL="0" indent="0">
              <a:buNone/>
            </a:pP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3700949206"/>
              </p:ext>
            </p:extLst>
          </p:nvPr>
        </p:nvGraphicFramePr>
        <p:xfrm>
          <a:off x="4907465" y="2526268"/>
          <a:ext cx="4038600" cy="365760"/>
        </p:xfrm>
        <a:graphic>
          <a:graphicData uri="http://schemas.openxmlformats.org/drawingml/2006/table">
            <a:tbl>
              <a:tblPr firstRow="1" bandRow="1">
                <a:tableStyleId>{616DA210-FB5B-4158-B5E0-FEB733F419BA}</a:tableStyleId>
              </a:tblPr>
              <a:tblGrid>
                <a:gridCol w="504825"/>
                <a:gridCol w="504825"/>
                <a:gridCol w="504825"/>
                <a:gridCol w="504825"/>
                <a:gridCol w="504825"/>
                <a:gridCol w="504825"/>
                <a:gridCol w="504825"/>
                <a:gridCol w="504825"/>
              </a:tblGrid>
              <a:tr h="30480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2</a:t>
                      </a:r>
                      <a:endParaRPr lang="en-US" dirty="0"/>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r>
            </a:tbl>
          </a:graphicData>
        </a:graphic>
      </p:graphicFrame>
      <p:sp>
        <p:nvSpPr>
          <p:cNvPr id="9" name="TextBox 8"/>
          <p:cNvSpPr txBox="1"/>
          <p:nvPr/>
        </p:nvSpPr>
        <p:spPr>
          <a:xfrm>
            <a:off x="5105400" y="3059668"/>
            <a:ext cx="3801041" cy="369332"/>
          </a:xfrm>
          <a:prstGeom prst="rect">
            <a:avLst/>
          </a:prstGeom>
          <a:noFill/>
        </p:spPr>
        <p:txBody>
          <a:bodyPr wrap="none" rtlCol="0">
            <a:spAutoFit/>
          </a:bodyPr>
          <a:lstStyle/>
          <a:p>
            <a:r>
              <a:rPr lang="en-US" dirty="0" smtClean="0"/>
              <a:t>0     1      2       3      4     5      6       7</a:t>
            </a:r>
            <a:endParaRPr lang="en-US" dirty="0"/>
          </a:p>
        </p:txBody>
      </p:sp>
      <p:sp>
        <p:nvSpPr>
          <p:cNvPr id="10" name="TextBox 9"/>
          <p:cNvSpPr txBox="1"/>
          <p:nvPr/>
        </p:nvSpPr>
        <p:spPr>
          <a:xfrm>
            <a:off x="4926505" y="2069068"/>
            <a:ext cx="3979936" cy="369332"/>
          </a:xfrm>
          <a:prstGeom prst="rect">
            <a:avLst/>
          </a:prstGeom>
          <a:noFill/>
        </p:spPr>
        <p:txBody>
          <a:bodyPr wrap="none" rtlCol="0">
            <a:spAutoFit/>
          </a:bodyPr>
          <a:lstStyle/>
          <a:p>
            <a:r>
              <a:rPr lang="en-US" dirty="0" smtClean="0"/>
              <a:t>A     </a:t>
            </a:r>
            <a:r>
              <a:rPr lang="en-US" dirty="0" err="1" smtClean="0"/>
              <a:t>A</a:t>
            </a:r>
            <a:r>
              <a:rPr lang="en-US" dirty="0" smtClean="0"/>
              <a:t>      </a:t>
            </a:r>
            <a:r>
              <a:rPr lang="en-US" dirty="0" err="1" smtClean="0">
                <a:solidFill>
                  <a:srgbClr val="C00000"/>
                </a:solidFill>
              </a:rPr>
              <a:t>A</a:t>
            </a:r>
            <a:r>
              <a:rPr lang="en-US" dirty="0" smtClean="0">
                <a:solidFill>
                  <a:srgbClr val="C00000"/>
                </a:solidFill>
              </a:rPr>
              <a:t>      C      </a:t>
            </a:r>
            <a:r>
              <a:rPr lang="en-US" dirty="0" smtClean="0"/>
              <a:t>A      </a:t>
            </a:r>
            <a:r>
              <a:rPr lang="en-US" dirty="0" err="1" smtClean="0"/>
              <a:t>A</a:t>
            </a:r>
            <a:r>
              <a:rPr lang="en-US" dirty="0" smtClean="0"/>
              <a:t>       </a:t>
            </a:r>
            <a:r>
              <a:rPr lang="en-US" dirty="0" err="1" smtClean="0"/>
              <a:t>A</a:t>
            </a:r>
            <a:r>
              <a:rPr lang="en-US" dirty="0" smtClean="0"/>
              <a:t>      </a:t>
            </a:r>
            <a:r>
              <a:rPr lang="en-US" dirty="0" err="1" smtClean="0"/>
              <a:t>A</a:t>
            </a:r>
            <a:endParaRPr lang="en-US" dirty="0"/>
          </a:p>
        </p:txBody>
      </p:sp>
      <p:graphicFrame>
        <p:nvGraphicFramePr>
          <p:cNvPr id="11" name="Table 10"/>
          <p:cNvGraphicFramePr>
            <a:graphicFrameLocks noGrp="1"/>
          </p:cNvGraphicFramePr>
          <p:nvPr>
            <p:extLst>
              <p:ext uri="{D42A27DB-BD31-4B8C-83A1-F6EECF244321}">
                <p14:modId xmlns:p14="http://schemas.microsoft.com/office/powerpoint/2010/main" val="3212771318"/>
              </p:ext>
            </p:extLst>
          </p:nvPr>
        </p:nvGraphicFramePr>
        <p:xfrm>
          <a:off x="4572000" y="4202668"/>
          <a:ext cx="4038600" cy="365760"/>
        </p:xfrm>
        <a:graphic>
          <a:graphicData uri="http://schemas.openxmlformats.org/drawingml/2006/table">
            <a:tbl>
              <a:tblPr firstRow="1" bandRow="1">
                <a:tableStyleId>{616DA210-FB5B-4158-B5E0-FEB733F419BA}</a:tableStyleId>
              </a:tblPr>
              <a:tblGrid>
                <a:gridCol w="504825"/>
                <a:gridCol w="504825"/>
                <a:gridCol w="504825"/>
                <a:gridCol w="504825"/>
                <a:gridCol w="504825"/>
                <a:gridCol w="504825"/>
                <a:gridCol w="504825"/>
                <a:gridCol w="504825"/>
              </a:tblGrid>
              <a:tr h="30480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2</a:t>
                      </a:r>
                      <a:endParaRPr lang="en-US" dirty="0"/>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r>
            </a:tbl>
          </a:graphicData>
        </a:graphic>
      </p:graphicFrame>
      <p:sp>
        <p:nvSpPr>
          <p:cNvPr id="12" name="TextBox 11"/>
          <p:cNvSpPr txBox="1"/>
          <p:nvPr/>
        </p:nvSpPr>
        <p:spPr>
          <a:xfrm>
            <a:off x="4769935" y="4736068"/>
            <a:ext cx="3801041" cy="369332"/>
          </a:xfrm>
          <a:prstGeom prst="rect">
            <a:avLst/>
          </a:prstGeom>
          <a:noFill/>
        </p:spPr>
        <p:txBody>
          <a:bodyPr wrap="none" rtlCol="0">
            <a:spAutoFit/>
          </a:bodyPr>
          <a:lstStyle/>
          <a:p>
            <a:r>
              <a:rPr lang="en-US" dirty="0" smtClean="0"/>
              <a:t>0     1      2       3      4     5      6       7</a:t>
            </a:r>
            <a:endParaRPr lang="en-US" dirty="0"/>
          </a:p>
        </p:txBody>
      </p:sp>
      <p:sp>
        <p:nvSpPr>
          <p:cNvPr id="13" name="TextBox 12"/>
          <p:cNvSpPr txBox="1"/>
          <p:nvPr/>
        </p:nvSpPr>
        <p:spPr>
          <a:xfrm>
            <a:off x="4591040" y="3745468"/>
            <a:ext cx="3979936" cy="369332"/>
          </a:xfrm>
          <a:prstGeom prst="rect">
            <a:avLst/>
          </a:prstGeom>
          <a:noFill/>
        </p:spPr>
        <p:txBody>
          <a:bodyPr wrap="none" rtlCol="0">
            <a:spAutoFit/>
          </a:bodyPr>
          <a:lstStyle/>
          <a:p>
            <a:r>
              <a:rPr lang="en-US" dirty="0" smtClean="0"/>
              <a:t>A     </a:t>
            </a:r>
            <a:r>
              <a:rPr lang="en-US" dirty="0" err="1" smtClean="0">
                <a:solidFill>
                  <a:srgbClr val="C00000"/>
                </a:solidFill>
              </a:rPr>
              <a:t>A</a:t>
            </a:r>
            <a:r>
              <a:rPr lang="en-US" dirty="0" smtClean="0"/>
              <a:t>      </a:t>
            </a:r>
            <a:r>
              <a:rPr lang="en-US" dirty="0" err="1" smtClean="0"/>
              <a:t>A</a:t>
            </a:r>
            <a:r>
              <a:rPr lang="en-US" dirty="0" smtClean="0"/>
              <a:t> </a:t>
            </a:r>
            <a:r>
              <a:rPr lang="en-US" dirty="0" smtClean="0">
                <a:solidFill>
                  <a:srgbClr val="C00000"/>
                </a:solidFill>
              </a:rPr>
              <a:t>     C      </a:t>
            </a:r>
            <a:r>
              <a:rPr lang="en-US" dirty="0" smtClean="0"/>
              <a:t>A      </a:t>
            </a:r>
            <a:r>
              <a:rPr lang="en-US" dirty="0" err="1" smtClean="0"/>
              <a:t>A</a:t>
            </a:r>
            <a:r>
              <a:rPr lang="en-US" dirty="0" smtClean="0"/>
              <a:t>       </a:t>
            </a:r>
            <a:r>
              <a:rPr lang="en-US" dirty="0" err="1" smtClean="0"/>
              <a:t>A</a:t>
            </a:r>
            <a:r>
              <a:rPr lang="en-US" dirty="0" smtClean="0"/>
              <a:t>      </a:t>
            </a:r>
            <a:r>
              <a:rPr lang="en-US" dirty="0" err="1" smtClean="0"/>
              <a:t>A</a:t>
            </a:r>
            <a:endParaRPr lang="en-US" dirty="0"/>
          </a:p>
        </p:txBody>
      </p:sp>
      <p:graphicFrame>
        <p:nvGraphicFramePr>
          <p:cNvPr id="14" name="Table 13"/>
          <p:cNvGraphicFramePr>
            <a:graphicFrameLocks noGrp="1"/>
          </p:cNvGraphicFramePr>
          <p:nvPr>
            <p:extLst>
              <p:ext uri="{D42A27DB-BD31-4B8C-83A1-F6EECF244321}">
                <p14:modId xmlns:p14="http://schemas.microsoft.com/office/powerpoint/2010/main" val="564422040"/>
              </p:ext>
            </p:extLst>
          </p:nvPr>
        </p:nvGraphicFramePr>
        <p:xfrm>
          <a:off x="4800600" y="5955268"/>
          <a:ext cx="4038600" cy="365760"/>
        </p:xfrm>
        <a:graphic>
          <a:graphicData uri="http://schemas.openxmlformats.org/drawingml/2006/table">
            <a:tbl>
              <a:tblPr firstRow="1" bandRow="1">
                <a:tableStyleId>{616DA210-FB5B-4158-B5E0-FEB733F419BA}</a:tableStyleId>
              </a:tblPr>
              <a:tblGrid>
                <a:gridCol w="504825"/>
                <a:gridCol w="504825"/>
                <a:gridCol w="504825"/>
                <a:gridCol w="504825"/>
                <a:gridCol w="504825"/>
                <a:gridCol w="504825"/>
                <a:gridCol w="504825"/>
                <a:gridCol w="504825"/>
              </a:tblGrid>
              <a:tr h="30480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2</a:t>
                      </a:r>
                      <a:endParaRPr lang="en-US" dirty="0"/>
                    </a:p>
                  </a:txBody>
                  <a:tcPr/>
                </a:tc>
                <a:tc>
                  <a:txBody>
                    <a:bodyPr/>
                    <a:lstStyle/>
                    <a:p>
                      <a:r>
                        <a:rPr lang="en-US" dirty="0" smtClean="0"/>
                        <a:t>0</a:t>
                      </a:r>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r>
            </a:tbl>
          </a:graphicData>
        </a:graphic>
      </p:graphicFrame>
      <p:sp>
        <p:nvSpPr>
          <p:cNvPr id="15" name="TextBox 14"/>
          <p:cNvSpPr txBox="1"/>
          <p:nvPr/>
        </p:nvSpPr>
        <p:spPr>
          <a:xfrm>
            <a:off x="4998535" y="6488668"/>
            <a:ext cx="3801041" cy="369332"/>
          </a:xfrm>
          <a:prstGeom prst="rect">
            <a:avLst/>
          </a:prstGeom>
          <a:noFill/>
        </p:spPr>
        <p:txBody>
          <a:bodyPr wrap="none" rtlCol="0">
            <a:spAutoFit/>
          </a:bodyPr>
          <a:lstStyle/>
          <a:p>
            <a:r>
              <a:rPr lang="en-US" dirty="0" smtClean="0"/>
              <a:t>0     1      2       3      4     5      6       7</a:t>
            </a:r>
            <a:endParaRPr lang="en-US" dirty="0"/>
          </a:p>
        </p:txBody>
      </p:sp>
      <p:sp>
        <p:nvSpPr>
          <p:cNvPr id="16" name="TextBox 15"/>
          <p:cNvSpPr txBox="1"/>
          <p:nvPr/>
        </p:nvSpPr>
        <p:spPr>
          <a:xfrm>
            <a:off x="4819640" y="5498068"/>
            <a:ext cx="3979936" cy="369332"/>
          </a:xfrm>
          <a:prstGeom prst="rect">
            <a:avLst/>
          </a:prstGeom>
          <a:noFill/>
        </p:spPr>
        <p:txBody>
          <a:bodyPr wrap="none" rtlCol="0">
            <a:spAutoFit/>
          </a:bodyPr>
          <a:lstStyle/>
          <a:p>
            <a:r>
              <a:rPr lang="en-US" dirty="0" smtClean="0">
                <a:solidFill>
                  <a:srgbClr val="C00000"/>
                </a:solidFill>
              </a:rPr>
              <a:t>A</a:t>
            </a:r>
            <a:r>
              <a:rPr lang="en-US" dirty="0" smtClean="0"/>
              <a:t>     </a:t>
            </a:r>
            <a:r>
              <a:rPr lang="en-US" dirty="0" err="1" smtClean="0"/>
              <a:t>A</a:t>
            </a:r>
            <a:r>
              <a:rPr lang="en-US" dirty="0" smtClean="0"/>
              <a:t>      </a:t>
            </a:r>
            <a:r>
              <a:rPr lang="en-US" dirty="0" err="1" smtClean="0"/>
              <a:t>A</a:t>
            </a:r>
            <a:r>
              <a:rPr lang="en-US" dirty="0" smtClean="0">
                <a:solidFill>
                  <a:srgbClr val="C00000"/>
                </a:solidFill>
              </a:rPr>
              <a:t>      C      </a:t>
            </a:r>
            <a:r>
              <a:rPr lang="en-US" dirty="0" smtClean="0"/>
              <a:t>A      </a:t>
            </a:r>
            <a:r>
              <a:rPr lang="en-US" dirty="0" err="1" smtClean="0"/>
              <a:t>A</a:t>
            </a:r>
            <a:r>
              <a:rPr lang="en-US" dirty="0" smtClean="0"/>
              <a:t>       </a:t>
            </a:r>
            <a:r>
              <a:rPr lang="en-US" dirty="0" err="1" smtClean="0"/>
              <a:t>A</a:t>
            </a:r>
            <a:r>
              <a:rPr lang="en-US" dirty="0" smtClean="0"/>
              <a:t>      </a:t>
            </a:r>
            <a:r>
              <a:rPr lang="en-US" dirty="0" err="1" smtClean="0"/>
              <a:t>A</a:t>
            </a:r>
            <a:endParaRPr lang="en-US" dirty="0"/>
          </a:p>
        </p:txBody>
      </p:sp>
    </p:spTree>
    <p:extLst>
      <p:ext uri="{BB962C8B-B14F-4D97-AF65-F5344CB8AC3E}">
        <p14:creationId xmlns:p14="http://schemas.microsoft.com/office/powerpoint/2010/main" val="3235791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1000"/>
                                        <p:tgtEl>
                                          <p:spTgt spid="6">
                                            <p:txEl>
                                              <p:pRg st="1" end="1"/>
                                            </p:txEl>
                                          </p:spTgt>
                                        </p:tgtEl>
                                      </p:cBhvr>
                                    </p:animEffect>
                                    <p:anim calcmode="lin" valueType="num">
                                      <p:cBhvr>
                                        <p:cTn id="13"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1000"/>
                                        <p:tgtEl>
                                          <p:spTgt spid="6">
                                            <p:txEl>
                                              <p:pRg st="2" end="2"/>
                                            </p:txEl>
                                          </p:spTgt>
                                        </p:tgtEl>
                                      </p:cBhvr>
                                    </p:animEffect>
                                    <p:anim calcmode="lin" valueType="num">
                                      <p:cBhvr>
                                        <p:cTn id="1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arn(inVertical)">
                                      <p:cBhvr>
                                        <p:cTn id="24" dur="500"/>
                                        <p:tgtEl>
                                          <p:spTgt spid="10"/>
                                        </p:tgtEl>
                                      </p:cBhvr>
                                    </p:animEffect>
                                  </p:childTnLst>
                                </p:cTn>
                              </p:par>
                              <p:par>
                                <p:cTn id="25" presetID="16" presetClass="entr" presetSubtype="21"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arn(inVertical)">
                                      <p:cBhvr>
                                        <p:cTn id="27" dur="500"/>
                                        <p:tgtEl>
                                          <p:spTgt spid="8"/>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barn(inVertical)">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animEffect transition="in" filter="fade">
                                      <p:cBhvr>
                                        <p:cTn id="35" dur="1000"/>
                                        <p:tgtEl>
                                          <p:spTgt spid="6">
                                            <p:txEl>
                                              <p:pRg st="4" end="4"/>
                                            </p:txEl>
                                          </p:spTgt>
                                        </p:tgtEl>
                                      </p:cBhvr>
                                    </p:animEffect>
                                    <p:anim calcmode="lin" valueType="num">
                                      <p:cBhvr>
                                        <p:cTn id="36"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4" end="4"/>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6">
                                            <p:txEl>
                                              <p:pRg st="5" end="5"/>
                                            </p:txEl>
                                          </p:spTgt>
                                        </p:tgtEl>
                                        <p:attrNameLst>
                                          <p:attrName>style.visibility</p:attrName>
                                        </p:attrNameLst>
                                      </p:cBhvr>
                                      <p:to>
                                        <p:strVal val="visible"/>
                                      </p:to>
                                    </p:set>
                                    <p:animEffect transition="in" filter="fade">
                                      <p:cBhvr>
                                        <p:cTn id="40" dur="1000"/>
                                        <p:tgtEl>
                                          <p:spTgt spid="6">
                                            <p:txEl>
                                              <p:pRg st="5" end="5"/>
                                            </p:txEl>
                                          </p:spTgt>
                                        </p:tgtEl>
                                      </p:cBhvr>
                                    </p:animEffect>
                                    <p:anim calcmode="lin" valueType="num">
                                      <p:cBhvr>
                                        <p:cTn id="41"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6">
                                            <p:txEl>
                                              <p:pRg st="5" end="5"/>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6">
                                            <p:txEl>
                                              <p:pRg st="6" end="6"/>
                                            </p:txEl>
                                          </p:spTgt>
                                        </p:tgtEl>
                                        <p:attrNameLst>
                                          <p:attrName>style.visibility</p:attrName>
                                        </p:attrNameLst>
                                      </p:cBhvr>
                                      <p:to>
                                        <p:strVal val="visible"/>
                                      </p:to>
                                    </p:set>
                                    <p:animEffect transition="in" filter="fade">
                                      <p:cBhvr>
                                        <p:cTn id="45" dur="1000"/>
                                        <p:tgtEl>
                                          <p:spTgt spid="6">
                                            <p:txEl>
                                              <p:pRg st="6" end="6"/>
                                            </p:txEl>
                                          </p:spTgt>
                                        </p:tgtEl>
                                      </p:cBhvr>
                                    </p:animEffect>
                                    <p:anim calcmode="lin" valueType="num">
                                      <p:cBhvr>
                                        <p:cTn id="46"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47"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barn(inVertical)">
                                      <p:cBhvr>
                                        <p:cTn id="52" dur="500"/>
                                        <p:tgtEl>
                                          <p:spTgt spid="13"/>
                                        </p:tgtEl>
                                      </p:cBhvr>
                                    </p:animEffect>
                                  </p:childTnLst>
                                </p:cTn>
                              </p:par>
                              <p:par>
                                <p:cTn id="53" presetID="16" presetClass="entr" presetSubtype="21" fill="hold" nodeType="with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barn(inVertical)">
                                      <p:cBhvr>
                                        <p:cTn id="55" dur="500"/>
                                        <p:tgtEl>
                                          <p:spTgt spid="11"/>
                                        </p:tgtEl>
                                      </p:cBhvr>
                                    </p:animEffect>
                                  </p:childTnLst>
                                </p:cTn>
                              </p:par>
                              <p:par>
                                <p:cTn id="56" presetID="16" presetClass="entr" presetSubtype="21" fill="hold" grpId="0" nodeType="with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barn(inVertical)">
                                      <p:cBhvr>
                                        <p:cTn id="58" dur="500"/>
                                        <p:tgtEl>
                                          <p:spTgt spid="12"/>
                                        </p:tgtEl>
                                      </p:cBhvr>
                                    </p:animEffect>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6">
                                            <p:txEl>
                                              <p:pRg st="8" end="8"/>
                                            </p:txEl>
                                          </p:spTgt>
                                        </p:tgtEl>
                                        <p:attrNameLst>
                                          <p:attrName>style.visibility</p:attrName>
                                        </p:attrNameLst>
                                      </p:cBhvr>
                                      <p:to>
                                        <p:strVal val="visible"/>
                                      </p:to>
                                    </p:set>
                                    <p:animEffect transition="in" filter="fade">
                                      <p:cBhvr>
                                        <p:cTn id="63" dur="1000"/>
                                        <p:tgtEl>
                                          <p:spTgt spid="6">
                                            <p:txEl>
                                              <p:pRg st="8" end="8"/>
                                            </p:txEl>
                                          </p:spTgt>
                                        </p:tgtEl>
                                      </p:cBhvr>
                                    </p:animEffect>
                                    <p:anim calcmode="lin" valueType="num">
                                      <p:cBhvr>
                                        <p:cTn id="64"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6">
                                            <p:txEl>
                                              <p:pRg st="8" end="8"/>
                                            </p:txEl>
                                          </p:spTgt>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7" dur="1" fill="hold">
                                          <p:stCondLst>
                                            <p:cond delay="0"/>
                                          </p:stCondLst>
                                        </p:cTn>
                                        <p:tgtEl>
                                          <p:spTgt spid="6">
                                            <p:txEl>
                                              <p:pRg st="9" end="9"/>
                                            </p:txEl>
                                          </p:spTgt>
                                        </p:tgtEl>
                                        <p:attrNameLst>
                                          <p:attrName>style.visibility</p:attrName>
                                        </p:attrNameLst>
                                      </p:cBhvr>
                                      <p:to>
                                        <p:strVal val="visible"/>
                                      </p:to>
                                    </p:set>
                                    <p:animEffect transition="in" filter="fade">
                                      <p:cBhvr>
                                        <p:cTn id="68" dur="1000"/>
                                        <p:tgtEl>
                                          <p:spTgt spid="6">
                                            <p:txEl>
                                              <p:pRg st="9" end="9"/>
                                            </p:txEl>
                                          </p:spTgt>
                                        </p:tgtEl>
                                      </p:cBhvr>
                                    </p:animEffect>
                                    <p:anim calcmode="lin" valueType="num">
                                      <p:cBhvr>
                                        <p:cTn id="69" dur="1000" fill="hold"/>
                                        <p:tgtEl>
                                          <p:spTgt spid="6">
                                            <p:txEl>
                                              <p:pRg st="9" end="9"/>
                                            </p:txEl>
                                          </p:spTgt>
                                        </p:tgtEl>
                                        <p:attrNameLst>
                                          <p:attrName>ppt_x</p:attrName>
                                        </p:attrNameLst>
                                      </p:cBhvr>
                                      <p:tavLst>
                                        <p:tav tm="0">
                                          <p:val>
                                            <p:strVal val="#ppt_x"/>
                                          </p:val>
                                        </p:tav>
                                        <p:tav tm="100000">
                                          <p:val>
                                            <p:strVal val="#ppt_x"/>
                                          </p:val>
                                        </p:tav>
                                      </p:tavLst>
                                    </p:anim>
                                    <p:anim calcmode="lin" valueType="num">
                                      <p:cBhvr>
                                        <p:cTn id="70" dur="1000" fill="hold"/>
                                        <p:tgtEl>
                                          <p:spTgt spid="6">
                                            <p:txEl>
                                              <p:pRg st="9" end="9"/>
                                            </p:txEl>
                                          </p:spTgt>
                                        </p:tgtEl>
                                        <p:attrNameLst>
                                          <p:attrName>ppt_y</p:attrName>
                                        </p:attrNameLst>
                                      </p:cBhvr>
                                      <p:tavLst>
                                        <p:tav tm="0">
                                          <p:val>
                                            <p:strVal val="#ppt_y+.1"/>
                                          </p:val>
                                        </p:tav>
                                        <p:tav tm="100000">
                                          <p:val>
                                            <p:strVal val="#ppt_y"/>
                                          </p:val>
                                        </p:tav>
                                      </p:tavLst>
                                    </p:anim>
                                  </p:childTnLst>
                                </p:cTn>
                              </p:par>
                              <p:par>
                                <p:cTn id="71" presetID="42" presetClass="entr" presetSubtype="0" fill="hold" nodeType="withEffect">
                                  <p:stCondLst>
                                    <p:cond delay="0"/>
                                  </p:stCondLst>
                                  <p:childTnLst>
                                    <p:set>
                                      <p:cBhvr>
                                        <p:cTn id="72" dur="1" fill="hold">
                                          <p:stCondLst>
                                            <p:cond delay="0"/>
                                          </p:stCondLst>
                                        </p:cTn>
                                        <p:tgtEl>
                                          <p:spTgt spid="6">
                                            <p:txEl>
                                              <p:pRg st="10" end="10"/>
                                            </p:txEl>
                                          </p:spTgt>
                                        </p:tgtEl>
                                        <p:attrNameLst>
                                          <p:attrName>style.visibility</p:attrName>
                                        </p:attrNameLst>
                                      </p:cBhvr>
                                      <p:to>
                                        <p:strVal val="visible"/>
                                      </p:to>
                                    </p:set>
                                    <p:animEffect transition="in" filter="fade">
                                      <p:cBhvr>
                                        <p:cTn id="73" dur="1000"/>
                                        <p:tgtEl>
                                          <p:spTgt spid="6">
                                            <p:txEl>
                                              <p:pRg st="10" end="10"/>
                                            </p:txEl>
                                          </p:spTgt>
                                        </p:tgtEl>
                                      </p:cBhvr>
                                    </p:animEffect>
                                    <p:anim calcmode="lin" valueType="num">
                                      <p:cBhvr>
                                        <p:cTn id="74" dur="1000" fill="hold"/>
                                        <p:tgtEl>
                                          <p:spTgt spid="6">
                                            <p:txEl>
                                              <p:pRg st="10" end="10"/>
                                            </p:txEl>
                                          </p:spTgt>
                                        </p:tgtEl>
                                        <p:attrNameLst>
                                          <p:attrName>ppt_x</p:attrName>
                                        </p:attrNameLst>
                                      </p:cBhvr>
                                      <p:tavLst>
                                        <p:tav tm="0">
                                          <p:val>
                                            <p:strVal val="#ppt_x"/>
                                          </p:val>
                                        </p:tav>
                                        <p:tav tm="100000">
                                          <p:val>
                                            <p:strVal val="#ppt_x"/>
                                          </p:val>
                                        </p:tav>
                                      </p:tavLst>
                                    </p:anim>
                                    <p:anim calcmode="lin" valueType="num">
                                      <p:cBhvr>
                                        <p:cTn id="75" dur="1000" fill="hold"/>
                                        <p:tgtEl>
                                          <p:spTgt spid="6">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16" presetClass="entr" presetSubtype="21" fill="hold" grpId="0" nodeType="clickEffect">
                                  <p:stCondLst>
                                    <p:cond delay="0"/>
                                  </p:stCondLst>
                                  <p:childTnLst>
                                    <p:set>
                                      <p:cBhvr>
                                        <p:cTn id="79" dur="1" fill="hold">
                                          <p:stCondLst>
                                            <p:cond delay="0"/>
                                          </p:stCondLst>
                                        </p:cTn>
                                        <p:tgtEl>
                                          <p:spTgt spid="16"/>
                                        </p:tgtEl>
                                        <p:attrNameLst>
                                          <p:attrName>style.visibility</p:attrName>
                                        </p:attrNameLst>
                                      </p:cBhvr>
                                      <p:to>
                                        <p:strVal val="visible"/>
                                      </p:to>
                                    </p:set>
                                    <p:animEffect transition="in" filter="barn(inVertical)">
                                      <p:cBhvr>
                                        <p:cTn id="80" dur="500"/>
                                        <p:tgtEl>
                                          <p:spTgt spid="16"/>
                                        </p:tgtEl>
                                      </p:cBhvr>
                                    </p:animEffect>
                                  </p:childTnLst>
                                </p:cTn>
                              </p:par>
                              <p:par>
                                <p:cTn id="81" presetID="16" presetClass="entr" presetSubtype="21" fill="hold" nodeType="withEffect">
                                  <p:stCondLst>
                                    <p:cond delay="0"/>
                                  </p:stCondLst>
                                  <p:childTnLst>
                                    <p:set>
                                      <p:cBhvr>
                                        <p:cTn id="82" dur="1" fill="hold">
                                          <p:stCondLst>
                                            <p:cond delay="0"/>
                                          </p:stCondLst>
                                        </p:cTn>
                                        <p:tgtEl>
                                          <p:spTgt spid="14"/>
                                        </p:tgtEl>
                                        <p:attrNameLst>
                                          <p:attrName>style.visibility</p:attrName>
                                        </p:attrNameLst>
                                      </p:cBhvr>
                                      <p:to>
                                        <p:strVal val="visible"/>
                                      </p:to>
                                    </p:set>
                                    <p:animEffect transition="in" filter="barn(inVertical)">
                                      <p:cBhvr>
                                        <p:cTn id="83" dur="500"/>
                                        <p:tgtEl>
                                          <p:spTgt spid="14"/>
                                        </p:tgtEl>
                                      </p:cBhvr>
                                    </p:animEffect>
                                  </p:childTnLst>
                                </p:cTn>
                              </p:par>
                              <p:par>
                                <p:cTn id="84" presetID="16" presetClass="entr" presetSubtype="21" fill="hold" grpId="0" nodeType="withEffect">
                                  <p:stCondLst>
                                    <p:cond delay="0"/>
                                  </p:stCondLst>
                                  <p:childTnLst>
                                    <p:set>
                                      <p:cBhvr>
                                        <p:cTn id="85" dur="1" fill="hold">
                                          <p:stCondLst>
                                            <p:cond delay="0"/>
                                          </p:stCondLst>
                                        </p:cTn>
                                        <p:tgtEl>
                                          <p:spTgt spid="15"/>
                                        </p:tgtEl>
                                        <p:attrNameLst>
                                          <p:attrName>style.visibility</p:attrName>
                                        </p:attrNameLst>
                                      </p:cBhvr>
                                      <p:to>
                                        <p:strVal val="visible"/>
                                      </p:to>
                                    </p:set>
                                    <p:animEffect transition="in" filter="barn(inVertical)">
                                      <p:cBhvr>
                                        <p:cTn id="8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P spid="13" grpId="0"/>
      <p:bldP spid="15" grpId="0"/>
      <p:bldP spid="1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Illustration continues…</a:t>
            </a:r>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26</a:t>
            </a:fld>
            <a:endParaRPr lang="en-US"/>
          </a:p>
        </p:txBody>
      </p:sp>
      <p:sp>
        <p:nvSpPr>
          <p:cNvPr id="6" name="Content Placeholder 5"/>
          <p:cNvSpPr>
            <a:spLocks noGrp="1"/>
          </p:cNvSpPr>
          <p:nvPr>
            <p:ph sz="quarter" idx="1"/>
          </p:nvPr>
        </p:nvSpPr>
        <p:spPr/>
        <p:txBody>
          <a:bodyPr>
            <a:normAutofit fontScale="85000" lnSpcReduction="20000"/>
          </a:bodyPr>
          <a:lstStyle/>
          <a:p>
            <a:pPr marL="0" indent="0">
              <a:buNone/>
            </a:pPr>
            <a:r>
              <a:rPr lang="en-US" dirty="0" err="1"/>
              <a:t>len</a:t>
            </a:r>
            <a:r>
              <a:rPr lang="en-US" dirty="0"/>
              <a:t> = 0, i = 4. </a:t>
            </a:r>
          </a:p>
          <a:p>
            <a:pPr marL="0" indent="0">
              <a:buNone/>
            </a:pPr>
            <a:r>
              <a:rPr lang="en-US" dirty="0"/>
              <a:t>Since pat[</a:t>
            </a:r>
            <a:r>
              <a:rPr lang="en-US" dirty="0" err="1"/>
              <a:t>len</a:t>
            </a:r>
            <a:r>
              <a:rPr lang="en-US" dirty="0"/>
              <a:t>] and pat[i] match, do </a:t>
            </a:r>
            <a:r>
              <a:rPr lang="en-US" dirty="0" err="1"/>
              <a:t>len</a:t>
            </a:r>
            <a:r>
              <a:rPr lang="en-US" dirty="0"/>
              <a:t>++, </a:t>
            </a:r>
          </a:p>
          <a:p>
            <a:pPr marL="0" indent="0">
              <a:buNone/>
            </a:pPr>
            <a:r>
              <a:rPr lang="en-US" dirty="0"/>
              <a:t>store it in </a:t>
            </a:r>
            <a:r>
              <a:rPr lang="en-US" dirty="0" err="1"/>
              <a:t>lps</a:t>
            </a:r>
            <a:r>
              <a:rPr lang="en-US" dirty="0"/>
              <a:t>[i] and do i++. </a:t>
            </a:r>
          </a:p>
          <a:p>
            <a:pPr marL="0" indent="0">
              <a:buNone/>
            </a:pPr>
            <a:r>
              <a:rPr lang="en-US" dirty="0" err="1"/>
              <a:t>len</a:t>
            </a:r>
            <a:r>
              <a:rPr lang="en-US" dirty="0"/>
              <a:t> = 1, </a:t>
            </a:r>
            <a:r>
              <a:rPr lang="en-US" b="1" dirty="0" err="1"/>
              <a:t>lps</a:t>
            </a:r>
            <a:r>
              <a:rPr lang="en-US" b="1" dirty="0"/>
              <a:t>[4] = 1</a:t>
            </a:r>
            <a:r>
              <a:rPr lang="en-US" dirty="0"/>
              <a:t>, </a:t>
            </a:r>
          </a:p>
          <a:p>
            <a:pPr marL="0" indent="0">
              <a:buNone/>
            </a:pPr>
            <a:endParaRPr lang="en-US" dirty="0" smtClean="0"/>
          </a:p>
          <a:p>
            <a:pPr marL="0" indent="0">
              <a:buNone/>
            </a:pPr>
            <a:r>
              <a:rPr lang="en-US" dirty="0" smtClean="0"/>
              <a:t>i </a:t>
            </a:r>
            <a:r>
              <a:rPr lang="en-US" dirty="0"/>
              <a:t>= 5 </a:t>
            </a:r>
            <a:r>
              <a:rPr lang="en-US" dirty="0" err="1"/>
              <a:t>len</a:t>
            </a:r>
            <a:r>
              <a:rPr lang="en-US" dirty="0"/>
              <a:t> = 1, i = 5. </a:t>
            </a:r>
            <a:endParaRPr lang="en-US" dirty="0" smtClean="0"/>
          </a:p>
          <a:p>
            <a:pPr marL="0" indent="0">
              <a:buNone/>
            </a:pPr>
            <a:r>
              <a:rPr lang="en-US" dirty="0" smtClean="0"/>
              <a:t>Since </a:t>
            </a:r>
            <a:r>
              <a:rPr lang="en-US" dirty="0"/>
              <a:t>pat[</a:t>
            </a:r>
            <a:r>
              <a:rPr lang="en-US" dirty="0" err="1"/>
              <a:t>len</a:t>
            </a:r>
            <a:r>
              <a:rPr lang="en-US" dirty="0"/>
              <a:t>] and pat[i] match, do </a:t>
            </a:r>
            <a:r>
              <a:rPr lang="en-US" dirty="0" err="1"/>
              <a:t>len</a:t>
            </a:r>
            <a:r>
              <a:rPr lang="en-US" dirty="0"/>
              <a:t>++, </a:t>
            </a:r>
            <a:endParaRPr lang="en-US" dirty="0" smtClean="0"/>
          </a:p>
          <a:p>
            <a:pPr marL="0" indent="0">
              <a:buNone/>
            </a:pPr>
            <a:r>
              <a:rPr lang="en-US" dirty="0" smtClean="0"/>
              <a:t>store </a:t>
            </a:r>
            <a:r>
              <a:rPr lang="en-US" dirty="0"/>
              <a:t>it in </a:t>
            </a:r>
            <a:r>
              <a:rPr lang="en-US" dirty="0" err="1"/>
              <a:t>lps</a:t>
            </a:r>
            <a:r>
              <a:rPr lang="en-US" dirty="0"/>
              <a:t>[i] and do i++. </a:t>
            </a:r>
            <a:endParaRPr lang="en-US" dirty="0" smtClean="0"/>
          </a:p>
          <a:p>
            <a:pPr marL="0" indent="0">
              <a:buNone/>
            </a:pPr>
            <a:r>
              <a:rPr lang="en-US" dirty="0" err="1" smtClean="0"/>
              <a:t>len</a:t>
            </a:r>
            <a:r>
              <a:rPr lang="en-US" dirty="0" smtClean="0"/>
              <a:t> </a:t>
            </a:r>
            <a:r>
              <a:rPr lang="en-US" dirty="0"/>
              <a:t>= 2, </a:t>
            </a:r>
            <a:r>
              <a:rPr lang="en-US" b="1" dirty="0" err="1"/>
              <a:t>lps</a:t>
            </a:r>
            <a:r>
              <a:rPr lang="en-US" b="1" dirty="0"/>
              <a:t>[5] = 2</a:t>
            </a:r>
            <a:r>
              <a:rPr lang="en-US" dirty="0"/>
              <a:t>, </a:t>
            </a:r>
            <a:endParaRPr lang="en-US" dirty="0" smtClean="0"/>
          </a:p>
          <a:p>
            <a:pPr marL="0" indent="0">
              <a:buNone/>
            </a:pPr>
            <a:endParaRPr lang="en-US" dirty="0"/>
          </a:p>
          <a:p>
            <a:pPr marL="0" indent="0">
              <a:buNone/>
            </a:pPr>
            <a:r>
              <a:rPr lang="en-US" dirty="0" smtClean="0"/>
              <a:t>i </a:t>
            </a:r>
            <a:r>
              <a:rPr lang="en-US" dirty="0"/>
              <a:t>= 6 </a:t>
            </a:r>
            <a:r>
              <a:rPr lang="en-US" dirty="0" err="1"/>
              <a:t>len</a:t>
            </a:r>
            <a:r>
              <a:rPr lang="en-US" dirty="0"/>
              <a:t> = 2, i = 6. </a:t>
            </a:r>
            <a:endParaRPr lang="en-US" dirty="0" smtClean="0"/>
          </a:p>
          <a:p>
            <a:pPr marL="0" indent="0">
              <a:buNone/>
            </a:pPr>
            <a:r>
              <a:rPr lang="en-US" dirty="0" smtClean="0"/>
              <a:t>Since </a:t>
            </a:r>
            <a:r>
              <a:rPr lang="en-US" dirty="0"/>
              <a:t>pat[</a:t>
            </a:r>
            <a:r>
              <a:rPr lang="en-US" dirty="0" err="1"/>
              <a:t>len</a:t>
            </a:r>
            <a:r>
              <a:rPr lang="en-US" dirty="0"/>
              <a:t>] and pat[i] match, do </a:t>
            </a:r>
            <a:r>
              <a:rPr lang="en-US" dirty="0" err="1"/>
              <a:t>len</a:t>
            </a:r>
            <a:r>
              <a:rPr lang="en-US" dirty="0"/>
              <a:t>++, </a:t>
            </a:r>
            <a:endParaRPr lang="en-US" dirty="0" smtClean="0"/>
          </a:p>
          <a:p>
            <a:pPr marL="0" indent="0">
              <a:buNone/>
            </a:pPr>
            <a:r>
              <a:rPr lang="en-US" dirty="0" smtClean="0"/>
              <a:t>store </a:t>
            </a:r>
            <a:r>
              <a:rPr lang="en-US" dirty="0"/>
              <a:t>it in </a:t>
            </a:r>
            <a:r>
              <a:rPr lang="en-US" dirty="0" err="1"/>
              <a:t>lps</a:t>
            </a:r>
            <a:r>
              <a:rPr lang="en-US" dirty="0"/>
              <a:t>[i] and do i++. </a:t>
            </a:r>
            <a:endParaRPr lang="en-US" dirty="0" smtClean="0"/>
          </a:p>
          <a:p>
            <a:pPr marL="0" indent="0">
              <a:buNone/>
            </a:pPr>
            <a:r>
              <a:rPr lang="en-US" dirty="0" err="1" smtClean="0"/>
              <a:t>len</a:t>
            </a:r>
            <a:r>
              <a:rPr lang="en-US" dirty="0" smtClean="0"/>
              <a:t> </a:t>
            </a:r>
            <a:r>
              <a:rPr lang="en-US" dirty="0"/>
              <a:t>= 3, </a:t>
            </a:r>
            <a:r>
              <a:rPr lang="en-US" b="1" dirty="0" err="1"/>
              <a:t>lps</a:t>
            </a:r>
            <a:r>
              <a:rPr lang="en-US" b="1" dirty="0"/>
              <a:t>[6] = 3</a:t>
            </a:r>
            <a:r>
              <a:rPr lang="en-US" dirty="0"/>
              <a:t>, </a:t>
            </a:r>
            <a:endParaRPr lang="en-US" dirty="0" smtClean="0"/>
          </a:p>
          <a:p>
            <a:pPr marL="0" indent="0">
              <a:buNone/>
            </a:pPr>
            <a:endParaRPr lang="en-US" dirty="0"/>
          </a:p>
          <a:p>
            <a:pPr marL="0" indent="0">
              <a:buNone/>
            </a:pP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3253022946"/>
              </p:ext>
            </p:extLst>
          </p:nvPr>
        </p:nvGraphicFramePr>
        <p:xfrm>
          <a:off x="5181600" y="1752600"/>
          <a:ext cx="4038600" cy="365760"/>
        </p:xfrm>
        <a:graphic>
          <a:graphicData uri="http://schemas.openxmlformats.org/drawingml/2006/table">
            <a:tbl>
              <a:tblPr firstRow="1" bandRow="1">
                <a:tableStyleId>{616DA210-FB5B-4158-B5E0-FEB733F419BA}</a:tableStyleId>
              </a:tblPr>
              <a:tblGrid>
                <a:gridCol w="504825"/>
                <a:gridCol w="504825"/>
                <a:gridCol w="504825"/>
                <a:gridCol w="504825"/>
                <a:gridCol w="504825"/>
                <a:gridCol w="504825"/>
                <a:gridCol w="504825"/>
                <a:gridCol w="504825"/>
              </a:tblGrid>
              <a:tr h="30480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2</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r>
            </a:tbl>
          </a:graphicData>
        </a:graphic>
      </p:graphicFrame>
      <p:sp>
        <p:nvSpPr>
          <p:cNvPr id="8" name="TextBox 7"/>
          <p:cNvSpPr txBox="1"/>
          <p:nvPr/>
        </p:nvSpPr>
        <p:spPr>
          <a:xfrm>
            <a:off x="5379535" y="2286000"/>
            <a:ext cx="3801041" cy="369332"/>
          </a:xfrm>
          <a:prstGeom prst="rect">
            <a:avLst/>
          </a:prstGeom>
          <a:noFill/>
        </p:spPr>
        <p:txBody>
          <a:bodyPr wrap="none" rtlCol="0">
            <a:spAutoFit/>
          </a:bodyPr>
          <a:lstStyle/>
          <a:p>
            <a:r>
              <a:rPr lang="en-US" dirty="0" smtClean="0"/>
              <a:t>0     1      2       3      4     5      6       7</a:t>
            </a:r>
            <a:endParaRPr lang="en-US" dirty="0"/>
          </a:p>
        </p:txBody>
      </p:sp>
      <p:sp>
        <p:nvSpPr>
          <p:cNvPr id="9" name="TextBox 8"/>
          <p:cNvSpPr txBox="1"/>
          <p:nvPr/>
        </p:nvSpPr>
        <p:spPr>
          <a:xfrm>
            <a:off x="5200640" y="1295400"/>
            <a:ext cx="3979936" cy="369332"/>
          </a:xfrm>
          <a:prstGeom prst="rect">
            <a:avLst/>
          </a:prstGeom>
          <a:noFill/>
        </p:spPr>
        <p:txBody>
          <a:bodyPr wrap="none" rtlCol="0">
            <a:spAutoFit/>
          </a:bodyPr>
          <a:lstStyle/>
          <a:p>
            <a:r>
              <a:rPr lang="en-US" dirty="0" smtClean="0">
                <a:solidFill>
                  <a:srgbClr val="00B050"/>
                </a:solidFill>
              </a:rPr>
              <a:t>A</a:t>
            </a:r>
            <a:r>
              <a:rPr lang="en-US" dirty="0" smtClean="0"/>
              <a:t>     </a:t>
            </a:r>
            <a:r>
              <a:rPr lang="en-US" dirty="0" err="1" smtClean="0"/>
              <a:t>A</a:t>
            </a:r>
            <a:r>
              <a:rPr lang="en-US" dirty="0" smtClean="0"/>
              <a:t>      </a:t>
            </a:r>
            <a:r>
              <a:rPr lang="en-US" dirty="0" err="1" smtClean="0"/>
              <a:t>A</a:t>
            </a:r>
            <a:r>
              <a:rPr lang="en-US" dirty="0" smtClean="0"/>
              <a:t>      C     </a:t>
            </a:r>
            <a:r>
              <a:rPr lang="en-US" dirty="0" smtClean="0">
                <a:solidFill>
                  <a:srgbClr val="00B050"/>
                </a:solidFill>
              </a:rPr>
              <a:t> A</a:t>
            </a:r>
            <a:r>
              <a:rPr lang="en-US" dirty="0" smtClean="0"/>
              <a:t>      </a:t>
            </a:r>
            <a:r>
              <a:rPr lang="en-US" dirty="0" err="1" smtClean="0"/>
              <a:t>A</a:t>
            </a:r>
            <a:r>
              <a:rPr lang="en-US" dirty="0" smtClean="0"/>
              <a:t>       </a:t>
            </a:r>
            <a:r>
              <a:rPr lang="en-US" dirty="0" err="1" smtClean="0"/>
              <a:t>A</a:t>
            </a:r>
            <a:r>
              <a:rPr lang="en-US" dirty="0" smtClean="0"/>
              <a:t>      </a:t>
            </a:r>
            <a:r>
              <a:rPr lang="en-US" dirty="0" err="1" smtClean="0"/>
              <a:t>A</a:t>
            </a:r>
            <a:endParaRPr lang="en-US" dirty="0"/>
          </a:p>
        </p:txBody>
      </p:sp>
      <p:graphicFrame>
        <p:nvGraphicFramePr>
          <p:cNvPr id="10" name="Table 9"/>
          <p:cNvGraphicFramePr>
            <a:graphicFrameLocks noGrp="1"/>
          </p:cNvGraphicFramePr>
          <p:nvPr>
            <p:extLst>
              <p:ext uri="{D42A27DB-BD31-4B8C-83A1-F6EECF244321}">
                <p14:modId xmlns:p14="http://schemas.microsoft.com/office/powerpoint/2010/main" val="176244933"/>
              </p:ext>
            </p:extLst>
          </p:nvPr>
        </p:nvGraphicFramePr>
        <p:xfrm>
          <a:off x="5105400" y="3440668"/>
          <a:ext cx="4038600" cy="365760"/>
        </p:xfrm>
        <a:graphic>
          <a:graphicData uri="http://schemas.openxmlformats.org/drawingml/2006/table">
            <a:tbl>
              <a:tblPr firstRow="1" bandRow="1">
                <a:tableStyleId>{616DA210-FB5B-4158-B5E0-FEB733F419BA}</a:tableStyleId>
              </a:tblPr>
              <a:tblGrid>
                <a:gridCol w="504825"/>
                <a:gridCol w="504825"/>
                <a:gridCol w="504825"/>
                <a:gridCol w="504825"/>
                <a:gridCol w="504825"/>
                <a:gridCol w="504825"/>
                <a:gridCol w="504825"/>
                <a:gridCol w="504825"/>
              </a:tblGrid>
              <a:tr h="30480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2</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2</a:t>
                      </a:r>
                      <a:endParaRPr lang="en-US" dirty="0"/>
                    </a:p>
                  </a:txBody>
                  <a:tcPr/>
                </a:tc>
                <a:tc>
                  <a:txBody>
                    <a:bodyPr/>
                    <a:lstStyle/>
                    <a:p>
                      <a:endParaRPr lang="en-US"/>
                    </a:p>
                  </a:txBody>
                  <a:tcPr/>
                </a:tc>
                <a:tc>
                  <a:txBody>
                    <a:bodyPr/>
                    <a:lstStyle/>
                    <a:p>
                      <a:endParaRPr lang="en-US" dirty="0"/>
                    </a:p>
                  </a:txBody>
                  <a:tcPr/>
                </a:tc>
              </a:tr>
            </a:tbl>
          </a:graphicData>
        </a:graphic>
      </p:graphicFrame>
      <p:sp>
        <p:nvSpPr>
          <p:cNvPr id="11" name="TextBox 10"/>
          <p:cNvSpPr txBox="1"/>
          <p:nvPr/>
        </p:nvSpPr>
        <p:spPr>
          <a:xfrm>
            <a:off x="5303335" y="3974068"/>
            <a:ext cx="3801041" cy="369332"/>
          </a:xfrm>
          <a:prstGeom prst="rect">
            <a:avLst/>
          </a:prstGeom>
          <a:noFill/>
        </p:spPr>
        <p:txBody>
          <a:bodyPr wrap="none" rtlCol="0">
            <a:spAutoFit/>
          </a:bodyPr>
          <a:lstStyle/>
          <a:p>
            <a:r>
              <a:rPr lang="en-US" dirty="0" smtClean="0"/>
              <a:t>0     1      2       3      4     5      6       7</a:t>
            </a:r>
            <a:endParaRPr lang="en-US" dirty="0"/>
          </a:p>
        </p:txBody>
      </p:sp>
      <p:sp>
        <p:nvSpPr>
          <p:cNvPr id="12" name="TextBox 11"/>
          <p:cNvSpPr txBox="1"/>
          <p:nvPr/>
        </p:nvSpPr>
        <p:spPr>
          <a:xfrm>
            <a:off x="5124440" y="2983468"/>
            <a:ext cx="3979936" cy="369332"/>
          </a:xfrm>
          <a:prstGeom prst="rect">
            <a:avLst/>
          </a:prstGeom>
          <a:noFill/>
        </p:spPr>
        <p:txBody>
          <a:bodyPr wrap="none" rtlCol="0">
            <a:spAutoFit/>
          </a:bodyPr>
          <a:lstStyle/>
          <a:p>
            <a:r>
              <a:rPr lang="en-US" dirty="0" smtClean="0"/>
              <a:t>A     </a:t>
            </a:r>
            <a:r>
              <a:rPr lang="en-US" dirty="0" err="1" smtClean="0">
                <a:solidFill>
                  <a:srgbClr val="00B050"/>
                </a:solidFill>
              </a:rPr>
              <a:t>A</a:t>
            </a:r>
            <a:r>
              <a:rPr lang="en-US" dirty="0" smtClean="0"/>
              <a:t>      </a:t>
            </a:r>
            <a:r>
              <a:rPr lang="en-US" dirty="0" err="1" smtClean="0"/>
              <a:t>A</a:t>
            </a:r>
            <a:r>
              <a:rPr lang="en-US" dirty="0" smtClean="0"/>
              <a:t>      C      A      </a:t>
            </a:r>
            <a:r>
              <a:rPr lang="en-US" dirty="0" err="1" smtClean="0">
                <a:solidFill>
                  <a:srgbClr val="00B050"/>
                </a:solidFill>
              </a:rPr>
              <a:t>A</a:t>
            </a:r>
            <a:r>
              <a:rPr lang="en-US" dirty="0" smtClean="0"/>
              <a:t>       </a:t>
            </a:r>
            <a:r>
              <a:rPr lang="en-US" dirty="0" err="1" smtClean="0"/>
              <a:t>A</a:t>
            </a:r>
            <a:r>
              <a:rPr lang="en-US" dirty="0" smtClean="0"/>
              <a:t>      </a:t>
            </a:r>
            <a:r>
              <a:rPr lang="en-US" dirty="0" err="1" smtClean="0"/>
              <a:t>A</a:t>
            </a:r>
            <a:endParaRPr lang="en-US" dirty="0"/>
          </a:p>
        </p:txBody>
      </p:sp>
      <p:graphicFrame>
        <p:nvGraphicFramePr>
          <p:cNvPr id="13" name="Table 12"/>
          <p:cNvGraphicFramePr>
            <a:graphicFrameLocks noGrp="1"/>
          </p:cNvGraphicFramePr>
          <p:nvPr>
            <p:extLst>
              <p:ext uri="{D42A27DB-BD31-4B8C-83A1-F6EECF244321}">
                <p14:modId xmlns:p14="http://schemas.microsoft.com/office/powerpoint/2010/main" val="313949684"/>
              </p:ext>
            </p:extLst>
          </p:nvPr>
        </p:nvGraphicFramePr>
        <p:xfrm>
          <a:off x="5105400" y="5498068"/>
          <a:ext cx="4038600" cy="365760"/>
        </p:xfrm>
        <a:graphic>
          <a:graphicData uri="http://schemas.openxmlformats.org/drawingml/2006/table">
            <a:tbl>
              <a:tblPr firstRow="1" bandRow="1">
                <a:tableStyleId>{616DA210-FB5B-4158-B5E0-FEB733F419BA}</a:tableStyleId>
              </a:tblPr>
              <a:tblGrid>
                <a:gridCol w="504825"/>
                <a:gridCol w="504825"/>
                <a:gridCol w="504825"/>
                <a:gridCol w="504825"/>
                <a:gridCol w="504825"/>
                <a:gridCol w="504825"/>
                <a:gridCol w="504825"/>
                <a:gridCol w="504825"/>
              </a:tblGrid>
              <a:tr h="30480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2</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2</a:t>
                      </a:r>
                      <a:endParaRPr lang="en-US" dirty="0"/>
                    </a:p>
                  </a:txBody>
                  <a:tcPr/>
                </a:tc>
                <a:tc>
                  <a:txBody>
                    <a:bodyPr/>
                    <a:lstStyle/>
                    <a:p>
                      <a:r>
                        <a:rPr lang="en-US" dirty="0" smtClean="0"/>
                        <a:t>3</a:t>
                      </a:r>
                      <a:endParaRPr lang="en-US" dirty="0"/>
                    </a:p>
                  </a:txBody>
                  <a:tcPr/>
                </a:tc>
                <a:tc>
                  <a:txBody>
                    <a:bodyPr/>
                    <a:lstStyle/>
                    <a:p>
                      <a:endParaRPr lang="en-US" dirty="0"/>
                    </a:p>
                  </a:txBody>
                  <a:tcPr/>
                </a:tc>
              </a:tr>
            </a:tbl>
          </a:graphicData>
        </a:graphic>
      </p:graphicFrame>
      <p:sp>
        <p:nvSpPr>
          <p:cNvPr id="14" name="TextBox 13"/>
          <p:cNvSpPr txBox="1"/>
          <p:nvPr/>
        </p:nvSpPr>
        <p:spPr>
          <a:xfrm>
            <a:off x="5303335" y="6031468"/>
            <a:ext cx="3801041" cy="369332"/>
          </a:xfrm>
          <a:prstGeom prst="rect">
            <a:avLst/>
          </a:prstGeom>
          <a:noFill/>
        </p:spPr>
        <p:txBody>
          <a:bodyPr wrap="none" rtlCol="0">
            <a:spAutoFit/>
          </a:bodyPr>
          <a:lstStyle/>
          <a:p>
            <a:r>
              <a:rPr lang="en-US" dirty="0" smtClean="0"/>
              <a:t>0     1      2       3      4     5      6       7</a:t>
            </a:r>
            <a:endParaRPr lang="en-US" dirty="0"/>
          </a:p>
        </p:txBody>
      </p:sp>
      <p:sp>
        <p:nvSpPr>
          <p:cNvPr id="15" name="TextBox 14"/>
          <p:cNvSpPr txBox="1"/>
          <p:nvPr/>
        </p:nvSpPr>
        <p:spPr>
          <a:xfrm>
            <a:off x="5124440" y="5040868"/>
            <a:ext cx="3979936" cy="369332"/>
          </a:xfrm>
          <a:prstGeom prst="rect">
            <a:avLst/>
          </a:prstGeom>
          <a:noFill/>
        </p:spPr>
        <p:txBody>
          <a:bodyPr wrap="none" rtlCol="0">
            <a:spAutoFit/>
          </a:bodyPr>
          <a:lstStyle/>
          <a:p>
            <a:r>
              <a:rPr lang="en-US" dirty="0" smtClean="0"/>
              <a:t>A     </a:t>
            </a:r>
            <a:r>
              <a:rPr lang="en-US" dirty="0" err="1" smtClean="0"/>
              <a:t>A</a:t>
            </a:r>
            <a:r>
              <a:rPr lang="en-US" dirty="0" smtClean="0"/>
              <a:t>      </a:t>
            </a:r>
            <a:r>
              <a:rPr lang="en-US" dirty="0" err="1" smtClean="0">
                <a:solidFill>
                  <a:srgbClr val="00B050"/>
                </a:solidFill>
              </a:rPr>
              <a:t>A</a:t>
            </a:r>
            <a:r>
              <a:rPr lang="en-US" dirty="0" smtClean="0">
                <a:solidFill>
                  <a:srgbClr val="00B050"/>
                </a:solidFill>
              </a:rPr>
              <a:t> </a:t>
            </a:r>
            <a:r>
              <a:rPr lang="en-US" dirty="0" smtClean="0"/>
              <a:t>     C      A      </a:t>
            </a:r>
            <a:r>
              <a:rPr lang="en-US" dirty="0" err="1" smtClean="0"/>
              <a:t>A</a:t>
            </a:r>
            <a:r>
              <a:rPr lang="en-US" dirty="0" smtClean="0"/>
              <a:t>      </a:t>
            </a:r>
            <a:r>
              <a:rPr lang="en-US" dirty="0" smtClean="0">
                <a:solidFill>
                  <a:srgbClr val="00B050"/>
                </a:solidFill>
              </a:rPr>
              <a:t> </a:t>
            </a:r>
            <a:r>
              <a:rPr lang="en-US" dirty="0" err="1" smtClean="0">
                <a:solidFill>
                  <a:srgbClr val="00B050"/>
                </a:solidFill>
              </a:rPr>
              <a:t>A</a:t>
            </a:r>
            <a:r>
              <a:rPr lang="en-US" dirty="0" smtClean="0">
                <a:solidFill>
                  <a:srgbClr val="00B050"/>
                </a:solidFill>
              </a:rPr>
              <a:t>      </a:t>
            </a:r>
            <a:r>
              <a:rPr lang="en-US" dirty="0" err="1" smtClean="0"/>
              <a:t>A</a:t>
            </a:r>
            <a:endParaRPr lang="en-US" dirty="0"/>
          </a:p>
        </p:txBody>
      </p:sp>
    </p:spTree>
    <p:extLst>
      <p:ext uri="{BB962C8B-B14F-4D97-AF65-F5344CB8AC3E}">
        <p14:creationId xmlns:p14="http://schemas.microsoft.com/office/powerpoint/2010/main" val="1221393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1000"/>
                                        <p:tgtEl>
                                          <p:spTgt spid="6">
                                            <p:txEl>
                                              <p:pRg st="1" end="1"/>
                                            </p:txEl>
                                          </p:spTgt>
                                        </p:tgtEl>
                                      </p:cBhvr>
                                    </p:animEffect>
                                    <p:anim calcmode="lin" valueType="num">
                                      <p:cBhvr>
                                        <p:cTn id="13"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1000"/>
                                        <p:tgtEl>
                                          <p:spTgt spid="6">
                                            <p:txEl>
                                              <p:pRg st="2" end="2"/>
                                            </p:txEl>
                                          </p:spTgt>
                                        </p:tgtEl>
                                      </p:cBhvr>
                                    </p:animEffect>
                                    <p:anim calcmode="lin" valueType="num">
                                      <p:cBhvr>
                                        <p:cTn id="1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1000"/>
                                        <p:tgtEl>
                                          <p:spTgt spid="6">
                                            <p:txEl>
                                              <p:pRg st="3" end="3"/>
                                            </p:txEl>
                                          </p:spTgt>
                                        </p:tgtEl>
                                      </p:cBhvr>
                                    </p:animEffect>
                                    <p:anim calcmode="lin" valueType="num">
                                      <p:cBhvr>
                                        <p:cTn id="23"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barn(inVertical)">
                                      <p:cBhvr>
                                        <p:cTn id="29" dur="500"/>
                                        <p:tgtEl>
                                          <p:spTgt spid="9"/>
                                        </p:tgtEl>
                                      </p:cBhvr>
                                    </p:animEffect>
                                  </p:childTnLst>
                                </p:cTn>
                              </p:par>
                              <p:par>
                                <p:cTn id="30" presetID="16" presetClass="entr" presetSubtype="21" fill="hold"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arn(inVertical)">
                                      <p:cBhvr>
                                        <p:cTn id="32" dur="500"/>
                                        <p:tgtEl>
                                          <p:spTgt spid="7"/>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barn(inVertical)">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6">
                                            <p:txEl>
                                              <p:pRg st="5" end="5"/>
                                            </p:txEl>
                                          </p:spTgt>
                                        </p:tgtEl>
                                        <p:attrNameLst>
                                          <p:attrName>style.visibility</p:attrName>
                                        </p:attrNameLst>
                                      </p:cBhvr>
                                      <p:to>
                                        <p:strVal val="visible"/>
                                      </p:to>
                                    </p:set>
                                    <p:animEffect transition="in" filter="fade">
                                      <p:cBhvr>
                                        <p:cTn id="40" dur="1000"/>
                                        <p:tgtEl>
                                          <p:spTgt spid="6">
                                            <p:txEl>
                                              <p:pRg st="5" end="5"/>
                                            </p:txEl>
                                          </p:spTgt>
                                        </p:tgtEl>
                                      </p:cBhvr>
                                    </p:animEffect>
                                    <p:anim calcmode="lin" valueType="num">
                                      <p:cBhvr>
                                        <p:cTn id="41"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6">
                                            <p:txEl>
                                              <p:pRg st="5" end="5"/>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6">
                                            <p:txEl>
                                              <p:pRg st="6" end="6"/>
                                            </p:txEl>
                                          </p:spTgt>
                                        </p:tgtEl>
                                        <p:attrNameLst>
                                          <p:attrName>style.visibility</p:attrName>
                                        </p:attrNameLst>
                                      </p:cBhvr>
                                      <p:to>
                                        <p:strVal val="visible"/>
                                      </p:to>
                                    </p:set>
                                    <p:animEffect transition="in" filter="fade">
                                      <p:cBhvr>
                                        <p:cTn id="45" dur="1000"/>
                                        <p:tgtEl>
                                          <p:spTgt spid="6">
                                            <p:txEl>
                                              <p:pRg st="6" end="6"/>
                                            </p:txEl>
                                          </p:spTgt>
                                        </p:tgtEl>
                                      </p:cBhvr>
                                    </p:animEffect>
                                    <p:anim calcmode="lin" valueType="num">
                                      <p:cBhvr>
                                        <p:cTn id="46"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47" dur="1000" fill="hold"/>
                                        <p:tgtEl>
                                          <p:spTgt spid="6">
                                            <p:txEl>
                                              <p:pRg st="6" end="6"/>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6">
                                            <p:txEl>
                                              <p:pRg st="7" end="7"/>
                                            </p:txEl>
                                          </p:spTgt>
                                        </p:tgtEl>
                                        <p:attrNameLst>
                                          <p:attrName>style.visibility</p:attrName>
                                        </p:attrNameLst>
                                      </p:cBhvr>
                                      <p:to>
                                        <p:strVal val="visible"/>
                                      </p:to>
                                    </p:set>
                                    <p:animEffect transition="in" filter="fade">
                                      <p:cBhvr>
                                        <p:cTn id="50" dur="1000"/>
                                        <p:tgtEl>
                                          <p:spTgt spid="6">
                                            <p:txEl>
                                              <p:pRg st="7" end="7"/>
                                            </p:txEl>
                                          </p:spTgt>
                                        </p:tgtEl>
                                      </p:cBhvr>
                                    </p:animEffect>
                                    <p:anim calcmode="lin" valueType="num">
                                      <p:cBhvr>
                                        <p:cTn id="51"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52" dur="1000" fill="hold"/>
                                        <p:tgtEl>
                                          <p:spTgt spid="6">
                                            <p:txEl>
                                              <p:pRg st="7" end="7"/>
                                            </p:txEl>
                                          </p:spTgt>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54" dur="1" fill="hold">
                                          <p:stCondLst>
                                            <p:cond delay="0"/>
                                          </p:stCondLst>
                                        </p:cTn>
                                        <p:tgtEl>
                                          <p:spTgt spid="6">
                                            <p:txEl>
                                              <p:pRg st="8" end="8"/>
                                            </p:txEl>
                                          </p:spTgt>
                                        </p:tgtEl>
                                        <p:attrNameLst>
                                          <p:attrName>style.visibility</p:attrName>
                                        </p:attrNameLst>
                                      </p:cBhvr>
                                      <p:to>
                                        <p:strVal val="visible"/>
                                      </p:to>
                                    </p:set>
                                    <p:animEffect transition="in" filter="fade">
                                      <p:cBhvr>
                                        <p:cTn id="55" dur="1000"/>
                                        <p:tgtEl>
                                          <p:spTgt spid="6">
                                            <p:txEl>
                                              <p:pRg st="8" end="8"/>
                                            </p:txEl>
                                          </p:spTgt>
                                        </p:tgtEl>
                                      </p:cBhvr>
                                    </p:animEffect>
                                    <p:anim calcmode="lin" valueType="num">
                                      <p:cBhvr>
                                        <p:cTn id="56"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57"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16" presetClass="entr" presetSubtype="21" fill="hold" grpId="0"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barn(inVertical)">
                                      <p:cBhvr>
                                        <p:cTn id="62" dur="500"/>
                                        <p:tgtEl>
                                          <p:spTgt spid="12"/>
                                        </p:tgtEl>
                                      </p:cBhvr>
                                    </p:animEffect>
                                  </p:childTnLst>
                                </p:cTn>
                              </p:par>
                              <p:par>
                                <p:cTn id="63" presetID="16" presetClass="entr" presetSubtype="21" fill="hold" nodeType="with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barn(inVertical)">
                                      <p:cBhvr>
                                        <p:cTn id="65" dur="500"/>
                                        <p:tgtEl>
                                          <p:spTgt spid="10"/>
                                        </p:tgtEl>
                                      </p:cBhvr>
                                    </p:animEffect>
                                  </p:childTnLst>
                                </p:cTn>
                              </p:par>
                              <p:par>
                                <p:cTn id="66" presetID="16" presetClass="entr" presetSubtype="21" fill="hold" grpId="0" nodeType="withEffect">
                                  <p:stCondLst>
                                    <p:cond delay="0"/>
                                  </p:stCondLst>
                                  <p:childTnLst>
                                    <p:set>
                                      <p:cBhvr>
                                        <p:cTn id="67" dur="1" fill="hold">
                                          <p:stCondLst>
                                            <p:cond delay="0"/>
                                          </p:stCondLst>
                                        </p:cTn>
                                        <p:tgtEl>
                                          <p:spTgt spid="11"/>
                                        </p:tgtEl>
                                        <p:attrNameLst>
                                          <p:attrName>style.visibility</p:attrName>
                                        </p:attrNameLst>
                                      </p:cBhvr>
                                      <p:to>
                                        <p:strVal val="visible"/>
                                      </p:to>
                                    </p:set>
                                    <p:animEffect transition="in" filter="barn(inVertical)">
                                      <p:cBhvr>
                                        <p:cTn id="68" dur="500"/>
                                        <p:tgtEl>
                                          <p:spTgt spid="11"/>
                                        </p:tgtEl>
                                      </p:cBhvr>
                                    </p:animEffect>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nodeType="clickEffect">
                                  <p:stCondLst>
                                    <p:cond delay="0"/>
                                  </p:stCondLst>
                                  <p:childTnLst>
                                    <p:set>
                                      <p:cBhvr>
                                        <p:cTn id="72" dur="1" fill="hold">
                                          <p:stCondLst>
                                            <p:cond delay="0"/>
                                          </p:stCondLst>
                                        </p:cTn>
                                        <p:tgtEl>
                                          <p:spTgt spid="6">
                                            <p:txEl>
                                              <p:pRg st="10" end="10"/>
                                            </p:txEl>
                                          </p:spTgt>
                                        </p:tgtEl>
                                        <p:attrNameLst>
                                          <p:attrName>style.visibility</p:attrName>
                                        </p:attrNameLst>
                                      </p:cBhvr>
                                      <p:to>
                                        <p:strVal val="visible"/>
                                      </p:to>
                                    </p:set>
                                    <p:animEffect transition="in" filter="fade">
                                      <p:cBhvr>
                                        <p:cTn id="73" dur="1000"/>
                                        <p:tgtEl>
                                          <p:spTgt spid="6">
                                            <p:txEl>
                                              <p:pRg st="10" end="10"/>
                                            </p:txEl>
                                          </p:spTgt>
                                        </p:tgtEl>
                                      </p:cBhvr>
                                    </p:animEffect>
                                    <p:anim calcmode="lin" valueType="num">
                                      <p:cBhvr>
                                        <p:cTn id="74" dur="1000" fill="hold"/>
                                        <p:tgtEl>
                                          <p:spTgt spid="6">
                                            <p:txEl>
                                              <p:pRg st="10" end="10"/>
                                            </p:txEl>
                                          </p:spTgt>
                                        </p:tgtEl>
                                        <p:attrNameLst>
                                          <p:attrName>ppt_x</p:attrName>
                                        </p:attrNameLst>
                                      </p:cBhvr>
                                      <p:tavLst>
                                        <p:tav tm="0">
                                          <p:val>
                                            <p:strVal val="#ppt_x"/>
                                          </p:val>
                                        </p:tav>
                                        <p:tav tm="100000">
                                          <p:val>
                                            <p:strVal val="#ppt_x"/>
                                          </p:val>
                                        </p:tav>
                                      </p:tavLst>
                                    </p:anim>
                                    <p:anim calcmode="lin" valueType="num">
                                      <p:cBhvr>
                                        <p:cTn id="75" dur="1000" fill="hold"/>
                                        <p:tgtEl>
                                          <p:spTgt spid="6">
                                            <p:txEl>
                                              <p:pRg st="10" end="10"/>
                                            </p:txEl>
                                          </p:spTgt>
                                        </p:tgtEl>
                                        <p:attrNameLst>
                                          <p:attrName>ppt_y</p:attrName>
                                        </p:attrNameLst>
                                      </p:cBhvr>
                                      <p:tavLst>
                                        <p:tav tm="0">
                                          <p:val>
                                            <p:strVal val="#ppt_y+.1"/>
                                          </p:val>
                                        </p:tav>
                                        <p:tav tm="100000">
                                          <p:val>
                                            <p:strVal val="#ppt_y"/>
                                          </p:val>
                                        </p:tav>
                                      </p:tavLst>
                                    </p:anim>
                                  </p:childTnLst>
                                </p:cTn>
                              </p:par>
                              <p:par>
                                <p:cTn id="76" presetID="42" presetClass="entr" presetSubtype="0" fill="hold" nodeType="withEffect">
                                  <p:stCondLst>
                                    <p:cond delay="0"/>
                                  </p:stCondLst>
                                  <p:childTnLst>
                                    <p:set>
                                      <p:cBhvr>
                                        <p:cTn id="77" dur="1" fill="hold">
                                          <p:stCondLst>
                                            <p:cond delay="0"/>
                                          </p:stCondLst>
                                        </p:cTn>
                                        <p:tgtEl>
                                          <p:spTgt spid="6">
                                            <p:txEl>
                                              <p:pRg st="11" end="11"/>
                                            </p:txEl>
                                          </p:spTgt>
                                        </p:tgtEl>
                                        <p:attrNameLst>
                                          <p:attrName>style.visibility</p:attrName>
                                        </p:attrNameLst>
                                      </p:cBhvr>
                                      <p:to>
                                        <p:strVal val="visible"/>
                                      </p:to>
                                    </p:set>
                                    <p:animEffect transition="in" filter="fade">
                                      <p:cBhvr>
                                        <p:cTn id="78" dur="1000"/>
                                        <p:tgtEl>
                                          <p:spTgt spid="6">
                                            <p:txEl>
                                              <p:pRg st="11" end="11"/>
                                            </p:txEl>
                                          </p:spTgt>
                                        </p:tgtEl>
                                      </p:cBhvr>
                                    </p:animEffect>
                                    <p:anim calcmode="lin" valueType="num">
                                      <p:cBhvr>
                                        <p:cTn id="79" dur="1000" fill="hold"/>
                                        <p:tgtEl>
                                          <p:spTgt spid="6">
                                            <p:txEl>
                                              <p:pRg st="11" end="11"/>
                                            </p:txEl>
                                          </p:spTgt>
                                        </p:tgtEl>
                                        <p:attrNameLst>
                                          <p:attrName>ppt_x</p:attrName>
                                        </p:attrNameLst>
                                      </p:cBhvr>
                                      <p:tavLst>
                                        <p:tav tm="0">
                                          <p:val>
                                            <p:strVal val="#ppt_x"/>
                                          </p:val>
                                        </p:tav>
                                        <p:tav tm="100000">
                                          <p:val>
                                            <p:strVal val="#ppt_x"/>
                                          </p:val>
                                        </p:tav>
                                      </p:tavLst>
                                    </p:anim>
                                    <p:anim calcmode="lin" valueType="num">
                                      <p:cBhvr>
                                        <p:cTn id="80" dur="1000" fill="hold"/>
                                        <p:tgtEl>
                                          <p:spTgt spid="6">
                                            <p:txEl>
                                              <p:pRg st="11" end="11"/>
                                            </p:txEl>
                                          </p:spTgt>
                                        </p:tgtEl>
                                        <p:attrNameLst>
                                          <p:attrName>ppt_y</p:attrName>
                                        </p:attrNameLst>
                                      </p:cBhvr>
                                      <p:tavLst>
                                        <p:tav tm="0">
                                          <p:val>
                                            <p:strVal val="#ppt_y+.1"/>
                                          </p:val>
                                        </p:tav>
                                        <p:tav tm="100000">
                                          <p:val>
                                            <p:strVal val="#ppt_y"/>
                                          </p:val>
                                        </p:tav>
                                      </p:tavLst>
                                    </p:anim>
                                  </p:childTnLst>
                                </p:cTn>
                              </p:par>
                              <p:par>
                                <p:cTn id="81" presetID="42" presetClass="entr" presetSubtype="0" fill="hold" nodeType="withEffect">
                                  <p:stCondLst>
                                    <p:cond delay="0"/>
                                  </p:stCondLst>
                                  <p:childTnLst>
                                    <p:set>
                                      <p:cBhvr>
                                        <p:cTn id="82" dur="1" fill="hold">
                                          <p:stCondLst>
                                            <p:cond delay="0"/>
                                          </p:stCondLst>
                                        </p:cTn>
                                        <p:tgtEl>
                                          <p:spTgt spid="6">
                                            <p:txEl>
                                              <p:pRg st="12" end="12"/>
                                            </p:txEl>
                                          </p:spTgt>
                                        </p:tgtEl>
                                        <p:attrNameLst>
                                          <p:attrName>style.visibility</p:attrName>
                                        </p:attrNameLst>
                                      </p:cBhvr>
                                      <p:to>
                                        <p:strVal val="visible"/>
                                      </p:to>
                                    </p:set>
                                    <p:animEffect transition="in" filter="fade">
                                      <p:cBhvr>
                                        <p:cTn id="83" dur="1000"/>
                                        <p:tgtEl>
                                          <p:spTgt spid="6">
                                            <p:txEl>
                                              <p:pRg st="12" end="12"/>
                                            </p:txEl>
                                          </p:spTgt>
                                        </p:tgtEl>
                                      </p:cBhvr>
                                    </p:animEffect>
                                    <p:anim calcmode="lin" valueType="num">
                                      <p:cBhvr>
                                        <p:cTn id="84" dur="1000" fill="hold"/>
                                        <p:tgtEl>
                                          <p:spTgt spid="6">
                                            <p:txEl>
                                              <p:pRg st="12" end="12"/>
                                            </p:txEl>
                                          </p:spTgt>
                                        </p:tgtEl>
                                        <p:attrNameLst>
                                          <p:attrName>ppt_x</p:attrName>
                                        </p:attrNameLst>
                                      </p:cBhvr>
                                      <p:tavLst>
                                        <p:tav tm="0">
                                          <p:val>
                                            <p:strVal val="#ppt_x"/>
                                          </p:val>
                                        </p:tav>
                                        <p:tav tm="100000">
                                          <p:val>
                                            <p:strVal val="#ppt_x"/>
                                          </p:val>
                                        </p:tav>
                                      </p:tavLst>
                                    </p:anim>
                                    <p:anim calcmode="lin" valueType="num">
                                      <p:cBhvr>
                                        <p:cTn id="85" dur="1000" fill="hold"/>
                                        <p:tgtEl>
                                          <p:spTgt spid="6">
                                            <p:txEl>
                                              <p:pRg st="12" end="12"/>
                                            </p:txEl>
                                          </p:spTgt>
                                        </p:tgtEl>
                                        <p:attrNameLst>
                                          <p:attrName>ppt_y</p:attrName>
                                        </p:attrNameLst>
                                      </p:cBhvr>
                                      <p:tavLst>
                                        <p:tav tm="0">
                                          <p:val>
                                            <p:strVal val="#ppt_y+.1"/>
                                          </p:val>
                                        </p:tav>
                                        <p:tav tm="100000">
                                          <p:val>
                                            <p:strVal val="#ppt_y"/>
                                          </p:val>
                                        </p:tav>
                                      </p:tavLst>
                                    </p:anim>
                                  </p:childTnLst>
                                </p:cTn>
                              </p:par>
                              <p:par>
                                <p:cTn id="86" presetID="42" presetClass="entr" presetSubtype="0" fill="hold" nodeType="withEffect">
                                  <p:stCondLst>
                                    <p:cond delay="0"/>
                                  </p:stCondLst>
                                  <p:childTnLst>
                                    <p:set>
                                      <p:cBhvr>
                                        <p:cTn id="87" dur="1" fill="hold">
                                          <p:stCondLst>
                                            <p:cond delay="0"/>
                                          </p:stCondLst>
                                        </p:cTn>
                                        <p:tgtEl>
                                          <p:spTgt spid="6">
                                            <p:txEl>
                                              <p:pRg st="13" end="13"/>
                                            </p:txEl>
                                          </p:spTgt>
                                        </p:tgtEl>
                                        <p:attrNameLst>
                                          <p:attrName>style.visibility</p:attrName>
                                        </p:attrNameLst>
                                      </p:cBhvr>
                                      <p:to>
                                        <p:strVal val="visible"/>
                                      </p:to>
                                    </p:set>
                                    <p:animEffect transition="in" filter="fade">
                                      <p:cBhvr>
                                        <p:cTn id="88" dur="1000"/>
                                        <p:tgtEl>
                                          <p:spTgt spid="6">
                                            <p:txEl>
                                              <p:pRg st="13" end="13"/>
                                            </p:txEl>
                                          </p:spTgt>
                                        </p:tgtEl>
                                      </p:cBhvr>
                                    </p:animEffect>
                                    <p:anim calcmode="lin" valueType="num">
                                      <p:cBhvr>
                                        <p:cTn id="89" dur="1000" fill="hold"/>
                                        <p:tgtEl>
                                          <p:spTgt spid="6">
                                            <p:txEl>
                                              <p:pRg st="13" end="13"/>
                                            </p:txEl>
                                          </p:spTgt>
                                        </p:tgtEl>
                                        <p:attrNameLst>
                                          <p:attrName>ppt_x</p:attrName>
                                        </p:attrNameLst>
                                      </p:cBhvr>
                                      <p:tavLst>
                                        <p:tav tm="0">
                                          <p:val>
                                            <p:strVal val="#ppt_x"/>
                                          </p:val>
                                        </p:tav>
                                        <p:tav tm="100000">
                                          <p:val>
                                            <p:strVal val="#ppt_x"/>
                                          </p:val>
                                        </p:tav>
                                      </p:tavLst>
                                    </p:anim>
                                    <p:anim calcmode="lin" valueType="num">
                                      <p:cBhvr>
                                        <p:cTn id="90" dur="1000" fill="hold"/>
                                        <p:tgtEl>
                                          <p:spTgt spid="6">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16" presetClass="entr" presetSubtype="21" fill="hold" grpId="0" nodeType="clickEffect">
                                  <p:stCondLst>
                                    <p:cond delay="0"/>
                                  </p:stCondLst>
                                  <p:childTnLst>
                                    <p:set>
                                      <p:cBhvr>
                                        <p:cTn id="94" dur="1" fill="hold">
                                          <p:stCondLst>
                                            <p:cond delay="0"/>
                                          </p:stCondLst>
                                        </p:cTn>
                                        <p:tgtEl>
                                          <p:spTgt spid="15"/>
                                        </p:tgtEl>
                                        <p:attrNameLst>
                                          <p:attrName>style.visibility</p:attrName>
                                        </p:attrNameLst>
                                      </p:cBhvr>
                                      <p:to>
                                        <p:strVal val="visible"/>
                                      </p:to>
                                    </p:set>
                                    <p:animEffect transition="in" filter="barn(inVertical)">
                                      <p:cBhvr>
                                        <p:cTn id="95" dur="500"/>
                                        <p:tgtEl>
                                          <p:spTgt spid="15"/>
                                        </p:tgtEl>
                                      </p:cBhvr>
                                    </p:animEffect>
                                  </p:childTnLst>
                                </p:cTn>
                              </p:par>
                              <p:par>
                                <p:cTn id="96" presetID="16" presetClass="entr" presetSubtype="21" fill="hold" nodeType="withEffect">
                                  <p:stCondLst>
                                    <p:cond delay="0"/>
                                  </p:stCondLst>
                                  <p:childTnLst>
                                    <p:set>
                                      <p:cBhvr>
                                        <p:cTn id="97" dur="1" fill="hold">
                                          <p:stCondLst>
                                            <p:cond delay="0"/>
                                          </p:stCondLst>
                                        </p:cTn>
                                        <p:tgtEl>
                                          <p:spTgt spid="13"/>
                                        </p:tgtEl>
                                        <p:attrNameLst>
                                          <p:attrName>style.visibility</p:attrName>
                                        </p:attrNameLst>
                                      </p:cBhvr>
                                      <p:to>
                                        <p:strVal val="visible"/>
                                      </p:to>
                                    </p:set>
                                    <p:animEffect transition="in" filter="barn(inVertical)">
                                      <p:cBhvr>
                                        <p:cTn id="98" dur="500"/>
                                        <p:tgtEl>
                                          <p:spTgt spid="13"/>
                                        </p:tgtEl>
                                      </p:cBhvr>
                                    </p:animEffect>
                                  </p:childTnLst>
                                </p:cTn>
                              </p:par>
                              <p:par>
                                <p:cTn id="99" presetID="16" presetClass="entr" presetSubtype="21" fill="hold" grpId="0" nodeType="withEffect">
                                  <p:stCondLst>
                                    <p:cond delay="0"/>
                                  </p:stCondLst>
                                  <p:childTnLst>
                                    <p:set>
                                      <p:cBhvr>
                                        <p:cTn id="100" dur="1" fill="hold">
                                          <p:stCondLst>
                                            <p:cond delay="0"/>
                                          </p:stCondLst>
                                        </p:cTn>
                                        <p:tgtEl>
                                          <p:spTgt spid="14"/>
                                        </p:tgtEl>
                                        <p:attrNameLst>
                                          <p:attrName>style.visibility</p:attrName>
                                        </p:attrNameLst>
                                      </p:cBhvr>
                                      <p:to>
                                        <p:strVal val="visible"/>
                                      </p:to>
                                    </p:set>
                                    <p:animEffect transition="in" filter="barn(inVertical)">
                                      <p:cBhvr>
                                        <p:cTn id="10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2" grpId="0"/>
      <p:bldP spid="14" grpId="0"/>
      <p:bldP spid="1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Illustration continues…</a:t>
            </a:r>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27</a:t>
            </a:fld>
            <a:endParaRPr lang="en-US"/>
          </a:p>
        </p:txBody>
      </p:sp>
      <p:sp>
        <p:nvSpPr>
          <p:cNvPr id="6" name="Content Placeholder 5"/>
          <p:cNvSpPr>
            <a:spLocks noGrp="1"/>
          </p:cNvSpPr>
          <p:nvPr>
            <p:ph sz="quarter" idx="1"/>
          </p:nvPr>
        </p:nvSpPr>
        <p:spPr/>
        <p:txBody>
          <a:bodyPr/>
          <a:lstStyle/>
          <a:p>
            <a:pPr marL="0" indent="0">
              <a:buNone/>
            </a:pPr>
            <a:r>
              <a:rPr lang="en-US" dirty="0"/>
              <a:t>i = 7 </a:t>
            </a:r>
            <a:r>
              <a:rPr lang="en-US" dirty="0" err="1"/>
              <a:t>len</a:t>
            </a:r>
            <a:r>
              <a:rPr lang="en-US" dirty="0"/>
              <a:t> = 3, i = 7. </a:t>
            </a:r>
          </a:p>
          <a:p>
            <a:pPr marL="0" indent="0">
              <a:buNone/>
            </a:pPr>
            <a:r>
              <a:rPr lang="en-US" dirty="0"/>
              <a:t>Since pat[</a:t>
            </a:r>
            <a:r>
              <a:rPr lang="en-US" dirty="0" err="1"/>
              <a:t>len</a:t>
            </a:r>
            <a:r>
              <a:rPr lang="en-US" dirty="0"/>
              <a:t>] and pat[i] do not match and </a:t>
            </a:r>
            <a:r>
              <a:rPr lang="en-US" dirty="0" err="1"/>
              <a:t>len</a:t>
            </a:r>
            <a:r>
              <a:rPr lang="en-US" dirty="0"/>
              <a:t> &gt; 0, </a:t>
            </a:r>
          </a:p>
          <a:p>
            <a:pPr marL="0" indent="0">
              <a:buNone/>
            </a:pPr>
            <a:r>
              <a:rPr lang="en-US" dirty="0"/>
              <a:t>set </a:t>
            </a:r>
            <a:r>
              <a:rPr lang="en-US" dirty="0" err="1"/>
              <a:t>len</a:t>
            </a:r>
            <a:r>
              <a:rPr lang="en-US" dirty="0"/>
              <a:t> = </a:t>
            </a:r>
            <a:r>
              <a:rPr lang="en-US" dirty="0" err="1"/>
              <a:t>lps</a:t>
            </a:r>
            <a:r>
              <a:rPr lang="en-US" dirty="0"/>
              <a:t>[len-1] = </a:t>
            </a:r>
            <a:r>
              <a:rPr lang="en-US" dirty="0" err="1"/>
              <a:t>lps</a:t>
            </a:r>
            <a:r>
              <a:rPr lang="en-US" dirty="0"/>
              <a:t>[2] = 2 </a:t>
            </a:r>
          </a:p>
          <a:p>
            <a:pPr marL="0" indent="0">
              <a:buNone/>
            </a:pPr>
            <a:endParaRPr lang="en-US" dirty="0"/>
          </a:p>
          <a:p>
            <a:pPr marL="0" indent="0">
              <a:buNone/>
            </a:pPr>
            <a:r>
              <a:rPr lang="en-US" dirty="0" err="1"/>
              <a:t>len</a:t>
            </a:r>
            <a:r>
              <a:rPr lang="en-US" dirty="0"/>
              <a:t> = 2, i = 7. </a:t>
            </a:r>
          </a:p>
          <a:p>
            <a:pPr marL="0" indent="0">
              <a:buNone/>
            </a:pPr>
            <a:r>
              <a:rPr lang="en-US" dirty="0"/>
              <a:t>Since pat[</a:t>
            </a:r>
            <a:r>
              <a:rPr lang="en-US" dirty="0" err="1"/>
              <a:t>len</a:t>
            </a:r>
            <a:r>
              <a:rPr lang="en-US" dirty="0"/>
              <a:t>] and pat[i] match, do </a:t>
            </a:r>
            <a:r>
              <a:rPr lang="en-US" dirty="0" err="1"/>
              <a:t>len</a:t>
            </a:r>
            <a:r>
              <a:rPr lang="en-US" dirty="0"/>
              <a:t>++, </a:t>
            </a:r>
          </a:p>
          <a:p>
            <a:pPr marL="0" indent="0">
              <a:buNone/>
            </a:pPr>
            <a:r>
              <a:rPr lang="en-US" dirty="0"/>
              <a:t>store it in </a:t>
            </a:r>
            <a:r>
              <a:rPr lang="en-US" dirty="0" err="1"/>
              <a:t>lps</a:t>
            </a:r>
            <a:r>
              <a:rPr lang="en-US" dirty="0"/>
              <a:t>[i] and do i++. </a:t>
            </a:r>
          </a:p>
          <a:p>
            <a:pPr marL="0" indent="0">
              <a:buNone/>
            </a:pPr>
            <a:r>
              <a:rPr lang="en-US" dirty="0" err="1"/>
              <a:t>len</a:t>
            </a:r>
            <a:r>
              <a:rPr lang="en-US" dirty="0"/>
              <a:t> = 3, </a:t>
            </a:r>
            <a:r>
              <a:rPr lang="en-US" b="1" dirty="0" err="1"/>
              <a:t>lps</a:t>
            </a:r>
            <a:r>
              <a:rPr lang="en-US" b="1" dirty="0"/>
              <a:t>[7] = 3</a:t>
            </a:r>
            <a:r>
              <a:rPr lang="en-US" dirty="0"/>
              <a:t>,</a:t>
            </a:r>
          </a:p>
          <a:p>
            <a:pPr marL="0" indent="0">
              <a:buNone/>
            </a:pPr>
            <a:endParaRPr lang="en-US" dirty="0"/>
          </a:p>
          <a:p>
            <a:pPr marL="0" indent="0">
              <a:buNone/>
            </a:pPr>
            <a:r>
              <a:rPr lang="en-US" dirty="0"/>
              <a:t> </a:t>
            </a:r>
            <a:r>
              <a:rPr lang="en-US" dirty="0">
                <a:solidFill>
                  <a:srgbClr val="C00000"/>
                </a:solidFill>
              </a:rPr>
              <a:t>i = 8 </a:t>
            </a:r>
            <a:r>
              <a:rPr lang="en-US" dirty="0"/>
              <a:t>We stop here as we have constructed the whole </a:t>
            </a:r>
            <a:r>
              <a:rPr lang="en-US" dirty="0" err="1">
                <a:solidFill>
                  <a:srgbClr val="7030A0"/>
                </a:solidFill>
              </a:rPr>
              <a:t>lps</a:t>
            </a:r>
            <a:r>
              <a:rPr lang="en-US" dirty="0">
                <a:solidFill>
                  <a:srgbClr val="7030A0"/>
                </a:solidFill>
              </a:rPr>
              <a:t>[].</a:t>
            </a:r>
          </a:p>
          <a:p>
            <a:pPr marL="0" indent="0">
              <a:buNone/>
            </a:pP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1861029323"/>
              </p:ext>
            </p:extLst>
          </p:nvPr>
        </p:nvGraphicFramePr>
        <p:xfrm>
          <a:off x="4953000" y="2590800"/>
          <a:ext cx="4038600" cy="365760"/>
        </p:xfrm>
        <a:graphic>
          <a:graphicData uri="http://schemas.openxmlformats.org/drawingml/2006/table">
            <a:tbl>
              <a:tblPr firstRow="1" bandRow="1">
                <a:tableStyleId>{616DA210-FB5B-4158-B5E0-FEB733F419BA}</a:tableStyleId>
              </a:tblPr>
              <a:tblGrid>
                <a:gridCol w="504825"/>
                <a:gridCol w="504825"/>
                <a:gridCol w="504825"/>
                <a:gridCol w="504825"/>
                <a:gridCol w="504825"/>
                <a:gridCol w="504825"/>
                <a:gridCol w="504825"/>
                <a:gridCol w="504825"/>
              </a:tblGrid>
              <a:tr h="30480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2</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2</a:t>
                      </a:r>
                      <a:endParaRPr lang="en-US" dirty="0"/>
                    </a:p>
                  </a:txBody>
                  <a:tcPr/>
                </a:tc>
                <a:tc>
                  <a:txBody>
                    <a:bodyPr/>
                    <a:lstStyle/>
                    <a:p>
                      <a:r>
                        <a:rPr lang="en-US" dirty="0" smtClean="0"/>
                        <a:t>3</a:t>
                      </a:r>
                      <a:endParaRPr lang="en-US" dirty="0"/>
                    </a:p>
                  </a:txBody>
                  <a:tcPr/>
                </a:tc>
                <a:tc>
                  <a:txBody>
                    <a:bodyPr/>
                    <a:lstStyle/>
                    <a:p>
                      <a:endParaRPr lang="en-US" dirty="0"/>
                    </a:p>
                  </a:txBody>
                  <a:tcPr/>
                </a:tc>
              </a:tr>
            </a:tbl>
          </a:graphicData>
        </a:graphic>
      </p:graphicFrame>
      <p:sp>
        <p:nvSpPr>
          <p:cNvPr id="8" name="TextBox 7"/>
          <p:cNvSpPr txBox="1"/>
          <p:nvPr/>
        </p:nvSpPr>
        <p:spPr>
          <a:xfrm>
            <a:off x="5150935" y="3124200"/>
            <a:ext cx="3801041" cy="369332"/>
          </a:xfrm>
          <a:prstGeom prst="rect">
            <a:avLst/>
          </a:prstGeom>
          <a:noFill/>
        </p:spPr>
        <p:txBody>
          <a:bodyPr wrap="none" rtlCol="0">
            <a:spAutoFit/>
          </a:bodyPr>
          <a:lstStyle/>
          <a:p>
            <a:r>
              <a:rPr lang="en-US" dirty="0" smtClean="0"/>
              <a:t>0     1      2       3      4     5      6       7</a:t>
            </a:r>
            <a:endParaRPr lang="en-US" dirty="0"/>
          </a:p>
        </p:txBody>
      </p:sp>
      <p:sp>
        <p:nvSpPr>
          <p:cNvPr id="9" name="TextBox 8"/>
          <p:cNvSpPr txBox="1"/>
          <p:nvPr/>
        </p:nvSpPr>
        <p:spPr>
          <a:xfrm>
            <a:off x="4972040" y="2133600"/>
            <a:ext cx="3979936" cy="369332"/>
          </a:xfrm>
          <a:prstGeom prst="rect">
            <a:avLst/>
          </a:prstGeom>
          <a:noFill/>
        </p:spPr>
        <p:txBody>
          <a:bodyPr wrap="none" rtlCol="0">
            <a:spAutoFit/>
          </a:bodyPr>
          <a:lstStyle/>
          <a:p>
            <a:r>
              <a:rPr lang="en-US" dirty="0" smtClean="0"/>
              <a:t>A     </a:t>
            </a:r>
            <a:r>
              <a:rPr lang="en-US" dirty="0" err="1" smtClean="0"/>
              <a:t>A</a:t>
            </a:r>
            <a:r>
              <a:rPr lang="en-US" dirty="0" smtClean="0"/>
              <a:t>      </a:t>
            </a:r>
            <a:r>
              <a:rPr lang="en-US" dirty="0" err="1" smtClean="0"/>
              <a:t>A</a:t>
            </a:r>
            <a:r>
              <a:rPr lang="en-US" dirty="0" smtClean="0"/>
              <a:t>      </a:t>
            </a:r>
            <a:r>
              <a:rPr lang="en-US" dirty="0" smtClean="0">
                <a:solidFill>
                  <a:srgbClr val="C00000"/>
                </a:solidFill>
              </a:rPr>
              <a:t>C</a:t>
            </a:r>
            <a:r>
              <a:rPr lang="en-US" dirty="0" smtClean="0"/>
              <a:t>     </a:t>
            </a:r>
            <a:r>
              <a:rPr lang="en-US" dirty="0" smtClean="0">
                <a:solidFill>
                  <a:srgbClr val="00B050"/>
                </a:solidFill>
              </a:rPr>
              <a:t> </a:t>
            </a:r>
            <a:r>
              <a:rPr lang="en-US" dirty="0" smtClean="0"/>
              <a:t>A      </a:t>
            </a:r>
            <a:r>
              <a:rPr lang="en-US" dirty="0" err="1" smtClean="0"/>
              <a:t>A</a:t>
            </a:r>
            <a:r>
              <a:rPr lang="en-US" dirty="0" smtClean="0"/>
              <a:t>       </a:t>
            </a:r>
            <a:r>
              <a:rPr lang="en-US" dirty="0" err="1" smtClean="0"/>
              <a:t>A</a:t>
            </a:r>
            <a:r>
              <a:rPr lang="en-US" dirty="0" smtClean="0"/>
              <a:t>      </a:t>
            </a:r>
            <a:r>
              <a:rPr lang="en-US" dirty="0" err="1" smtClean="0">
                <a:solidFill>
                  <a:srgbClr val="C00000"/>
                </a:solidFill>
              </a:rPr>
              <a:t>A</a:t>
            </a:r>
            <a:endParaRPr lang="en-US" dirty="0">
              <a:solidFill>
                <a:srgbClr val="C00000"/>
              </a:solidFill>
            </a:endParaRPr>
          </a:p>
        </p:txBody>
      </p:sp>
      <p:graphicFrame>
        <p:nvGraphicFramePr>
          <p:cNvPr id="10" name="Table 9"/>
          <p:cNvGraphicFramePr>
            <a:graphicFrameLocks noGrp="1"/>
          </p:cNvGraphicFramePr>
          <p:nvPr>
            <p:extLst>
              <p:ext uri="{D42A27DB-BD31-4B8C-83A1-F6EECF244321}">
                <p14:modId xmlns:p14="http://schemas.microsoft.com/office/powerpoint/2010/main" val="4083142020"/>
              </p:ext>
            </p:extLst>
          </p:nvPr>
        </p:nvGraphicFramePr>
        <p:xfrm>
          <a:off x="4724400" y="4431268"/>
          <a:ext cx="4038600" cy="365760"/>
        </p:xfrm>
        <a:graphic>
          <a:graphicData uri="http://schemas.openxmlformats.org/drawingml/2006/table">
            <a:tbl>
              <a:tblPr firstRow="1" bandRow="1">
                <a:tableStyleId>{616DA210-FB5B-4158-B5E0-FEB733F419BA}</a:tableStyleId>
              </a:tblPr>
              <a:tblGrid>
                <a:gridCol w="504825"/>
                <a:gridCol w="504825"/>
                <a:gridCol w="504825"/>
                <a:gridCol w="504825"/>
                <a:gridCol w="504825"/>
                <a:gridCol w="504825"/>
                <a:gridCol w="504825"/>
                <a:gridCol w="504825"/>
              </a:tblGrid>
              <a:tr h="30480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2</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2</a:t>
                      </a:r>
                      <a:endParaRPr lang="en-US" dirty="0"/>
                    </a:p>
                  </a:txBody>
                  <a:tcPr/>
                </a:tc>
                <a:tc>
                  <a:txBody>
                    <a:bodyPr/>
                    <a:lstStyle/>
                    <a:p>
                      <a:r>
                        <a:rPr lang="en-US" dirty="0" smtClean="0"/>
                        <a:t>3</a:t>
                      </a:r>
                      <a:endParaRPr lang="en-US" dirty="0"/>
                    </a:p>
                  </a:txBody>
                  <a:tcPr/>
                </a:tc>
                <a:tc>
                  <a:txBody>
                    <a:bodyPr/>
                    <a:lstStyle/>
                    <a:p>
                      <a:r>
                        <a:rPr lang="en-US" dirty="0" smtClean="0"/>
                        <a:t>3</a:t>
                      </a:r>
                      <a:endParaRPr lang="en-US" dirty="0"/>
                    </a:p>
                  </a:txBody>
                  <a:tcPr/>
                </a:tc>
              </a:tr>
            </a:tbl>
          </a:graphicData>
        </a:graphic>
      </p:graphicFrame>
      <p:sp>
        <p:nvSpPr>
          <p:cNvPr id="11" name="TextBox 10"/>
          <p:cNvSpPr txBox="1"/>
          <p:nvPr/>
        </p:nvSpPr>
        <p:spPr>
          <a:xfrm>
            <a:off x="4922335" y="4964668"/>
            <a:ext cx="3801041" cy="369332"/>
          </a:xfrm>
          <a:prstGeom prst="rect">
            <a:avLst/>
          </a:prstGeom>
          <a:noFill/>
        </p:spPr>
        <p:txBody>
          <a:bodyPr wrap="none" rtlCol="0">
            <a:spAutoFit/>
          </a:bodyPr>
          <a:lstStyle/>
          <a:p>
            <a:r>
              <a:rPr lang="en-US" dirty="0" smtClean="0"/>
              <a:t>0     1      2       3      4     5      6       7</a:t>
            </a:r>
            <a:endParaRPr lang="en-US" dirty="0"/>
          </a:p>
        </p:txBody>
      </p:sp>
      <p:sp>
        <p:nvSpPr>
          <p:cNvPr id="12" name="TextBox 11"/>
          <p:cNvSpPr txBox="1"/>
          <p:nvPr/>
        </p:nvSpPr>
        <p:spPr>
          <a:xfrm>
            <a:off x="4743440" y="3974068"/>
            <a:ext cx="3979936" cy="369332"/>
          </a:xfrm>
          <a:prstGeom prst="rect">
            <a:avLst/>
          </a:prstGeom>
          <a:noFill/>
        </p:spPr>
        <p:txBody>
          <a:bodyPr wrap="none" rtlCol="0">
            <a:spAutoFit/>
          </a:bodyPr>
          <a:lstStyle/>
          <a:p>
            <a:r>
              <a:rPr lang="en-US" dirty="0" smtClean="0"/>
              <a:t>A     </a:t>
            </a:r>
            <a:r>
              <a:rPr lang="en-US" dirty="0" err="1" smtClean="0"/>
              <a:t>A</a:t>
            </a:r>
            <a:r>
              <a:rPr lang="en-US" dirty="0" smtClean="0"/>
              <a:t>      </a:t>
            </a:r>
            <a:r>
              <a:rPr lang="en-US" dirty="0" err="1" smtClean="0">
                <a:solidFill>
                  <a:srgbClr val="00B050"/>
                </a:solidFill>
              </a:rPr>
              <a:t>A</a:t>
            </a:r>
            <a:r>
              <a:rPr lang="en-US" dirty="0" smtClean="0"/>
              <a:t>      C     </a:t>
            </a:r>
            <a:r>
              <a:rPr lang="en-US" dirty="0" smtClean="0">
                <a:solidFill>
                  <a:srgbClr val="00B050"/>
                </a:solidFill>
              </a:rPr>
              <a:t> </a:t>
            </a:r>
            <a:r>
              <a:rPr lang="en-US" dirty="0" smtClean="0"/>
              <a:t>A      </a:t>
            </a:r>
            <a:r>
              <a:rPr lang="en-US" dirty="0" err="1" smtClean="0"/>
              <a:t>A</a:t>
            </a:r>
            <a:r>
              <a:rPr lang="en-US" dirty="0" smtClean="0"/>
              <a:t>       </a:t>
            </a:r>
            <a:r>
              <a:rPr lang="en-US" dirty="0" err="1" smtClean="0"/>
              <a:t>A</a:t>
            </a:r>
            <a:r>
              <a:rPr lang="en-US" dirty="0" smtClean="0"/>
              <a:t>      </a:t>
            </a:r>
            <a:r>
              <a:rPr lang="en-US" dirty="0" err="1" smtClean="0">
                <a:solidFill>
                  <a:srgbClr val="00B050"/>
                </a:solidFill>
              </a:rPr>
              <a:t>A</a:t>
            </a:r>
            <a:endParaRPr lang="en-US" dirty="0">
              <a:solidFill>
                <a:srgbClr val="00B050"/>
              </a:solidFill>
            </a:endParaRPr>
          </a:p>
        </p:txBody>
      </p:sp>
    </p:spTree>
    <p:extLst>
      <p:ext uri="{BB962C8B-B14F-4D97-AF65-F5344CB8AC3E}">
        <p14:creationId xmlns:p14="http://schemas.microsoft.com/office/powerpoint/2010/main" val="1036889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1000"/>
                                        <p:tgtEl>
                                          <p:spTgt spid="6">
                                            <p:txEl>
                                              <p:pRg st="1" end="1"/>
                                            </p:txEl>
                                          </p:spTgt>
                                        </p:tgtEl>
                                      </p:cBhvr>
                                    </p:animEffect>
                                    <p:anim calcmode="lin" valueType="num">
                                      <p:cBhvr>
                                        <p:cTn id="13"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1000"/>
                                        <p:tgtEl>
                                          <p:spTgt spid="6">
                                            <p:txEl>
                                              <p:pRg st="2" end="2"/>
                                            </p:txEl>
                                          </p:spTgt>
                                        </p:tgtEl>
                                      </p:cBhvr>
                                    </p:animEffect>
                                    <p:anim calcmode="lin" valueType="num">
                                      <p:cBhvr>
                                        <p:cTn id="1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arn(inVertical)">
                                      <p:cBhvr>
                                        <p:cTn id="24" dur="500"/>
                                        <p:tgtEl>
                                          <p:spTgt spid="9"/>
                                        </p:tgtEl>
                                      </p:cBhvr>
                                    </p:animEffect>
                                  </p:childTnLst>
                                </p:cTn>
                              </p:par>
                              <p:par>
                                <p:cTn id="25" presetID="16" presetClass="entr" presetSubtype="21"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barn(inVertical)">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animEffect transition="in" filter="fade">
                                      <p:cBhvr>
                                        <p:cTn id="35" dur="1000"/>
                                        <p:tgtEl>
                                          <p:spTgt spid="6">
                                            <p:txEl>
                                              <p:pRg st="4" end="4"/>
                                            </p:txEl>
                                          </p:spTgt>
                                        </p:tgtEl>
                                      </p:cBhvr>
                                    </p:animEffect>
                                    <p:anim calcmode="lin" valueType="num">
                                      <p:cBhvr>
                                        <p:cTn id="36"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4" end="4"/>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6">
                                            <p:txEl>
                                              <p:pRg st="5" end="5"/>
                                            </p:txEl>
                                          </p:spTgt>
                                        </p:tgtEl>
                                        <p:attrNameLst>
                                          <p:attrName>style.visibility</p:attrName>
                                        </p:attrNameLst>
                                      </p:cBhvr>
                                      <p:to>
                                        <p:strVal val="visible"/>
                                      </p:to>
                                    </p:set>
                                    <p:animEffect transition="in" filter="fade">
                                      <p:cBhvr>
                                        <p:cTn id="40" dur="1000"/>
                                        <p:tgtEl>
                                          <p:spTgt spid="6">
                                            <p:txEl>
                                              <p:pRg st="5" end="5"/>
                                            </p:txEl>
                                          </p:spTgt>
                                        </p:tgtEl>
                                      </p:cBhvr>
                                    </p:animEffect>
                                    <p:anim calcmode="lin" valueType="num">
                                      <p:cBhvr>
                                        <p:cTn id="41"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6">
                                            <p:txEl>
                                              <p:pRg st="5" end="5"/>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6">
                                            <p:txEl>
                                              <p:pRg st="6" end="6"/>
                                            </p:txEl>
                                          </p:spTgt>
                                        </p:tgtEl>
                                        <p:attrNameLst>
                                          <p:attrName>style.visibility</p:attrName>
                                        </p:attrNameLst>
                                      </p:cBhvr>
                                      <p:to>
                                        <p:strVal val="visible"/>
                                      </p:to>
                                    </p:set>
                                    <p:animEffect transition="in" filter="fade">
                                      <p:cBhvr>
                                        <p:cTn id="45" dur="1000"/>
                                        <p:tgtEl>
                                          <p:spTgt spid="6">
                                            <p:txEl>
                                              <p:pRg st="6" end="6"/>
                                            </p:txEl>
                                          </p:spTgt>
                                        </p:tgtEl>
                                      </p:cBhvr>
                                    </p:animEffect>
                                    <p:anim calcmode="lin" valueType="num">
                                      <p:cBhvr>
                                        <p:cTn id="46"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47" dur="1000" fill="hold"/>
                                        <p:tgtEl>
                                          <p:spTgt spid="6">
                                            <p:txEl>
                                              <p:pRg st="6" end="6"/>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6">
                                            <p:txEl>
                                              <p:pRg st="7" end="7"/>
                                            </p:txEl>
                                          </p:spTgt>
                                        </p:tgtEl>
                                        <p:attrNameLst>
                                          <p:attrName>style.visibility</p:attrName>
                                        </p:attrNameLst>
                                      </p:cBhvr>
                                      <p:to>
                                        <p:strVal val="visible"/>
                                      </p:to>
                                    </p:set>
                                    <p:animEffect transition="in" filter="fade">
                                      <p:cBhvr>
                                        <p:cTn id="50" dur="1000"/>
                                        <p:tgtEl>
                                          <p:spTgt spid="6">
                                            <p:txEl>
                                              <p:pRg st="7" end="7"/>
                                            </p:txEl>
                                          </p:spTgt>
                                        </p:tgtEl>
                                      </p:cBhvr>
                                    </p:animEffect>
                                    <p:anim calcmode="lin" valueType="num">
                                      <p:cBhvr>
                                        <p:cTn id="51"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52"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barn(inVertical)">
                                      <p:cBhvr>
                                        <p:cTn id="57" dur="500"/>
                                        <p:tgtEl>
                                          <p:spTgt spid="12"/>
                                        </p:tgtEl>
                                      </p:cBhvr>
                                    </p:animEffect>
                                  </p:childTnLst>
                                </p:cTn>
                              </p:par>
                              <p:par>
                                <p:cTn id="58" presetID="16" presetClass="entr" presetSubtype="21" fill="hold" nodeType="with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barn(inVertical)">
                                      <p:cBhvr>
                                        <p:cTn id="60" dur="500"/>
                                        <p:tgtEl>
                                          <p:spTgt spid="10"/>
                                        </p:tgtEl>
                                      </p:cBhvr>
                                    </p:animEffect>
                                  </p:childTnLst>
                                </p:cTn>
                              </p:par>
                              <p:par>
                                <p:cTn id="61" presetID="16" presetClass="entr" presetSubtype="21" fill="hold" grpId="0" nodeType="with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barn(inVertical)">
                                      <p:cBhvr>
                                        <p:cTn id="63" dur="500"/>
                                        <p:tgtEl>
                                          <p:spTgt spid="11"/>
                                        </p:tgtEl>
                                      </p:cBhvr>
                                    </p:animEffect>
                                  </p:childTnLst>
                                </p:cTn>
                              </p:par>
                            </p:childTnLst>
                          </p:cTn>
                        </p:par>
                      </p:childTnLst>
                    </p:cTn>
                  </p:par>
                  <p:par>
                    <p:cTn id="64" fill="hold">
                      <p:stCondLst>
                        <p:cond delay="indefinite"/>
                      </p:stCondLst>
                      <p:childTnLst>
                        <p:par>
                          <p:cTn id="65" fill="hold">
                            <p:stCondLst>
                              <p:cond delay="0"/>
                            </p:stCondLst>
                            <p:childTnLst>
                              <p:par>
                                <p:cTn id="66" presetID="31" presetClass="entr" presetSubtype="0" fill="hold" nodeType="clickEffect">
                                  <p:stCondLst>
                                    <p:cond delay="0"/>
                                  </p:stCondLst>
                                  <p:childTnLst>
                                    <p:set>
                                      <p:cBhvr>
                                        <p:cTn id="67" dur="1" fill="hold">
                                          <p:stCondLst>
                                            <p:cond delay="0"/>
                                          </p:stCondLst>
                                        </p:cTn>
                                        <p:tgtEl>
                                          <p:spTgt spid="6">
                                            <p:txEl>
                                              <p:pRg st="9" end="9"/>
                                            </p:txEl>
                                          </p:spTgt>
                                        </p:tgtEl>
                                        <p:attrNameLst>
                                          <p:attrName>style.visibility</p:attrName>
                                        </p:attrNameLst>
                                      </p:cBhvr>
                                      <p:to>
                                        <p:strVal val="visible"/>
                                      </p:to>
                                    </p:set>
                                    <p:anim calcmode="lin" valueType="num">
                                      <p:cBhvr>
                                        <p:cTn id="68" dur="1000" fill="hold"/>
                                        <p:tgtEl>
                                          <p:spTgt spid="6">
                                            <p:txEl>
                                              <p:pRg st="9" end="9"/>
                                            </p:txEl>
                                          </p:spTgt>
                                        </p:tgtEl>
                                        <p:attrNameLst>
                                          <p:attrName>ppt_w</p:attrName>
                                        </p:attrNameLst>
                                      </p:cBhvr>
                                      <p:tavLst>
                                        <p:tav tm="0">
                                          <p:val>
                                            <p:fltVal val="0"/>
                                          </p:val>
                                        </p:tav>
                                        <p:tav tm="100000">
                                          <p:val>
                                            <p:strVal val="#ppt_w"/>
                                          </p:val>
                                        </p:tav>
                                      </p:tavLst>
                                    </p:anim>
                                    <p:anim calcmode="lin" valueType="num">
                                      <p:cBhvr>
                                        <p:cTn id="69" dur="1000" fill="hold"/>
                                        <p:tgtEl>
                                          <p:spTgt spid="6">
                                            <p:txEl>
                                              <p:pRg st="9" end="9"/>
                                            </p:txEl>
                                          </p:spTgt>
                                        </p:tgtEl>
                                        <p:attrNameLst>
                                          <p:attrName>ppt_h</p:attrName>
                                        </p:attrNameLst>
                                      </p:cBhvr>
                                      <p:tavLst>
                                        <p:tav tm="0">
                                          <p:val>
                                            <p:fltVal val="0"/>
                                          </p:val>
                                        </p:tav>
                                        <p:tav tm="100000">
                                          <p:val>
                                            <p:strVal val="#ppt_h"/>
                                          </p:val>
                                        </p:tav>
                                      </p:tavLst>
                                    </p:anim>
                                    <p:anim calcmode="lin" valueType="num">
                                      <p:cBhvr>
                                        <p:cTn id="70" dur="1000" fill="hold"/>
                                        <p:tgtEl>
                                          <p:spTgt spid="6">
                                            <p:txEl>
                                              <p:pRg st="9" end="9"/>
                                            </p:txEl>
                                          </p:spTgt>
                                        </p:tgtEl>
                                        <p:attrNameLst>
                                          <p:attrName>style.rotation</p:attrName>
                                        </p:attrNameLst>
                                      </p:cBhvr>
                                      <p:tavLst>
                                        <p:tav tm="0">
                                          <p:val>
                                            <p:fltVal val="90"/>
                                          </p:val>
                                        </p:tav>
                                        <p:tav tm="100000">
                                          <p:val>
                                            <p:fltVal val="0"/>
                                          </p:val>
                                        </p:tav>
                                      </p:tavLst>
                                    </p:anim>
                                    <p:animEffect transition="in" filter="fade">
                                      <p:cBhvr>
                                        <p:cTn id="71" dur="10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a:t>
            </a:r>
            <a:r>
              <a:rPr lang="en-US" dirty="0" err="1" smtClean="0"/>
              <a:t>lps</a:t>
            </a:r>
            <a:r>
              <a:rPr lang="en-US" dirty="0" smtClean="0"/>
              <a:t>[] construction</a:t>
            </a:r>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28</a:t>
            </a:fld>
            <a:endParaRPr lang="en-US"/>
          </a:p>
        </p:txBody>
      </p:sp>
      <p:sp>
        <p:nvSpPr>
          <p:cNvPr id="6" name="Content Placeholder 5"/>
          <p:cNvSpPr>
            <a:spLocks noGrp="1"/>
          </p:cNvSpPr>
          <p:nvPr>
            <p:ph sz="quarter" idx="1"/>
          </p:nvPr>
        </p:nvSpPr>
        <p:spPr/>
        <p:txBody>
          <a:bodyPr>
            <a:normAutofit fontScale="85000" lnSpcReduction="20000"/>
          </a:bodyPr>
          <a:lstStyle/>
          <a:p>
            <a:pPr marL="0" indent="0">
              <a:buNone/>
            </a:pPr>
            <a:r>
              <a:rPr lang="en-US" dirty="0" smtClean="0"/>
              <a:t>pattern </a:t>
            </a:r>
            <a:r>
              <a:rPr lang="en-US" dirty="0"/>
              <a:t>“AAAA”, </a:t>
            </a:r>
            <a:endParaRPr lang="en-US" dirty="0" smtClean="0"/>
          </a:p>
          <a:p>
            <a:pPr marL="0" indent="0">
              <a:buNone/>
            </a:pPr>
            <a:r>
              <a:rPr lang="en-US" dirty="0" err="1" smtClean="0"/>
              <a:t>lps</a:t>
            </a:r>
            <a:r>
              <a:rPr lang="en-US" dirty="0" smtClean="0"/>
              <a:t>[]:     [</a:t>
            </a:r>
            <a:r>
              <a:rPr lang="en-US" dirty="0"/>
              <a:t>0, 1, 2, 3] </a:t>
            </a:r>
            <a:endParaRPr lang="en-US" dirty="0" smtClean="0"/>
          </a:p>
          <a:p>
            <a:pPr marL="0" indent="0">
              <a:buNone/>
            </a:pPr>
            <a:endParaRPr lang="en-US" dirty="0"/>
          </a:p>
          <a:p>
            <a:pPr marL="0" indent="0">
              <a:buNone/>
            </a:pPr>
            <a:r>
              <a:rPr lang="en-US" dirty="0" smtClean="0"/>
              <a:t>pattern </a:t>
            </a:r>
            <a:r>
              <a:rPr lang="en-US" dirty="0"/>
              <a:t>“ABCDE”, </a:t>
            </a:r>
            <a:endParaRPr lang="en-US" dirty="0" smtClean="0"/>
          </a:p>
          <a:p>
            <a:pPr marL="0" indent="0">
              <a:buNone/>
            </a:pPr>
            <a:r>
              <a:rPr lang="en-US" dirty="0" err="1" smtClean="0"/>
              <a:t>lps</a:t>
            </a:r>
            <a:r>
              <a:rPr lang="en-US" dirty="0" smtClean="0"/>
              <a:t>[]:      [</a:t>
            </a:r>
            <a:r>
              <a:rPr lang="en-US" dirty="0"/>
              <a:t>0, 0, 0, 0, 0] </a:t>
            </a:r>
            <a:endParaRPr lang="en-US" dirty="0" smtClean="0"/>
          </a:p>
          <a:p>
            <a:pPr marL="0" indent="0">
              <a:buNone/>
            </a:pPr>
            <a:endParaRPr lang="en-US" dirty="0"/>
          </a:p>
          <a:p>
            <a:pPr marL="0" indent="0">
              <a:buNone/>
            </a:pPr>
            <a:r>
              <a:rPr lang="en-US" dirty="0" smtClean="0"/>
              <a:t>pattern </a:t>
            </a:r>
            <a:r>
              <a:rPr lang="en-US" dirty="0"/>
              <a:t>“AABAACAABAA”, </a:t>
            </a:r>
            <a:endParaRPr lang="en-US" dirty="0" smtClean="0"/>
          </a:p>
          <a:p>
            <a:pPr marL="0" indent="0">
              <a:buNone/>
            </a:pPr>
            <a:r>
              <a:rPr lang="en-US" dirty="0" err="1" smtClean="0"/>
              <a:t>lps</a:t>
            </a:r>
            <a:r>
              <a:rPr lang="en-US" dirty="0" smtClean="0"/>
              <a:t>[]:     [</a:t>
            </a:r>
            <a:r>
              <a:rPr lang="en-US" dirty="0"/>
              <a:t>0, 1, 0, 1, 2, 0, 1, 2, 3, 4, 5] </a:t>
            </a:r>
            <a:endParaRPr lang="en-US" dirty="0" smtClean="0"/>
          </a:p>
          <a:p>
            <a:pPr marL="0" indent="0">
              <a:buNone/>
            </a:pPr>
            <a:endParaRPr lang="en-US" dirty="0"/>
          </a:p>
          <a:p>
            <a:pPr marL="0" indent="0">
              <a:buNone/>
            </a:pPr>
            <a:r>
              <a:rPr lang="en-US" dirty="0" smtClean="0"/>
              <a:t>pattern </a:t>
            </a:r>
            <a:r>
              <a:rPr lang="en-US" dirty="0"/>
              <a:t>“AAACAAAAAC</a:t>
            </a:r>
            <a:r>
              <a:rPr lang="en-US" dirty="0" smtClean="0"/>
              <a:t>”,</a:t>
            </a:r>
          </a:p>
          <a:p>
            <a:pPr marL="0" indent="0">
              <a:buNone/>
            </a:pPr>
            <a:r>
              <a:rPr lang="en-US" dirty="0" err="1" smtClean="0"/>
              <a:t>lps</a:t>
            </a:r>
            <a:r>
              <a:rPr lang="en-US" dirty="0" smtClean="0"/>
              <a:t>[]:      [</a:t>
            </a:r>
            <a:r>
              <a:rPr lang="en-US" dirty="0"/>
              <a:t>0, 1, 2, 0, 1, 2, 3, 3, 3, 4] </a:t>
            </a:r>
            <a:endParaRPr lang="en-US" dirty="0" smtClean="0"/>
          </a:p>
          <a:p>
            <a:pPr marL="0" indent="0">
              <a:buNone/>
            </a:pPr>
            <a:endParaRPr lang="en-US" dirty="0" smtClean="0"/>
          </a:p>
          <a:p>
            <a:pPr marL="0" indent="0">
              <a:buNone/>
            </a:pPr>
            <a:r>
              <a:rPr lang="en-US" dirty="0" smtClean="0"/>
              <a:t>pattern </a:t>
            </a:r>
            <a:r>
              <a:rPr lang="en-US" dirty="0"/>
              <a:t>“AAABAAA”, </a:t>
            </a:r>
            <a:endParaRPr lang="en-US" dirty="0" smtClean="0"/>
          </a:p>
          <a:p>
            <a:pPr marL="0" indent="0">
              <a:buNone/>
            </a:pPr>
            <a:r>
              <a:rPr lang="en-US" dirty="0" err="1" smtClean="0"/>
              <a:t>lps</a:t>
            </a:r>
            <a:r>
              <a:rPr lang="en-US" dirty="0" smtClean="0"/>
              <a:t>[]:      [</a:t>
            </a:r>
            <a:r>
              <a:rPr lang="en-US" dirty="0"/>
              <a:t>0, 1, 2, 0, 1, 2, 3]</a:t>
            </a:r>
          </a:p>
        </p:txBody>
      </p:sp>
    </p:spTree>
    <p:extLst>
      <p:ext uri="{BB962C8B-B14F-4D97-AF65-F5344CB8AC3E}">
        <p14:creationId xmlns:p14="http://schemas.microsoft.com/office/powerpoint/2010/main" val="80758966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Now Searching</a:t>
            </a:r>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29</a:t>
            </a:fld>
            <a:endParaRPr lang="en-US"/>
          </a:p>
        </p:txBody>
      </p:sp>
      <p:sp>
        <p:nvSpPr>
          <p:cNvPr id="6" name="Content Placeholder 5"/>
          <p:cNvSpPr>
            <a:spLocks noGrp="1"/>
          </p:cNvSpPr>
          <p:nvPr>
            <p:ph sz="quarter" idx="1"/>
          </p:nvPr>
        </p:nvSpPr>
        <p:spPr/>
        <p:txBody>
          <a:bodyPr/>
          <a:lstStyle/>
          <a:p>
            <a:pPr marL="0" indent="0" fontAlgn="base">
              <a:buNone/>
            </a:pPr>
            <a:r>
              <a:rPr lang="en-US" dirty="0"/>
              <a:t>Unlike </a:t>
            </a:r>
            <a:r>
              <a:rPr lang="en-US" i="1" dirty="0" smtClean="0"/>
              <a:t>Naïve Algorithm</a:t>
            </a:r>
            <a:r>
              <a:rPr lang="en-US" dirty="0" smtClean="0"/>
              <a:t>, </a:t>
            </a:r>
            <a:r>
              <a:rPr lang="en-US" dirty="0"/>
              <a:t>where </a:t>
            </a:r>
            <a:r>
              <a:rPr lang="en-US" dirty="0" smtClean="0"/>
              <a:t>slide </a:t>
            </a:r>
            <a:r>
              <a:rPr lang="en-US" dirty="0"/>
              <a:t>the pattern by one and compare all characters at each shift, </a:t>
            </a:r>
            <a:endParaRPr lang="en-US" dirty="0"/>
          </a:p>
          <a:p>
            <a:pPr marL="0" indent="0" fontAlgn="base">
              <a:buNone/>
            </a:pPr>
            <a:r>
              <a:rPr lang="en-US" dirty="0" smtClean="0"/>
              <a:t> use </a:t>
            </a:r>
            <a:r>
              <a:rPr lang="en-US" dirty="0"/>
              <a:t>a value from </a:t>
            </a:r>
            <a:r>
              <a:rPr lang="en-US" dirty="0" err="1">
                <a:solidFill>
                  <a:srgbClr val="7030A0"/>
                </a:solidFill>
              </a:rPr>
              <a:t>lps</a:t>
            </a:r>
            <a:r>
              <a:rPr lang="en-US" dirty="0">
                <a:solidFill>
                  <a:srgbClr val="7030A0"/>
                </a:solidFill>
              </a:rPr>
              <a:t>[] </a:t>
            </a:r>
            <a:r>
              <a:rPr lang="en-US" dirty="0"/>
              <a:t>to decide the next characters to be matched. The idea is to not match a character that we know will anyway match.</a:t>
            </a:r>
          </a:p>
          <a:p>
            <a:pPr fontAlgn="base"/>
            <a:r>
              <a:rPr lang="en-US" dirty="0"/>
              <a:t>How to use </a:t>
            </a:r>
            <a:r>
              <a:rPr lang="en-US" dirty="0" err="1">
                <a:solidFill>
                  <a:srgbClr val="7030A0"/>
                </a:solidFill>
              </a:rPr>
              <a:t>lps</a:t>
            </a:r>
            <a:r>
              <a:rPr lang="en-US" dirty="0">
                <a:solidFill>
                  <a:srgbClr val="7030A0"/>
                </a:solidFill>
              </a:rPr>
              <a:t>[] </a:t>
            </a:r>
            <a:r>
              <a:rPr lang="en-US" dirty="0"/>
              <a:t>to decide next positions (or to know a number of characters to be skipped)?</a:t>
            </a:r>
          </a:p>
          <a:p>
            <a:pPr marL="0" indent="0">
              <a:buNone/>
            </a:pPr>
            <a:endParaRPr lang="en-US" dirty="0"/>
          </a:p>
        </p:txBody>
      </p:sp>
    </p:spTree>
    <p:extLst>
      <p:ext uri="{BB962C8B-B14F-4D97-AF65-F5344CB8AC3E}">
        <p14:creationId xmlns:p14="http://schemas.microsoft.com/office/powerpoint/2010/main" val="81862208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Searching Algorithm</a:t>
            </a:r>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30</a:t>
            </a:fld>
            <a:endParaRPr lang="en-US"/>
          </a:p>
        </p:txBody>
      </p:sp>
      <p:sp>
        <p:nvSpPr>
          <p:cNvPr id="6" name="Content Placeholder 5"/>
          <p:cNvSpPr>
            <a:spLocks noGrp="1"/>
          </p:cNvSpPr>
          <p:nvPr>
            <p:ph sz="quarter" idx="1"/>
          </p:nvPr>
        </p:nvSpPr>
        <p:spPr/>
        <p:txBody>
          <a:bodyPr>
            <a:normAutofit fontScale="92500"/>
          </a:bodyPr>
          <a:lstStyle/>
          <a:p>
            <a:pPr fontAlgn="base"/>
            <a:r>
              <a:rPr lang="en-US" dirty="0"/>
              <a:t>S</a:t>
            </a:r>
            <a:r>
              <a:rPr lang="en-US" dirty="0" smtClean="0"/>
              <a:t>tart </a:t>
            </a:r>
            <a:r>
              <a:rPr lang="en-US" dirty="0"/>
              <a:t>comparison of </a:t>
            </a:r>
            <a:r>
              <a:rPr lang="en-US" dirty="0">
                <a:solidFill>
                  <a:srgbClr val="7030A0"/>
                </a:solidFill>
              </a:rPr>
              <a:t>pat[j] with j = 0 </a:t>
            </a:r>
            <a:r>
              <a:rPr lang="en-US" dirty="0"/>
              <a:t>with characters of current window of text.</a:t>
            </a:r>
          </a:p>
          <a:p>
            <a:pPr fontAlgn="base"/>
            <a:r>
              <a:rPr lang="en-US" dirty="0" smtClean="0"/>
              <a:t>Keep </a:t>
            </a:r>
            <a:r>
              <a:rPr lang="en-US" dirty="0"/>
              <a:t>matching characters </a:t>
            </a:r>
            <a:r>
              <a:rPr lang="en-US" dirty="0">
                <a:solidFill>
                  <a:srgbClr val="7030A0"/>
                </a:solidFill>
              </a:rPr>
              <a:t>txt[i] and pat[j] </a:t>
            </a:r>
            <a:r>
              <a:rPr lang="en-US" dirty="0"/>
              <a:t>and keep incrementing i and j while </a:t>
            </a:r>
            <a:r>
              <a:rPr lang="en-US" dirty="0">
                <a:solidFill>
                  <a:srgbClr val="7030A0"/>
                </a:solidFill>
              </a:rPr>
              <a:t>pat[j] and txt[i] </a:t>
            </a:r>
            <a:r>
              <a:rPr lang="en-US" dirty="0"/>
              <a:t>keep </a:t>
            </a:r>
            <a:r>
              <a:rPr lang="en-US" b="1" dirty="0"/>
              <a:t>matching</a:t>
            </a:r>
            <a:r>
              <a:rPr lang="en-US" dirty="0"/>
              <a:t>.</a:t>
            </a:r>
          </a:p>
          <a:p>
            <a:pPr fontAlgn="base"/>
            <a:r>
              <a:rPr lang="en-US" dirty="0"/>
              <a:t>When </a:t>
            </a:r>
            <a:r>
              <a:rPr lang="en-US" dirty="0" smtClean="0"/>
              <a:t>a</a:t>
            </a:r>
            <a:r>
              <a:rPr lang="en-US" dirty="0"/>
              <a:t> </a:t>
            </a:r>
            <a:r>
              <a:rPr lang="en-US" b="1" dirty="0" smtClean="0"/>
              <a:t>mismatch found</a:t>
            </a:r>
            <a:endParaRPr lang="en-US" dirty="0"/>
          </a:p>
          <a:p>
            <a:pPr lvl="1" fontAlgn="base"/>
            <a:r>
              <a:rPr lang="en-US" dirty="0"/>
              <a:t>We know that characters </a:t>
            </a:r>
            <a:r>
              <a:rPr lang="en-US" dirty="0">
                <a:solidFill>
                  <a:srgbClr val="00B0F0"/>
                </a:solidFill>
              </a:rPr>
              <a:t>pat[0..j-1]</a:t>
            </a:r>
            <a:r>
              <a:rPr lang="en-US" dirty="0"/>
              <a:t> match with </a:t>
            </a:r>
            <a:r>
              <a:rPr lang="en-US" dirty="0">
                <a:solidFill>
                  <a:srgbClr val="00B0F0"/>
                </a:solidFill>
              </a:rPr>
              <a:t>txt[i-j…i-1</a:t>
            </a:r>
            <a:r>
              <a:rPr lang="en-US" dirty="0"/>
              <a:t>] (Note that j starts with 0 and increment it only when there is a match).</a:t>
            </a:r>
          </a:p>
          <a:p>
            <a:pPr lvl="1" fontAlgn="base"/>
            <a:r>
              <a:rPr lang="en-US" dirty="0"/>
              <a:t>We also know (from above definition) that </a:t>
            </a:r>
            <a:r>
              <a:rPr lang="en-US" dirty="0" err="1">
                <a:solidFill>
                  <a:srgbClr val="00B0F0"/>
                </a:solidFill>
              </a:rPr>
              <a:t>lps</a:t>
            </a:r>
            <a:r>
              <a:rPr lang="en-US" dirty="0">
                <a:solidFill>
                  <a:srgbClr val="00B0F0"/>
                </a:solidFill>
              </a:rPr>
              <a:t>[j-1]</a:t>
            </a:r>
            <a:r>
              <a:rPr lang="en-US" dirty="0"/>
              <a:t> is count of characters </a:t>
            </a:r>
            <a:r>
              <a:rPr lang="en-US" dirty="0">
                <a:solidFill>
                  <a:srgbClr val="00B0F0"/>
                </a:solidFill>
              </a:rPr>
              <a:t>of pat[0…j-1] </a:t>
            </a:r>
            <a:r>
              <a:rPr lang="en-US" dirty="0"/>
              <a:t>that are </a:t>
            </a:r>
            <a:r>
              <a:rPr lang="en-US" dirty="0">
                <a:solidFill>
                  <a:srgbClr val="00B0F0"/>
                </a:solidFill>
              </a:rPr>
              <a:t>both</a:t>
            </a:r>
            <a:r>
              <a:rPr lang="en-US" dirty="0"/>
              <a:t> proper prefix and suffix.</a:t>
            </a:r>
          </a:p>
          <a:p>
            <a:pPr lvl="1" fontAlgn="base"/>
            <a:r>
              <a:rPr lang="en-US" dirty="0"/>
              <a:t>From above two points, we can conclude that we </a:t>
            </a:r>
            <a:r>
              <a:rPr lang="en-US" dirty="0">
                <a:solidFill>
                  <a:srgbClr val="00B0F0"/>
                </a:solidFill>
              </a:rPr>
              <a:t>do not need to match</a:t>
            </a:r>
            <a:r>
              <a:rPr lang="en-US" dirty="0"/>
              <a:t> these </a:t>
            </a:r>
            <a:r>
              <a:rPr lang="en-US" dirty="0" err="1">
                <a:solidFill>
                  <a:srgbClr val="00B0F0"/>
                </a:solidFill>
              </a:rPr>
              <a:t>lps</a:t>
            </a:r>
            <a:r>
              <a:rPr lang="en-US" dirty="0">
                <a:solidFill>
                  <a:srgbClr val="00B0F0"/>
                </a:solidFill>
              </a:rPr>
              <a:t>[j-1]</a:t>
            </a:r>
            <a:r>
              <a:rPr lang="en-US" dirty="0"/>
              <a:t> characters with </a:t>
            </a:r>
            <a:r>
              <a:rPr lang="en-US" dirty="0">
                <a:solidFill>
                  <a:srgbClr val="00B0F0"/>
                </a:solidFill>
              </a:rPr>
              <a:t>txt[i-j…i-1]</a:t>
            </a:r>
            <a:r>
              <a:rPr lang="en-US" dirty="0"/>
              <a:t> because we know that these characters will anyway match. Let us consider </a:t>
            </a:r>
            <a:r>
              <a:rPr lang="en-US" dirty="0" smtClean="0"/>
              <a:t>mentioned example </a:t>
            </a:r>
            <a:r>
              <a:rPr lang="en-US" dirty="0"/>
              <a:t>to understand this.</a:t>
            </a:r>
          </a:p>
          <a:p>
            <a:pPr marL="0" indent="0">
              <a:buNone/>
            </a:pPr>
            <a:endParaRPr lang="en-US" dirty="0"/>
          </a:p>
        </p:txBody>
      </p:sp>
    </p:spTree>
    <p:extLst>
      <p:ext uri="{BB962C8B-B14F-4D97-AF65-F5344CB8AC3E}">
        <p14:creationId xmlns:p14="http://schemas.microsoft.com/office/powerpoint/2010/main" val="25096751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Searching Illustration</a:t>
            </a:r>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31</a:t>
            </a:fld>
            <a:endParaRPr lang="en-US"/>
          </a:p>
        </p:txBody>
      </p:sp>
      <p:sp>
        <p:nvSpPr>
          <p:cNvPr id="6" name="Content Placeholder 5"/>
          <p:cNvSpPr>
            <a:spLocks noGrp="1"/>
          </p:cNvSpPr>
          <p:nvPr>
            <p:ph sz="quarter" idx="1"/>
          </p:nvPr>
        </p:nvSpPr>
        <p:spPr/>
        <p:txBody>
          <a:bodyPr>
            <a:normAutofit fontScale="85000" lnSpcReduction="20000"/>
          </a:bodyPr>
          <a:lstStyle/>
          <a:p>
            <a:pPr marL="0" indent="0">
              <a:buNone/>
            </a:pPr>
            <a:r>
              <a:rPr lang="en-US" dirty="0"/>
              <a:t>txt[] = "</a:t>
            </a:r>
            <a:r>
              <a:rPr lang="en-US" b="1" dirty="0" smtClean="0"/>
              <a:t>AAAA</a:t>
            </a:r>
            <a:r>
              <a:rPr lang="en-US" dirty="0" smtClean="0"/>
              <a:t>ABAAAB" </a:t>
            </a:r>
          </a:p>
          <a:p>
            <a:pPr marL="0" indent="0">
              <a:buNone/>
            </a:pPr>
            <a:r>
              <a:rPr lang="en-US" dirty="0" smtClean="0"/>
              <a:t>pat</a:t>
            </a:r>
            <a:r>
              <a:rPr lang="en-US" dirty="0"/>
              <a:t>[] = "</a:t>
            </a:r>
            <a:r>
              <a:rPr lang="en-US" b="1" dirty="0"/>
              <a:t>AAAA</a:t>
            </a:r>
            <a:r>
              <a:rPr lang="en-US" dirty="0"/>
              <a:t>" </a:t>
            </a:r>
            <a:endParaRPr lang="en-US" dirty="0" smtClean="0"/>
          </a:p>
          <a:p>
            <a:pPr marL="0" indent="0">
              <a:buNone/>
            </a:pPr>
            <a:r>
              <a:rPr lang="en-US" dirty="0" err="1" smtClean="0"/>
              <a:t>lps</a:t>
            </a:r>
            <a:r>
              <a:rPr lang="en-US" dirty="0"/>
              <a:t>[] = {0, 1, 2, 3} </a:t>
            </a:r>
            <a:endParaRPr lang="en-US" dirty="0" smtClean="0"/>
          </a:p>
          <a:p>
            <a:pPr marL="0" indent="0">
              <a:buNone/>
            </a:pPr>
            <a:endParaRPr lang="en-US" dirty="0"/>
          </a:p>
          <a:p>
            <a:pPr marL="0" indent="0">
              <a:buNone/>
            </a:pPr>
            <a:r>
              <a:rPr lang="en-US" dirty="0" smtClean="0"/>
              <a:t>i </a:t>
            </a:r>
            <a:r>
              <a:rPr lang="en-US" dirty="0"/>
              <a:t>= 0, j = 0 </a:t>
            </a:r>
            <a:endParaRPr lang="en-US" dirty="0" smtClean="0"/>
          </a:p>
          <a:p>
            <a:pPr marL="0" indent="0">
              <a:buNone/>
            </a:pPr>
            <a:r>
              <a:rPr lang="en-US" dirty="0" smtClean="0"/>
              <a:t>txt</a:t>
            </a:r>
            <a:r>
              <a:rPr lang="en-US" dirty="0"/>
              <a:t>[] = "</a:t>
            </a:r>
            <a:r>
              <a:rPr lang="en-US" b="1" dirty="0">
                <a:solidFill>
                  <a:srgbClr val="00B050"/>
                </a:solidFill>
              </a:rPr>
              <a:t>A</a:t>
            </a:r>
            <a:r>
              <a:rPr lang="en-US" b="1" dirty="0"/>
              <a:t>AAA</a:t>
            </a:r>
            <a:r>
              <a:rPr lang="en-US" dirty="0"/>
              <a:t>ABAAABA" </a:t>
            </a:r>
            <a:endParaRPr lang="en-US" dirty="0" smtClean="0"/>
          </a:p>
          <a:p>
            <a:pPr marL="0" indent="0">
              <a:buNone/>
            </a:pPr>
            <a:r>
              <a:rPr lang="en-US" dirty="0" smtClean="0"/>
              <a:t>pat</a:t>
            </a:r>
            <a:r>
              <a:rPr lang="en-US" dirty="0"/>
              <a:t>[] = "</a:t>
            </a:r>
            <a:r>
              <a:rPr lang="en-US" b="1" dirty="0">
                <a:solidFill>
                  <a:srgbClr val="00B050"/>
                </a:solidFill>
              </a:rPr>
              <a:t>A</a:t>
            </a:r>
            <a:r>
              <a:rPr lang="en-US" b="1" dirty="0"/>
              <a:t>AAA</a:t>
            </a:r>
            <a:r>
              <a:rPr lang="en-US" dirty="0"/>
              <a:t>" </a:t>
            </a:r>
            <a:endParaRPr lang="en-US" dirty="0" smtClean="0"/>
          </a:p>
          <a:p>
            <a:pPr marL="0" indent="0">
              <a:buNone/>
            </a:pPr>
            <a:r>
              <a:rPr lang="en-US" dirty="0" smtClean="0"/>
              <a:t>txt[i</a:t>
            </a:r>
            <a:r>
              <a:rPr lang="en-US" dirty="0"/>
              <a:t>] and pat[j] match, do i++, j++ </a:t>
            </a:r>
            <a:endParaRPr lang="en-US" dirty="0" smtClean="0"/>
          </a:p>
          <a:p>
            <a:pPr marL="0" indent="0">
              <a:buNone/>
            </a:pPr>
            <a:endParaRPr lang="en-US" dirty="0"/>
          </a:p>
          <a:p>
            <a:pPr marL="0" indent="0">
              <a:buNone/>
            </a:pPr>
            <a:r>
              <a:rPr lang="en-US" dirty="0" smtClean="0"/>
              <a:t>i </a:t>
            </a:r>
            <a:r>
              <a:rPr lang="en-US" dirty="0"/>
              <a:t>= 1, j = 1 </a:t>
            </a:r>
            <a:endParaRPr lang="en-US" dirty="0" smtClean="0"/>
          </a:p>
          <a:p>
            <a:pPr marL="0" indent="0">
              <a:buNone/>
            </a:pPr>
            <a:r>
              <a:rPr lang="en-US" dirty="0" smtClean="0"/>
              <a:t>txt</a:t>
            </a:r>
            <a:r>
              <a:rPr lang="en-US" dirty="0"/>
              <a:t>[] = "</a:t>
            </a:r>
            <a:r>
              <a:rPr lang="en-US" b="1" dirty="0"/>
              <a:t>A</a:t>
            </a:r>
            <a:r>
              <a:rPr lang="en-US" b="1" dirty="0">
                <a:solidFill>
                  <a:srgbClr val="00B050"/>
                </a:solidFill>
              </a:rPr>
              <a:t>A</a:t>
            </a:r>
            <a:r>
              <a:rPr lang="en-US" b="1" dirty="0"/>
              <a:t>AA</a:t>
            </a:r>
            <a:r>
              <a:rPr lang="en-US" dirty="0"/>
              <a:t>ABAAABA" </a:t>
            </a:r>
            <a:endParaRPr lang="en-US" dirty="0" smtClean="0"/>
          </a:p>
          <a:p>
            <a:pPr marL="0" indent="0">
              <a:buNone/>
            </a:pPr>
            <a:r>
              <a:rPr lang="en-US" dirty="0" smtClean="0"/>
              <a:t>pat</a:t>
            </a:r>
            <a:r>
              <a:rPr lang="en-US" dirty="0"/>
              <a:t>[] = "</a:t>
            </a:r>
            <a:r>
              <a:rPr lang="en-US" b="1" dirty="0"/>
              <a:t>A</a:t>
            </a:r>
            <a:r>
              <a:rPr lang="en-US" b="1" dirty="0">
                <a:solidFill>
                  <a:srgbClr val="00B050"/>
                </a:solidFill>
              </a:rPr>
              <a:t>A</a:t>
            </a:r>
            <a:r>
              <a:rPr lang="en-US" b="1" dirty="0"/>
              <a:t>AA</a:t>
            </a:r>
            <a:r>
              <a:rPr lang="en-US" dirty="0"/>
              <a:t>" </a:t>
            </a:r>
            <a:endParaRPr lang="en-US" dirty="0" smtClean="0"/>
          </a:p>
          <a:p>
            <a:pPr marL="0" indent="0">
              <a:buNone/>
            </a:pPr>
            <a:r>
              <a:rPr lang="en-US" dirty="0" smtClean="0"/>
              <a:t>txt[i</a:t>
            </a:r>
            <a:r>
              <a:rPr lang="en-US" dirty="0"/>
              <a:t>] and pat[j] match, do i++, j++ </a:t>
            </a:r>
            <a:br>
              <a:rPr lang="en-US" dirty="0"/>
            </a:br>
            <a:endParaRPr lang="en-US" dirty="0"/>
          </a:p>
        </p:txBody>
      </p:sp>
    </p:spTree>
    <p:extLst>
      <p:ext uri="{BB962C8B-B14F-4D97-AF65-F5344CB8AC3E}">
        <p14:creationId xmlns:p14="http://schemas.microsoft.com/office/powerpoint/2010/main" val="643305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1000"/>
                                        <p:tgtEl>
                                          <p:spTgt spid="6">
                                            <p:txEl>
                                              <p:pRg st="1" end="1"/>
                                            </p:txEl>
                                          </p:spTgt>
                                        </p:tgtEl>
                                      </p:cBhvr>
                                    </p:animEffect>
                                    <p:anim calcmode="lin" valueType="num">
                                      <p:cBhvr>
                                        <p:cTn id="13"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1000"/>
                                        <p:tgtEl>
                                          <p:spTgt spid="6">
                                            <p:txEl>
                                              <p:pRg st="2" end="2"/>
                                            </p:txEl>
                                          </p:spTgt>
                                        </p:tgtEl>
                                      </p:cBhvr>
                                    </p:animEffect>
                                    <p:anim calcmode="lin" valueType="num">
                                      <p:cBhvr>
                                        <p:cTn id="1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6">
                                            <p:txEl>
                                              <p:pRg st="4" end="4"/>
                                            </p:txEl>
                                          </p:spTgt>
                                        </p:tgtEl>
                                        <p:attrNameLst>
                                          <p:attrName>style.visibility</p:attrName>
                                        </p:attrNameLst>
                                      </p:cBhvr>
                                      <p:to>
                                        <p:strVal val="visible"/>
                                      </p:to>
                                    </p:set>
                                    <p:animEffect transition="in" filter="fade">
                                      <p:cBhvr>
                                        <p:cTn id="24" dur="1000"/>
                                        <p:tgtEl>
                                          <p:spTgt spid="6">
                                            <p:txEl>
                                              <p:pRg st="4" end="4"/>
                                            </p:txEl>
                                          </p:spTgt>
                                        </p:tgtEl>
                                      </p:cBhvr>
                                    </p:animEffect>
                                    <p:anim calcmode="lin" valueType="num">
                                      <p:cBhvr>
                                        <p:cTn id="25"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6">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6">
                                            <p:txEl>
                                              <p:pRg st="5" end="5"/>
                                            </p:txEl>
                                          </p:spTgt>
                                        </p:tgtEl>
                                        <p:attrNameLst>
                                          <p:attrName>style.visibility</p:attrName>
                                        </p:attrNameLst>
                                      </p:cBhvr>
                                      <p:to>
                                        <p:strVal val="visible"/>
                                      </p:to>
                                    </p:set>
                                    <p:animEffect transition="in" filter="fade">
                                      <p:cBhvr>
                                        <p:cTn id="29" dur="1000"/>
                                        <p:tgtEl>
                                          <p:spTgt spid="6">
                                            <p:txEl>
                                              <p:pRg st="5" end="5"/>
                                            </p:txEl>
                                          </p:spTgt>
                                        </p:tgtEl>
                                      </p:cBhvr>
                                    </p:animEffect>
                                    <p:anim calcmode="lin" valueType="num">
                                      <p:cBhvr>
                                        <p:cTn id="30"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6">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6">
                                            <p:txEl>
                                              <p:pRg st="6" end="6"/>
                                            </p:txEl>
                                          </p:spTgt>
                                        </p:tgtEl>
                                        <p:attrNameLst>
                                          <p:attrName>style.visibility</p:attrName>
                                        </p:attrNameLst>
                                      </p:cBhvr>
                                      <p:to>
                                        <p:strVal val="visible"/>
                                      </p:to>
                                    </p:set>
                                    <p:animEffect transition="in" filter="fade">
                                      <p:cBhvr>
                                        <p:cTn id="34" dur="1000"/>
                                        <p:tgtEl>
                                          <p:spTgt spid="6">
                                            <p:txEl>
                                              <p:pRg st="6" end="6"/>
                                            </p:txEl>
                                          </p:spTgt>
                                        </p:tgtEl>
                                      </p:cBhvr>
                                    </p:animEffect>
                                    <p:anim calcmode="lin" valueType="num">
                                      <p:cBhvr>
                                        <p:cTn id="35"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6">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6">
                                            <p:txEl>
                                              <p:pRg st="7" end="7"/>
                                            </p:txEl>
                                          </p:spTgt>
                                        </p:tgtEl>
                                        <p:attrNameLst>
                                          <p:attrName>style.visibility</p:attrName>
                                        </p:attrNameLst>
                                      </p:cBhvr>
                                      <p:to>
                                        <p:strVal val="visible"/>
                                      </p:to>
                                    </p:set>
                                    <p:animEffect transition="in" filter="fade">
                                      <p:cBhvr>
                                        <p:cTn id="39" dur="1000"/>
                                        <p:tgtEl>
                                          <p:spTgt spid="6">
                                            <p:txEl>
                                              <p:pRg st="7" end="7"/>
                                            </p:txEl>
                                          </p:spTgt>
                                        </p:tgtEl>
                                      </p:cBhvr>
                                    </p:animEffect>
                                    <p:anim calcmode="lin" valueType="num">
                                      <p:cBhvr>
                                        <p:cTn id="40"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6">
                                            <p:txEl>
                                              <p:pRg st="9" end="9"/>
                                            </p:txEl>
                                          </p:spTgt>
                                        </p:tgtEl>
                                        <p:attrNameLst>
                                          <p:attrName>style.visibility</p:attrName>
                                        </p:attrNameLst>
                                      </p:cBhvr>
                                      <p:to>
                                        <p:strVal val="visible"/>
                                      </p:to>
                                    </p:set>
                                    <p:animEffect transition="in" filter="fade">
                                      <p:cBhvr>
                                        <p:cTn id="46" dur="1000"/>
                                        <p:tgtEl>
                                          <p:spTgt spid="6">
                                            <p:txEl>
                                              <p:pRg st="9" end="9"/>
                                            </p:txEl>
                                          </p:spTgt>
                                        </p:tgtEl>
                                      </p:cBhvr>
                                    </p:animEffect>
                                    <p:anim calcmode="lin" valueType="num">
                                      <p:cBhvr>
                                        <p:cTn id="47" dur="1000" fill="hold"/>
                                        <p:tgtEl>
                                          <p:spTgt spid="6">
                                            <p:txEl>
                                              <p:pRg st="9" end="9"/>
                                            </p:txEl>
                                          </p:spTgt>
                                        </p:tgtEl>
                                        <p:attrNameLst>
                                          <p:attrName>ppt_x</p:attrName>
                                        </p:attrNameLst>
                                      </p:cBhvr>
                                      <p:tavLst>
                                        <p:tav tm="0">
                                          <p:val>
                                            <p:strVal val="#ppt_x"/>
                                          </p:val>
                                        </p:tav>
                                        <p:tav tm="100000">
                                          <p:val>
                                            <p:strVal val="#ppt_x"/>
                                          </p:val>
                                        </p:tav>
                                      </p:tavLst>
                                    </p:anim>
                                    <p:anim calcmode="lin" valueType="num">
                                      <p:cBhvr>
                                        <p:cTn id="48" dur="1000" fill="hold"/>
                                        <p:tgtEl>
                                          <p:spTgt spid="6">
                                            <p:txEl>
                                              <p:pRg st="9" end="9"/>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6">
                                            <p:txEl>
                                              <p:pRg st="10" end="10"/>
                                            </p:txEl>
                                          </p:spTgt>
                                        </p:tgtEl>
                                        <p:attrNameLst>
                                          <p:attrName>style.visibility</p:attrName>
                                        </p:attrNameLst>
                                      </p:cBhvr>
                                      <p:to>
                                        <p:strVal val="visible"/>
                                      </p:to>
                                    </p:set>
                                    <p:animEffect transition="in" filter="fade">
                                      <p:cBhvr>
                                        <p:cTn id="51" dur="1000"/>
                                        <p:tgtEl>
                                          <p:spTgt spid="6">
                                            <p:txEl>
                                              <p:pRg st="10" end="10"/>
                                            </p:txEl>
                                          </p:spTgt>
                                        </p:tgtEl>
                                      </p:cBhvr>
                                    </p:animEffect>
                                    <p:anim calcmode="lin" valueType="num">
                                      <p:cBhvr>
                                        <p:cTn id="52" dur="1000" fill="hold"/>
                                        <p:tgtEl>
                                          <p:spTgt spid="6">
                                            <p:txEl>
                                              <p:pRg st="10" end="10"/>
                                            </p:txEl>
                                          </p:spTgt>
                                        </p:tgtEl>
                                        <p:attrNameLst>
                                          <p:attrName>ppt_x</p:attrName>
                                        </p:attrNameLst>
                                      </p:cBhvr>
                                      <p:tavLst>
                                        <p:tav tm="0">
                                          <p:val>
                                            <p:strVal val="#ppt_x"/>
                                          </p:val>
                                        </p:tav>
                                        <p:tav tm="100000">
                                          <p:val>
                                            <p:strVal val="#ppt_x"/>
                                          </p:val>
                                        </p:tav>
                                      </p:tavLst>
                                    </p:anim>
                                    <p:anim calcmode="lin" valueType="num">
                                      <p:cBhvr>
                                        <p:cTn id="53" dur="1000" fill="hold"/>
                                        <p:tgtEl>
                                          <p:spTgt spid="6">
                                            <p:txEl>
                                              <p:pRg st="10" end="10"/>
                                            </p:txEl>
                                          </p:spTgt>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6">
                                            <p:txEl>
                                              <p:pRg st="11" end="11"/>
                                            </p:txEl>
                                          </p:spTgt>
                                        </p:tgtEl>
                                        <p:attrNameLst>
                                          <p:attrName>style.visibility</p:attrName>
                                        </p:attrNameLst>
                                      </p:cBhvr>
                                      <p:to>
                                        <p:strVal val="visible"/>
                                      </p:to>
                                    </p:set>
                                    <p:animEffect transition="in" filter="fade">
                                      <p:cBhvr>
                                        <p:cTn id="56" dur="1000"/>
                                        <p:tgtEl>
                                          <p:spTgt spid="6">
                                            <p:txEl>
                                              <p:pRg st="11" end="11"/>
                                            </p:txEl>
                                          </p:spTgt>
                                        </p:tgtEl>
                                      </p:cBhvr>
                                    </p:animEffect>
                                    <p:anim calcmode="lin" valueType="num">
                                      <p:cBhvr>
                                        <p:cTn id="57" dur="1000" fill="hold"/>
                                        <p:tgtEl>
                                          <p:spTgt spid="6">
                                            <p:txEl>
                                              <p:pRg st="11" end="11"/>
                                            </p:txEl>
                                          </p:spTgt>
                                        </p:tgtEl>
                                        <p:attrNameLst>
                                          <p:attrName>ppt_x</p:attrName>
                                        </p:attrNameLst>
                                      </p:cBhvr>
                                      <p:tavLst>
                                        <p:tav tm="0">
                                          <p:val>
                                            <p:strVal val="#ppt_x"/>
                                          </p:val>
                                        </p:tav>
                                        <p:tav tm="100000">
                                          <p:val>
                                            <p:strVal val="#ppt_x"/>
                                          </p:val>
                                        </p:tav>
                                      </p:tavLst>
                                    </p:anim>
                                    <p:anim calcmode="lin" valueType="num">
                                      <p:cBhvr>
                                        <p:cTn id="58" dur="1000" fill="hold"/>
                                        <p:tgtEl>
                                          <p:spTgt spid="6">
                                            <p:txEl>
                                              <p:pRg st="11" end="11"/>
                                            </p:txEl>
                                          </p:spTgt>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6">
                                            <p:txEl>
                                              <p:pRg st="12" end="12"/>
                                            </p:txEl>
                                          </p:spTgt>
                                        </p:tgtEl>
                                        <p:attrNameLst>
                                          <p:attrName>style.visibility</p:attrName>
                                        </p:attrNameLst>
                                      </p:cBhvr>
                                      <p:to>
                                        <p:strVal val="visible"/>
                                      </p:to>
                                    </p:set>
                                    <p:animEffect transition="in" filter="fade">
                                      <p:cBhvr>
                                        <p:cTn id="61" dur="1000"/>
                                        <p:tgtEl>
                                          <p:spTgt spid="6">
                                            <p:txEl>
                                              <p:pRg st="12" end="12"/>
                                            </p:txEl>
                                          </p:spTgt>
                                        </p:tgtEl>
                                      </p:cBhvr>
                                    </p:animEffect>
                                    <p:anim calcmode="lin" valueType="num">
                                      <p:cBhvr>
                                        <p:cTn id="62" dur="1000" fill="hold"/>
                                        <p:tgtEl>
                                          <p:spTgt spid="6">
                                            <p:txEl>
                                              <p:pRg st="12" end="12"/>
                                            </p:txEl>
                                          </p:spTgt>
                                        </p:tgtEl>
                                        <p:attrNameLst>
                                          <p:attrName>ppt_x</p:attrName>
                                        </p:attrNameLst>
                                      </p:cBhvr>
                                      <p:tavLst>
                                        <p:tav tm="0">
                                          <p:val>
                                            <p:strVal val="#ppt_x"/>
                                          </p:val>
                                        </p:tav>
                                        <p:tav tm="100000">
                                          <p:val>
                                            <p:strVal val="#ppt_x"/>
                                          </p:val>
                                        </p:tav>
                                      </p:tavLst>
                                    </p:anim>
                                    <p:anim calcmode="lin" valueType="num">
                                      <p:cBhvr>
                                        <p:cTn id="63" dur="1000" fill="hold"/>
                                        <p:tgtEl>
                                          <p:spTgt spid="6">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Searching Illustration continues..</a:t>
            </a:r>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32</a:t>
            </a:fld>
            <a:endParaRPr lang="en-US"/>
          </a:p>
        </p:txBody>
      </p:sp>
      <p:sp>
        <p:nvSpPr>
          <p:cNvPr id="6" name="Content Placeholder 5"/>
          <p:cNvSpPr>
            <a:spLocks noGrp="1"/>
          </p:cNvSpPr>
          <p:nvPr>
            <p:ph sz="quarter" idx="1"/>
          </p:nvPr>
        </p:nvSpPr>
        <p:spPr/>
        <p:txBody>
          <a:bodyPr>
            <a:normAutofit fontScale="92500" lnSpcReduction="20000"/>
          </a:bodyPr>
          <a:lstStyle/>
          <a:p>
            <a:pPr marL="0" indent="0">
              <a:buNone/>
            </a:pPr>
            <a:r>
              <a:rPr lang="en-US" dirty="0"/>
              <a:t>i = 2, j = 2 </a:t>
            </a:r>
            <a:endParaRPr lang="en-US" dirty="0" smtClean="0"/>
          </a:p>
          <a:p>
            <a:pPr marL="0" indent="0">
              <a:buNone/>
            </a:pPr>
            <a:r>
              <a:rPr lang="en-US" dirty="0" smtClean="0"/>
              <a:t>txt</a:t>
            </a:r>
            <a:r>
              <a:rPr lang="en-US" dirty="0"/>
              <a:t>[] = "</a:t>
            </a:r>
            <a:r>
              <a:rPr lang="en-US" b="1" dirty="0"/>
              <a:t>AA</a:t>
            </a:r>
            <a:r>
              <a:rPr lang="en-US" b="1" dirty="0">
                <a:solidFill>
                  <a:srgbClr val="00B050"/>
                </a:solidFill>
              </a:rPr>
              <a:t>A</a:t>
            </a:r>
            <a:r>
              <a:rPr lang="en-US" b="1" dirty="0"/>
              <a:t>A</a:t>
            </a:r>
            <a:r>
              <a:rPr lang="en-US" dirty="0"/>
              <a:t>ABAAABA" </a:t>
            </a:r>
            <a:endParaRPr lang="en-US" dirty="0" smtClean="0"/>
          </a:p>
          <a:p>
            <a:pPr marL="0" indent="0">
              <a:buNone/>
            </a:pPr>
            <a:r>
              <a:rPr lang="en-US" dirty="0" smtClean="0"/>
              <a:t>pat</a:t>
            </a:r>
            <a:r>
              <a:rPr lang="en-US" dirty="0"/>
              <a:t>[] = "</a:t>
            </a:r>
            <a:r>
              <a:rPr lang="en-US" b="1" dirty="0"/>
              <a:t>AA</a:t>
            </a:r>
            <a:r>
              <a:rPr lang="en-US" b="1" dirty="0">
                <a:solidFill>
                  <a:srgbClr val="00B050"/>
                </a:solidFill>
              </a:rPr>
              <a:t>A</a:t>
            </a:r>
            <a:r>
              <a:rPr lang="en-US" b="1" dirty="0"/>
              <a:t>A</a:t>
            </a:r>
            <a:r>
              <a:rPr lang="en-US" dirty="0"/>
              <a:t>" </a:t>
            </a:r>
            <a:endParaRPr lang="en-US" dirty="0" smtClean="0"/>
          </a:p>
          <a:p>
            <a:pPr marL="0" indent="0">
              <a:buNone/>
            </a:pPr>
            <a:r>
              <a:rPr lang="en-US" dirty="0" smtClean="0"/>
              <a:t>pat[i</a:t>
            </a:r>
            <a:r>
              <a:rPr lang="en-US" dirty="0"/>
              <a:t>] and pat[j] match, do i++, j++ </a:t>
            </a:r>
            <a:endParaRPr lang="en-US" dirty="0" smtClean="0"/>
          </a:p>
          <a:p>
            <a:pPr marL="0" indent="0">
              <a:buNone/>
            </a:pPr>
            <a:endParaRPr lang="en-US" dirty="0" smtClean="0"/>
          </a:p>
          <a:p>
            <a:pPr marL="0" indent="0">
              <a:buNone/>
            </a:pPr>
            <a:r>
              <a:rPr lang="en-US" dirty="0" smtClean="0"/>
              <a:t>i </a:t>
            </a:r>
            <a:r>
              <a:rPr lang="en-US" dirty="0"/>
              <a:t>= 3, j = 3 </a:t>
            </a:r>
            <a:endParaRPr lang="en-US" dirty="0" smtClean="0"/>
          </a:p>
          <a:p>
            <a:pPr marL="0" indent="0">
              <a:buNone/>
            </a:pPr>
            <a:r>
              <a:rPr lang="en-US" dirty="0" smtClean="0"/>
              <a:t>txt</a:t>
            </a:r>
            <a:r>
              <a:rPr lang="en-US" dirty="0"/>
              <a:t>[] = "</a:t>
            </a:r>
            <a:r>
              <a:rPr lang="en-US" b="1" dirty="0"/>
              <a:t>AAA</a:t>
            </a:r>
            <a:r>
              <a:rPr lang="en-US" b="1" dirty="0">
                <a:solidFill>
                  <a:srgbClr val="00B050"/>
                </a:solidFill>
              </a:rPr>
              <a:t>A</a:t>
            </a:r>
            <a:r>
              <a:rPr lang="en-US" dirty="0"/>
              <a:t>ABAAABA" </a:t>
            </a:r>
            <a:endParaRPr lang="en-US" dirty="0" smtClean="0"/>
          </a:p>
          <a:p>
            <a:pPr marL="0" indent="0">
              <a:buNone/>
            </a:pPr>
            <a:r>
              <a:rPr lang="en-US" dirty="0" smtClean="0"/>
              <a:t>pat</a:t>
            </a:r>
            <a:r>
              <a:rPr lang="en-US" dirty="0"/>
              <a:t>[] = "</a:t>
            </a:r>
            <a:r>
              <a:rPr lang="en-US" b="1" dirty="0"/>
              <a:t>AAA</a:t>
            </a:r>
            <a:r>
              <a:rPr lang="en-US" b="1" dirty="0">
                <a:solidFill>
                  <a:srgbClr val="00B050"/>
                </a:solidFill>
              </a:rPr>
              <a:t>A</a:t>
            </a:r>
            <a:r>
              <a:rPr lang="en-US" dirty="0"/>
              <a:t>" </a:t>
            </a:r>
            <a:endParaRPr lang="en-US" dirty="0" smtClean="0"/>
          </a:p>
          <a:p>
            <a:pPr marL="0" indent="0">
              <a:buNone/>
            </a:pPr>
            <a:r>
              <a:rPr lang="en-US" dirty="0" smtClean="0"/>
              <a:t>txt[i</a:t>
            </a:r>
            <a:r>
              <a:rPr lang="en-US" dirty="0"/>
              <a:t>] and pat[j] match, do i++, j++ </a:t>
            </a:r>
            <a:endParaRPr lang="en-US" dirty="0" smtClean="0"/>
          </a:p>
          <a:p>
            <a:pPr marL="0" indent="0">
              <a:buNone/>
            </a:pPr>
            <a:endParaRPr lang="en-US" dirty="0" smtClean="0"/>
          </a:p>
          <a:p>
            <a:pPr marL="0" indent="0">
              <a:buNone/>
            </a:pPr>
            <a:r>
              <a:rPr lang="en-US" dirty="0" smtClean="0"/>
              <a:t>i </a:t>
            </a:r>
            <a:r>
              <a:rPr lang="en-US" dirty="0"/>
              <a:t>= 4, j = 4 </a:t>
            </a:r>
            <a:endParaRPr lang="en-US" dirty="0" smtClean="0"/>
          </a:p>
          <a:p>
            <a:pPr marL="0" indent="0">
              <a:buNone/>
            </a:pPr>
            <a:r>
              <a:rPr lang="en-US" dirty="0" smtClean="0"/>
              <a:t>Since </a:t>
            </a:r>
            <a:r>
              <a:rPr lang="en-US" dirty="0"/>
              <a:t>j == M, print </a:t>
            </a:r>
            <a:r>
              <a:rPr lang="en-US" b="1" dirty="0"/>
              <a:t>pattern found</a:t>
            </a:r>
            <a:r>
              <a:rPr lang="en-US" dirty="0"/>
              <a:t> and </a:t>
            </a:r>
            <a:r>
              <a:rPr lang="en-US" dirty="0" smtClean="0"/>
              <a:t>reset </a:t>
            </a:r>
            <a:r>
              <a:rPr lang="en-US" dirty="0"/>
              <a:t>j, </a:t>
            </a:r>
            <a:endParaRPr lang="en-US" dirty="0" smtClean="0"/>
          </a:p>
          <a:p>
            <a:pPr marL="0" indent="0">
              <a:buNone/>
            </a:pPr>
            <a:r>
              <a:rPr lang="en-US" dirty="0" smtClean="0"/>
              <a:t>j </a:t>
            </a:r>
            <a:r>
              <a:rPr lang="en-US" dirty="0"/>
              <a:t>= </a:t>
            </a:r>
            <a:r>
              <a:rPr lang="en-US" dirty="0" err="1"/>
              <a:t>lps</a:t>
            </a:r>
            <a:r>
              <a:rPr lang="en-US" dirty="0"/>
              <a:t>[j-1] = </a:t>
            </a:r>
            <a:r>
              <a:rPr lang="en-US" dirty="0" err="1"/>
              <a:t>lps</a:t>
            </a:r>
            <a:r>
              <a:rPr lang="en-US" dirty="0"/>
              <a:t>[3] = 3</a:t>
            </a:r>
          </a:p>
        </p:txBody>
      </p:sp>
      <p:graphicFrame>
        <p:nvGraphicFramePr>
          <p:cNvPr id="7" name="Table 6"/>
          <p:cNvGraphicFramePr>
            <a:graphicFrameLocks noGrp="1"/>
          </p:cNvGraphicFramePr>
          <p:nvPr>
            <p:extLst>
              <p:ext uri="{D42A27DB-BD31-4B8C-83A1-F6EECF244321}">
                <p14:modId xmlns:p14="http://schemas.microsoft.com/office/powerpoint/2010/main" val="1305006736"/>
              </p:ext>
            </p:extLst>
          </p:nvPr>
        </p:nvGraphicFramePr>
        <p:xfrm>
          <a:off x="6515100" y="5040868"/>
          <a:ext cx="2019300" cy="365760"/>
        </p:xfrm>
        <a:graphic>
          <a:graphicData uri="http://schemas.openxmlformats.org/drawingml/2006/table">
            <a:tbl>
              <a:tblPr firstRow="1" bandRow="1">
                <a:tableStyleId>{616DA210-FB5B-4158-B5E0-FEB733F419BA}</a:tableStyleId>
              </a:tblPr>
              <a:tblGrid>
                <a:gridCol w="504825"/>
                <a:gridCol w="504825"/>
                <a:gridCol w="504825"/>
                <a:gridCol w="504825"/>
              </a:tblGrid>
              <a:tr h="30480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2</a:t>
                      </a:r>
                      <a:endParaRPr lang="en-US" dirty="0"/>
                    </a:p>
                  </a:txBody>
                  <a:tcPr/>
                </a:tc>
                <a:tc>
                  <a:txBody>
                    <a:bodyPr/>
                    <a:lstStyle/>
                    <a:p>
                      <a:r>
                        <a:rPr lang="en-US" dirty="0" smtClean="0"/>
                        <a:t>3</a:t>
                      </a:r>
                      <a:endParaRPr lang="en-US" dirty="0"/>
                    </a:p>
                  </a:txBody>
                  <a:tcPr>
                    <a:solidFill>
                      <a:srgbClr val="00B050"/>
                    </a:solidFill>
                  </a:tcPr>
                </a:tc>
              </a:tr>
            </a:tbl>
          </a:graphicData>
        </a:graphic>
      </p:graphicFrame>
      <p:sp>
        <p:nvSpPr>
          <p:cNvPr id="8" name="TextBox 7"/>
          <p:cNvSpPr txBox="1"/>
          <p:nvPr/>
        </p:nvSpPr>
        <p:spPr>
          <a:xfrm>
            <a:off x="6713035" y="5574268"/>
            <a:ext cx="1800493" cy="369332"/>
          </a:xfrm>
          <a:prstGeom prst="rect">
            <a:avLst/>
          </a:prstGeom>
          <a:noFill/>
        </p:spPr>
        <p:txBody>
          <a:bodyPr wrap="none" rtlCol="0">
            <a:spAutoFit/>
          </a:bodyPr>
          <a:lstStyle/>
          <a:p>
            <a:r>
              <a:rPr lang="en-US" dirty="0" smtClean="0"/>
              <a:t>0     1      2       3</a:t>
            </a:r>
            <a:endParaRPr lang="en-US" dirty="0"/>
          </a:p>
        </p:txBody>
      </p:sp>
      <p:sp>
        <p:nvSpPr>
          <p:cNvPr id="9" name="TextBox 8"/>
          <p:cNvSpPr txBox="1"/>
          <p:nvPr/>
        </p:nvSpPr>
        <p:spPr>
          <a:xfrm>
            <a:off x="6528304" y="4615934"/>
            <a:ext cx="1885131" cy="369332"/>
          </a:xfrm>
          <a:prstGeom prst="rect">
            <a:avLst/>
          </a:prstGeom>
          <a:noFill/>
        </p:spPr>
        <p:txBody>
          <a:bodyPr wrap="none" rtlCol="0">
            <a:spAutoFit/>
          </a:bodyPr>
          <a:lstStyle/>
          <a:p>
            <a:r>
              <a:rPr lang="en-US" dirty="0" smtClean="0"/>
              <a:t>A     </a:t>
            </a:r>
            <a:r>
              <a:rPr lang="en-US" dirty="0" err="1" smtClean="0"/>
              <a:t>A</a:t>
            </a:r>
            <a:r>
              <a:rPr lang="en-US" dirty="0" smtClean="0"/>
              <a:t>      </a:t>
            </a:r>
            <a:r>
              <a:rPr lang="en-US" dirty="0" err="1" smtClean="0"/>
              <a:t>A</a:t>
            </a:r>
            <a:r>
              <a:rPr lang="en-US" dirty="0" smtClean="0"/>
              <a:t>       </a:t>
            </a:r>
            <a:r>
              <a:rPr lang="en-US" dirty="0" err="1" smtClean="0"/>
              <a:t>A</a:t>
            </a:r>
            <a:endParaRPr lang="en-US" dirty="0"/>
          </a:p>
        </p:txBody>
      </p:sp>
    </p:spTree>
    <p:extLst>
      <p:ext uri="{BB962C8B-B14F-4D97-AF65-F5344CB8AC3E}">
        <p14:creationId xmlns:p14="http://schemas.microsoft.com/office/powerpoint/2010/main" val="3586725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1000"/>
                                        <p:tgtEl>
                                          <p:spTgt spid="6">
                                            <p:txEl>
                                              <p:pRg st="1" end="1"/>
                                            </p:txEl>
                                          </p:spTgt>
                                        </p:tgtEl>
                                      </p:cBhvr>
                                    </p:animEffect>
                                    <p:anim calcmode="lin" valueType="num">
                                      <p:cBhvr>
                                        <p:cTn id="13"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1000"/>
                                        <p:tgtEl>
                                          <p:spTgt spid="6">
                                            <p:txEl>
                                              <p:pRg st="2" end="2"/>
                                            </p:txEl>
                                          </p:spTgt>
                                        </p:tgtEl>
                                      </p:cBhvr>
                                    </p:animEffect>
                                    <p:anim calcmode="lin" valueType="num">
                                      <p:cBhvr>
                                        <p:cTn id="1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1000"/>
                                        <p:tgtEl>
                                          <p:spTgt spid="6">
                                            <p:txEl>
                                              <p:pRg st="3" end="3"/>
                                            </p:txEl>
                                          </p:spTgt>
                                        </p:tgtEl>
                                      </p:cBhvr>
                                    </p:animEffect>
                                    <p:anim calcmode="lin" valueType="num">
                                      <p:cBhvr>
                                        <p:cTn id="23"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6">
                                            <p:txEl>
                                              <p:pRg st="5" end="5"/>
                                            </p:txEl>
                                          </p:spTgt>
                                        </p:tgtEl>
                                        <p:attrNameLst>
                                          <p:attrName>style.visibility</p:attrName>
                                        </p:attrNameLst>
                                      </p:cBhvr>
                                      <p:to>
                                        <p:strVal val="visible"/>
                                      </p:to>
                                    </p:set>
                                    <p:animEffect transition="in" filter="fade">
                                      <p:cBhvr>
                                        <p:cTn id="29" dur="1000"/>
                                        <p:tgtEl>
                                          <p:spTgt spid="6">
                                            <p:txEl>
                                              <p:pRg st="5" end="5"/>
                                            </p:txEl>
                                          </p:spTgt>
                                        </p:tgtEl>
                                      </p:cBhvr>
                                    </p:animEffect>
                                    <p:anim calcmode="lin" valueType="num">
                                      <p:cBhvr>
                                        <p:cTn id="30"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6">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6">
                                            <p:txEl>
                                              <p:pRg st="6" end="6"/>
                                            </p:txEl>
                                          </p:spTgt>
                                        </p:tgtEl>
                                        <p:attrNameLst>
                                          <p:attrName>style.visibility</p:attrName>
                                        </p:attrNameLst>
                                      </p:cBhvr>
                                      <p:to>
                                        <p:strVal val="visible"/>
                                      </p:to>
                                    </p:set>
                                    <p:animEffect transition="in" filter="fade">
                                      <p:cBhvr>
                                        <p:cTn id="34" dur="1000"/>
                                        <p:tgtEl>
                                          <p:spTgt spid="6">
                                            <p:txEl>
                                              <p:pRg st="6" end="6"/>
                                            </p:txEl>
                                          </p:spTgt>
                                        </p:tgtEl>
                                      </p:cBhvr>
                                    </p:animEffect>
                                    <p:anim calcmode="lin" valueType="num">
                                      <p:cBhvr>
                                        <p:cTn id="35"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6">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6">
                                            <p:txEl>
                                              <p:pRg st="7" end="7"/>
                                            </p:txEl>
                                          </p:spTgt>
                                        </p:tgtEl>
                                        <p:attrNameLst>
                                          <p:attrName>style.visibility</p:attrName>
                                        </p:attrNameLst>
                                      </p:cBhvr>
                                      <p:to>
                                        <p:strVal val="visible"/>
                                      </p:to>
                                    </p:set>
                                    <p:animEffect transition="in" filter="fade">
                                      <p:cBhvr>
                                        <p:cTn id="39" dur="1000"/>
                                        <p:tgtEl>
                                          <p:spTgt spid="6">
                                            <p:txEl>
                                              <p:pRg st="7" end="7"/>
                                            </p:txEl>
                                          </p:spTgt>
                                        </p:tgtEl>
                                      </p:cBhvr>
                                    </p:animEffect>
                                    <p:anim calcmode="lin" valueType="num">
                                      <p:cBhvr>
                                        <p:cTn id="40"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6">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6">
                                            <p:txEl>
                                              <p:pRg st="8" end="8"/>
                                            </p:txEl>
                                          </p:spTgt>
                                        </p:tgtEl>
                                        <p:attrNameLst>
                                          <p:attrName>style.visibility</p:attrName>
                                        </p:attrNameLst>
                                      </p:cBhvr>
                                      <p:to>
                                        <p:strVal val="visible"/>
                                      </p:to>
                                    </p:set>
                                    <p:animEffect transition="in" filter="fade">
                                      <p:cBhvr>
                                        <p:cTn id="44" dur="1000"/>
                                        <p:tgtEl>
                                          <p:spTgt spid="6">
                                            <p:txEl>
                                              <p:pRg st="8" end="8"/>
                                            </p:txEl>
                                          </p:spTgt>
                                        </p:tgtEl>
                                      </p:cBhvr>
                                    </p:animEffect>
                                    <p:anim calcmode="lin" valueType="num">
                                      <p:cBhvr>
                                        <p:cTn id="45"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6">
                                            <p:txEl>
                                              <p:pRg st="10" end="10"/>
                                            </p:txEl>
                                          </p:spTgt>
                                        </p:tgtEl>
                                        <p:attrNameLst>
                                          <p:attrName>style.visibility</p:attrName>
                                        </p:attrNameLst>
                                      </p:cBhvr>
                                      <p:to>
                                        <p:strVal val="visible"/>
                                      </p:to>
                                    </p:set>
                                    <p:animEffect transition="in" filter="fade">
                                      <p:cBhvr>
                                        <p:cTn id="51" dur="1000"/>
                                        <p:tgtEl>
                                          <p:spTgt spid="6">
                                            <p:txEl>
                                              <p:pRg st="10" end="10"/>
                                            </p:txEl>
                                          </p:spTgt>
                                        </p:tgtEl>
                                      </p:cBhvr>
                                    </p:animEffect>
                                    <p:anim calcmode="lin" valueType="num">
                                      <p:cBhvr>
                                        <p:cTn id="52" dur="1000" fill="hold"/>
                                        <p:tgtEl>
                                          <p:spTgt spid="6">
                                            <p:txEl>
                                              <p:pRg st="10" end="10"/>
                                            </p:txEl>
                                          </p:spTgt>
                                        </p:tgtEl>
                                        <p:attrNameLst>
                                          <p:attrName>ppt_x</p:attrName>
                                        </p:attrNameLst>
                                      </p:cBhvr>
                                      <p:tavLst>
                                        <p:tav tm="0">
                                          <p:val>
                                            <p:strVal val="#ppt_x"/>
                                          </p:val>
                                        </p:tav>
                                        <p:tav tm="100000">
                                          <p:val>
                                            <p:strVal val="#ppt_x"/>
                                          </p:val>
                                        </p:tav>
                                      </p:tavLst>
                                    </p:anim>
                                    <p:anim calcmode="lin" valueType="num">
                                      <p:cBhvr>
                                        <p:cTn id="53" dur="1000" fill="hold"/>
                                        <p:tgtEl>
                                          <p:spTgt spid="6">
                                            <p:txEl>
                                              <p:pRg st="10" end="10"/>
                                            </p:txEl>
                                          </p:spTgt>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6">
                                            <p:txEl>
                                              <p:pRg st="11" end="11"/>
                                            </p:txEl>
                                          </p:spTgt>
                                        </p:tgtEl>
                                        <p:attrNameLst>
                                          <p:attrName>style.visibility</p:attrName>
                                        </p:attrNameLst>
                                      </p:cBhvr>
                                      <p:to>
                                        <p:strVal val="visible"/>
                                      </p:to>
                                    </p:set>
                                    <p:animEffect transition="in" filter="fade">
                                      <p:cBhvr>
                                        <p:cTn id="56" dur="1000"/>
                                        <p:tgtEl>
                                          <p:spTgt spid="6">
                                            <p:txEl>
                                              <p:pRg st="11" end="11"/>
                                            </p:txEl>
                                          </p:spTgt>
                                        </p:tgtEl>
                                      </p:cBhvr>
                                    </p:animEffect>
                                    <p:anim calcmode="lin" valueType="num">
                                      <p:cBhvr>
                                        <p:cTn id="57" dur="1000" fill="hold"/>
                                        <p:tgtEl>
                                          <p:spTgt spid="6">
                                            <p:txEl>
                                              <p:pRg st="11" end="11"/>
                                            </p:txEl>
                                          </p:spTgt>
                                        </p:tgtEl>
                                        <p:attrNameLst>
                                          <p:attrName>ppt_x</p:attrName>
                                        </p:attrNameLst>
                                      </p:cBhvr>
                                      <p:tavLst>
                                        <p:tav tm="0">
                                          <p:val>
                                            <p:strVal val="#ppt_x"/>
                                          </p:val>
                                        </p:tav>
                                        <p:tav tm="100000">
                                          <p:val>
                                            <p:strVal val="#ppt_x"/>
                                          </p:val>
                                        </p:tav>
                                      </p:tavLst>
                                    </p:anim>
                                    <p:anim calcmode="lin" valueType="num">
                                      <p:cBhvr>
                                        <p:cTn id="58" dur="1000" fill="hold"/>
                                        <p:tgtEl>
                                          <p:spTgt spid="6">
                                            <p:txEl>
                                              <p:pRg st="11" end="11"/>
                                            </p:txEl>
                                          </p:spTgt>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6">
                                            <p:txEl>
                                              <p:pRg st="12" end="12"/>
                                            </p:txEl>
                                          </p:spTgt>
                                        </p:tgtEl>
                                        <p:attrNameLst>
                                          <p:attrName>style.visibility</p:attrName>
                                        </p:attrNameLst>
                                      </p:cBhvr>
                                      <p:to>
                                        <p:strVal val="visible"/>
                                      </p:to>
                                    </p:set>
                                    <p:animEffect transition="in" filter="fade">
                                      <p:cBhvr>
                                        <p:cTn id="61" dur="1000"/>
                                        <p:tgtEl>
                                          <p:spTgt spid="6">
                                            <p:txEl>
                                              <p:pRg st="12" end="12"/>
                                            </p:txEl>
                                          </p:spTgt>
                                        </p:tgtEl>
                                      </p:cBhvr>
                                    </p:animEffect>
                                    <p:anim calcmode="lin" valueType="num">
                                      <p:cBhvr>
                                        <p:cTn id="62" dur="1000" fill="hold"/>
                                        <p:tgtEl>
                                          <p:spTgt spid="6">
                                            <p:txEl>
                                              <p:pRg st="12" end="12"/>
                                            </p:txEl>
                                          </p:spTgt>
                                        </p:tgtEl>
                                        <p:attrNameLst>
                                          <p:attrName>ppt_x</p:attrName>
                                        </p:attrNameLst>
                                      </p:cBhvr>
                                      <p:tavLst>
                                        <p:tav tm="0">
                                          <p:val>
                                            <p:strVal val="#ppt_x"/>
                                          </p:val>
                                        </p:tav>
                                        <p:tav tm="100000">
                                          <p:val>
                                            <p:strVal val="#ppt_x"/>
                                          </p:val>
                                        </p:tav>
                                      </p:tavLst>
                                    </p:anim>
                                    <p:anim calcmode="lin" valueType="num">
                                      <p:cBhvr>
                                        <p:cTn id="63" dur="1000" fill="hold"/>
                                        <p:tgtEl>
                                          <p:spTgt spid="6">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16" presetClass="entr" presetSubtype="21" fill="hold" grpId="0" nodeType="clickEffect">
                                  <p:stCondLst>
                                    <p:cond delay="0"/>
                                  </p:stCondLst>
                                  <p:childTnLst>
                                    <p:set>
                                      <p:cBhvr>
                                        <p:cTn id="67" dur="1" fill="hold">
                                          <p:stCondLst>
                                            <p:cond delay="0"/>
                                          </p:stCondLst>
                                        </p:cTn>
                                        <p:tgtEl>
                                          <p:spTgt spid="9"/>
                                        </p:tgtEl>
                                        <p:attrNameLst>
                                          <p:attrName>style.visibility</p:attrName>
                                        </p:attrNameLst>
                                      </p:cBhvr>
                                      <p:to>
                                        <p:strVal val="visible"/>
                                      </p:to>
                                    </p:set>
                                    <p:animEffect transition="in" filter="barn(inVertical)">
                                      <p:cBhvr>
                                        <p:cTn id="68" dur="500"/>
                                        <p:tgtEl>
                                          <p:spTgt spid="9"/>
                                        </p:tgtEl>
                                      </p:cBhvr>
                                    </p:animEffect>
                                  </p:childTnLst>
                                </p:cTn>
                              </p:par>
                              <p:par>
                                <p:cTn id="69" presetID="16" presetClass="entr" presetSubtype="21" fill="hold" nodeType="withEffect">
                                  <p:stCondLst>
                                    <p:cond delay="0"/>
                                  </p:stCondLst>
                                  <p:childTnLst>
                                    <p:set>
                                      <p:cBhvr>
                                        <p:cTn id="70" dur="1" fill="hold">
                                          <p:stCondLst>
                                            <p:cond delay="0"/>
                                          </p:stCondLst>
                                        </p:cTn>
                                        <p:tgtEl>
                                          <p:spTgt spid="7"/>
                                        </p:tgtEl>
                                        <p:attrNameLst>
                                          <p:attrName>style.visibility</p:attrName>
                                        </p:attrNameLst>
                                      </p:cBhvr>
                                      <p:to>
                                        <p:strVal val="visible"/>
                                      </p:to>
                                    </p:set>
                                    <p:animEffect transition="in" filter="barn(inVertical)">
                                      <p:cBhvr>
                                        <p:cTn id="71" dur="500"/>
                                        <p:tgtEl>
                                          <p:spTgt spid="7"/>
                                        </p:tgtEl>
                                      </p:cBhvr>
                                    </p:animEffect>
                                  </p:childTnLst>
                                </p:cTn>
                              </p:par>
                              <p:par>
                                <p:cTn id="72" presetID="16" presetClass="entr" presetSubtype="21" fill="hold" grpId="0" nodeType="withEffect">
                                  <p:stCondLst>
                                    <p:cond delay="0"/>
                                  </p:stCondLst>
                                  <p:childTnLst>
                                    <p:set>
                                      <p:cBhvr>
                                        <p:cTn id="73" dur="1" fill="hold">
                                          <p:stCondLst>
                                            <p:cond delay="0"/>
                                          </p:stCondLst>
                                        </p:cTn>
                                        <p:tgtEl>
                                          <p:spTgt spid="8"/>
                                        </p:tgtEl>
                                        <p:attrNameLst>
                                          <p:attrName>style.visibility</p:attrName>
                                        </p:attrNameLst>
                                      </p:cBhvr>
                                      <p:to>
                                        <p:strVal val="visible"/>
                                      </p:to>
                                    </p:set>
                                    <p:animEffect transition="in" filter="barn(inVertical)">
                                      <p:cBhvr>
                                        <p:cTn id="7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Searching Illustration continues..</a:t>
            </a:r>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33</a:t>
            </a:fld>
            <a:endParaRPr lang="en-US"/>
          </a:p>
        </p:txBody>
      </p:sp>
      <p:sp>
        <p:nvSpPr>
          <p:cNvPr id="6" name="Content Placeholder 5"/>
          <p:cNvSpPr>
            <a:spLocks noGrp="1"/>
          </p:cNvSpPr>
          <p:nvPr>
            <p:ph sz="quarter" idx="1"/>
          </p:nvPr>
        </p:nvSpPr>
        <p:spPr/>
        <p:txBody>
          <a:bodyPr>
            <a:normAutofit lnSpcReduction="10000"/>
          </a:bodyPr>
          <a:lstStyle/>
          <a:p>
            <a:pPr marL="0" indent="0">
              <a:buNone/>
            </a:pPr>
            <a:r>
              <a:rPr lang="en-US" dirty="0"/>
              <a:t>Here unlike Naive algorithm, </a:t>
            </a:r>
            <a:r>
              <a:rPr lang="en-US" dirty="0" smtClean="0"/>
              <a:t>do </a:t>
            </a:r>
            <a:r>
              <a:rPr lang="en-US" dirty="0"/>
              <a:t>not match first three characters of this window. Value of </a:t>
            </a:r>
            <a:r>
              <a:rPr lang="en-US" dirty="0" err="1"/>
              <a:t>lps</a:t>
            </a:r>
            <a:r>
              <a:rPr lang="en-US" dirty="0"/>
              <a:t>[j-1] (in above step) gave us index of next character to match. </a:t>
            </a:r>
            <a:endParaRPr lang="en-US" dirty="0" smtClean="0"/>
          </a:p>
          <a:p>
            <a:pPr marL="0" indent="0">
              <a:buNone/>
            </a:pPr>
            <a:endParaRPr lang="en-US" dirty="0"/>
          </a:p>
          <a:p>
            <a:pPr marL="0" indent="0">
              <a:buNone/>
            </a:pPr>
            <a:r>
              <a:rPr lang="en-US" dirty="0" smtClean="0"/>
              <a:t>i </a:t>
            </a:r>
            <a:r>
              <a:rPr lang="en-US" dirty="0"/>
              <a:t>= 4, j = 3 </a:t>
            </a:r>
            <a:endParaRPr lang="en-US" dirty="0" smtClean="0"/>
          </a:p>
          <a:p>
            <a:pPr marL="0" indent="0">
              <a:buNone/>
            </a:pPr>
            <a:r>
              <a:rPr lang="en-US" dirty="0" smtClean="0"/>
              <a:t>txt</a:t>
            </a:r>
            <a:r>
              <a:rPr lang="en-US" dirty="0"/>
              <a:t>[] = "A</a:t>
            </a:r>
            <a:r>
              <a:rPr lang="en-US" b="1" dirty="0"/>
              <a:t>AAA</a:t>
            </a:r>
            <a:r>
              <a:rPr lang="en-US" b="1" dirty="0">
                <a:solidFill>
                  <a:srgbClr val="00B050"/>
                </a:solidFill>
              </a:rPr>
              <a:t>A</a:t>
            </a:r>
            <a:r>
              <a:rPr lang="en-US" dirty="0"/>
              <a:t>BAAABA" </a:t>
            </a:r>
            <a:endParaRPr lang="en-US" dirty="0" smtClean="0"/>
          </a:p>
          <a:p>
            <a:pPr marL="0" indent="0">
              <a:buNone/>
            </a:pPr>
            <a:r>
              <a:rPr lang="en-US" dirty="0" smtClean="0"/>
              <a:t>pat</a:t>
            </a:r>
            <a:r>
              <a:rPr lang="en-US" dirty="0"/>
              <a:t>[] = "</a:t>
            </a:r>
            <a:r>
              <a:rPr lang="en-US" b="1" dirty="0"/>
              <a:t>AAA</a:t>
            </a:r>
            <a:r>
              <a:rPr lang="en-US" b="1" dirty="0">
                <a:solidFill>
                  <a:srgbClr val="00B050"/>
                </a:solidFill>
              </a:rPr>
              <a:t>A</a:t>
            </a:r>
            <a:r>
              <a:rPr lang="en-US" dirty="0"/>
              <a:t>" </a:t>
            </a:r>
            <a:endParaRPr lang="en-US" dirty="0" smtClean="0"/>
          </a:p>
          <a:p>
            <a:pPr marL="0" indent="0">
              <a:buNone/>
            </a:pPr>
            <a:r>
              <a:rPr lang="en-US" dirty="0" smtClean="0"/>
              <a:t>txt[i</a:t>
            </a:r>
            <a:r>
              <a:rPr lang="en-US" dirty="0"/>
              <a:t>] and pat[j] match, do i++, j++ </a:t>
            </a:r>
            <a:endParaRPr lang="en-US" dirty="0" smtClean="0"/>
          </a:p>
          <a:p>
            <a:pPr marL="0" indent="0">
              <a:buNone/>
            </a:pPr>
            <a:endParaRPr lang="en-US" dirty="0"/>
          </a:p>
          <a:p>
            <a:pPr marL="0" indent="0">
              <a:buNone/>
            </a:pPr>
            <a:r>
              <a:rPr lang="en-US" dirty="0" smtClean="0"/>
              <a:t>i </a:t>
            </a:r>
            <a:r>
              <a:rPr lang="en-US" dirty="0"/>
              <a:t>= 5, j = 4 Since j == M, print </a:t>
            </a:r>
            <a:r>
              <a:rPr lang="en-US" b="1" dirty="0"/>
              <a:t>pattern found</a:t>
            </a:r>
            <a:r>
              <a:rPr lang="en-US" dirty="0"/>
              <a:t> and reset j, </a:t>
            </a:r>
            <a:endParaRPr lang="en-US" dirty="0" smtClean="0"/>
          </a:p>
          <a:p>
            <a:pPr marL="0" indent="0">
              <a:buNone/>
            </a:pPr>
            <a:r>
              <a:rPr lang="en-US" dirty="0" smtClean="0"/>
              <a:t>j </a:t>
            </a:r>
            <a:r>
              <a:rPr lang="en-US" dirty="0"/>
              <a:t>= </a:t>
            </a:r>
            <a:r>
              <a:rPr lang="en-US" dirty="0" err="1"/>
              <a:t>lps</a:t>
            </a:r>
            <a:r>
              <a:rPr lang="en-US" dirty="0"/>
              <a:t>[j-1] = </a:t>
            </a:r>
            <a:r>
              <a:rPr lang="en-US" dirty="0" err="1"/>
              <a:t>lps</a:t>
            </a:r>
            <a:r>
              <a:rPr lang="en-US" dirty="0"/>
              <a:t>[3] = 3</a:t>
            </a:r>
          </a:p>
        </p:txBody>
      </p:sp>
      <p:graphicFrame>
        <p:nvGraphicFramePr>
          <p:cNvPr id="7" name="Table 6"/>
          <p:cNvGraphicFramePr>
            <a:graphicFrameLocks noGrp="1"/>
          </p:cNvGraphicFramePr>
          <p:nvPr>
            <p:extLst>
              <p:ext uri="{D42A27DB-BD31-4B8C-83A1-F6EECF244321}">
                <p14:modId xmlns:p14="http://schemas.microsoft.com/office/powerpoint/2010/main" val="1395395217"/>
              </p:ext>
            </p:extLst>
          </p:nvPr>
        </p:nvGraphicFramePr>
        <p:xfrm>
          <a:off x="7048500" y="5726668"/>
          <a:ext cx="2019300" cy="365760"/>
        </p:xfrm>
        <a:graphic>
          <a:graphicData uri="http://schemas.openxmlformats.org/drawingml/2006/table">
            <a:tbl>
              <a:tblPr firstRow="1" bandRow="1">
                <a:tableStyleId>{616DA210-FB5B-4158-B5E0-FEB733F419BA}</a:tableStyleId>
              </a:tblPr>
              <a:tblGrid>
                <a:gridCol w="504825"/>
                <a:gridCol w="504825"/>
                <a:gridCol w="504825"/>
                <a:gridCol w="504825"/>
              </a:tblGrid>
              <a:tr h="30480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2</a:t>
                      </a:r>
                      <a:endParaRPr lang="en-US" dirty="0"/>
                    </a:p>
                  </a:txBody>
                  <a:tcPr/>
                </a:tc>
                <a:tc>
                  <a:txBody>
                    <a:bodyPr/>
                    <a:lstStyle/>
                    <a:p>
                      <a:r>
                        <a:rPr lang="en-US" dirty="0" smtClean="0"/>
                        <a:t>3</a:t>
                      </a:r>
                      <a:endParaRPr lang="en-US" dirty="0"/>
                    </a:p>
                  </a:txBody>
                  <a:tcPr>
                    <a:solidFill>
                      <a:srgbClr val="00B050"/>
                    </a:solidFill>
                  </a:tcPr>
                </a:tc>
              </a:tr>
            </a:tbl>
          </a:graphicData>
        </a:graphic>
      </p:graphicFrame>
      <p:sp>
        <p:nvSpPr>
          <p:cNvPr id="8" name="TextBox 7"/>
          <p:cNvSpPr txBox="1"/>
          <p:nvPr/>
        </p:nvSpPr>
        <p:spPr>
          <a:xfrm>
            <a:off x="7246435" y="6260068"/>
            <a:ext cx="1800493" cy="369332"/>
          </a:xfrm>
          <a:prstGeom prst="rect">
            <a:avLst/>
          </a:prstGeom>
          <a:noFill/>
        </p:spPr>
        <p:txBody>
          <a:bodyPr wrap="none" rtlCol="0">
            <a:spAutoFit/>
          </a:bodyPr>
          <a:lstStyle/>
          <a:p>
            <a:r>
              <a:rPr lang="en-US" dirty="0" smtClean="0"/>
              <a:t>0     1      2       3</a:t>
            </a:r>
            <a:endParaRPr lang="en-US" dirty="0"/>
          </a:p>
        </p:txBody>
      </p:sp>
      <p:sp>
        <p:nvSpPr>
          <p:cNvPr id="9" name="TextBox 8"/>
          <p:cNvSpPr txBox="1"/>
          <p:nvPr/>
        </p:nvSpPr>
        <p:spPr>
          <a:xfrm>
            <a:off x="7061704" y="5301734"/>
            <a:ext cx="1885131" cy="369332"/>
          </a:xfrm>
          <a:prstGeom prst="rect">
            <a:avLst/>
          </a:prstGeom>
          <a:noFill/>
        </p:spPr>
        <p:txBody>
          <a:bodyPr wrap="none" rtlCol="0">
            <a:spAutoFit/>
          </a:bodyPr>
          <a:lstStyle/>
          <a:p>
            <a:r>
              <a:rPr lang="en-US" dirty="0" smtClean="0"/>
              <a:t>A     </a:t>
            </a:r>
            <a:r>
              <a:rPr lang="en-US" dirty="0" err="1" smtClean="0"/>
              <a:t>A</a:t>
            </a:r>
            <a:r>
              <a:rPr lang="en-US" dirty="0" smtClean="0"/>
              <a:t>      </a:t>
            </a:r>
            <a:r>
              <a:rPr lang="en-US" dirty="0" err="1" smtClean="0"/>
              <a:t>A</a:t>
            </a:r>
            <a:r>
              <a:rPr lang="en-US" dirty="0" smtClean="0"/>
              <a:t>       </a:t>
            </a:r>
            <a:r>
              <a:rPr lang="en-US" dirty="0" err="1" smtClean="0"/>
              <a:t>A</a:t>
            </a:r>
            <a:endParaRPr lang="en-US" dirty="0"/>
          </a:p>
        </p:txBody>
      </p:sp>
    </p:spTree>
    <p:extLst>
      <p:ext uri="{BB962C8B-B14F-4D97-AF65-F5344CB8AC3E}">
        <p14:creationId xmlns:p14="http://schemas.microsoft.com/office/powerpoint/2010/main" val="2754538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1000"/>
                                        <p:tgtEl>
                                          <p:spTgt spid="6">
                                            <p:txEl>
                                              <p:pRg st="2" end="2"/>
                                            </p:txEl>
                                          </p:spTgt>
                                        </p:tgtEl>
                                      </p:cBhvr>
                                    </p:animEffect>
                                    <p:anim calcmode="lin" valueType="num">
                                      <p:cBhvr>
                                        <p:cTn id="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1000"/>
                                        <p:tgtEl>
                                          <p:spTgt spid="6">
                                            <p:txEl>
                                              <p:pRg st="3" end="3"/>
                                            </p:txEl>
                                          </p:spTgt>
                                        </p:tgtEl>
                                      </p:cBhvr>
                                    </p:animEffect>
                                    <p:anim calcmode="lin" valueType="num">
                                      <p:cBhvr>
                                        <p:cTn id="13"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fade">
                                      <p:cBhvr>
                                        <p:cTn id="17" dur="1000"/>
                                        <p:tgtEl>
                                          <p:spTgt spid="6">
                                            <p:txEl>
                                              <p:pRg st="4" end="4"/>
                                            </p:txEl>
                                          </p:spTgt>
                                        </p:tgtEl>
                                      </p:cBhvr>
                                    </p:animEffect>
                                    <p:anim calcmode="lin" valueType="num">
                                      <p:cBhvr>
                                        <p:cTn id="18"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
                                            <p:txEl>
                                              <p:pRg st="5" end="5"/>
                                            </p:txEl>
                                          </p:spTgt>
                                        </p:tgtEl>
                                        <p:attrNameLst>
                                          <p:attrName>style.visibility</p:attrName>
                                        </p:attrNameLst>
                                      </p:cBhvr>
                                      <p:to>
                                        <p:strVal val="visible"/>
                                      </p:to>
                                    </p:set>
                                    <p:animEffect transition="in" filter="fade">
                                      <p:cBhvr>
                                        <p:cTn id="22" dur="1000"/>
                                        <p:tgtEl>
                                          <p:spTgt spid="6">
                                            <p:txEl>
                                              <p:pRg st="5" end="5"/>
                                            </p:txEl>
                                          </p:spTgt>
                                        </p:tgtEl>
                                      </p:cBhvr>
                                    </p:animEffect>
                                    <p:anim calcmode="lin" valueType="num">
                                      <p:cBhvr>
                                        <p:cTn id="23"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6">
                                            <p:txEl>
                                              <p:pRg st="7" end="7"/>
                                            </p:txEl>
                                          </p:spTgt>
                                        </p:tgtEl>
                                        <p:attrNameLst>
                                          <p:attrName>style.visibility</p:attrName>
                                        </p:attrNameLst>
                                      </p:cBhvr>
                                      <p:to>
                                        <p:strVal val="visible"/>
                                      </p:to>
                                    </p:set>
                                    <p:animEffect transition="in" filter="fade">
                                      <p:cBhvr>
                                        <p:cTn id="29" dur="1000"/>
                                        <p:tgtEl>
                                          <p:spTgt spid="6">
                                            <p:txEl>
                                              <p:pRg st="7" end="7"/>
                                            </p:txEl>
                                          </p:spTgt>
                                        </p:tgtEl>
                                      </p:cBhvr>
                                    </p:animEffect>
                                    <p:anim calcmode="lin" valueType="num">
                                      <p:cBhvr>
                                        <p:cTn id="30"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31" dur="1000" fill="hold"/>
                                        <p:tgtEl>
                                          <p:spTgt spid="6">
                                            <p:txEl>
                                              <p:pRg st="7" end="7"/>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6">
                                            <p:txEl>
                                              <p:pRg st="8" end="8"/>
                                            </p:txEl>
                                          </p:spTgt>
                                        </p:tgtEl>
                                        <p:attrNameLst>
                                          <p:attrName>style.visibility</p:attrName>
                                        </p:attrNameLst>
                                      </p:cBhvr>
                                      <p:to>
                                        <p:strVal val="visible"/>
                                      </p:to>
                                    </p:set>
                                    <p:animEffect transition="in" filter="fade">
                                      <p:cBhvr>
                                        <p:cTn id="34" dur="1000"/>
                                        <p:tgtEl>
                                          <p:spTgt spid="6">
                                            <p:txEl>
                                              <p:pRg st="8" end="8"/>
                                            </p:txEl>
                                          </p:spTgt>
                                        </p:tgtEl>
                                      </p:cBhvr>
                                    </p:animEffect>
                                    <p:anim calcmode="lin" valueType="num">
                                      <p:cBhvr>
                                        <p:cTn id="35"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36"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barn(inVertical)">
                                      <p:cBhvr>
                                        <p:cTn id="41" dur="500"/>
                                        <p:tgtEl>
                                          <p:spTgt spid="9"/>
                                        </p:tgtEl>
                                      </p:cBhvr>
                                    </p:animEffect>
                                  </p:childTnLst>
                                </p:cTn>
                              </p:par>
                              <p:par>
                                <p:cTn id="42" presetID="16" presetClass="entr" presetSubtype="21" fill="hold" nodeType="with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barn(inVertical)">
                                      <p:cBhvr>
                                        <p:cTn id="44" dur="500"/>
                                        <p:tgtEl>
                                          <p:spTgt spid="7"/>
                                        </p:tgtEl>
                                      </p:cBhvr>
                                    </p:animEffect>
                                  </p:childTnLst>
                                </p:cTn>
                              </p:par>
                              <p:par>
                                <p:cTn id="45" presetID="16" presetClass="entr" presetSubtype="21"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barn(inVertical)">
                                      <p:cBhvr>
                                        <p:cTn id="4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Searching Illustration continues..</a:t>
            </a:r>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34</a:t>
            </a:fld>
            <a:endParaRPr lang="en-US"/>
          </a:p>
        </p:txBody>
      </p:sp>
      <p:sp>
        <p:nvSpPr>
          <p:cNvPr id="6" name="Content Placeholder 5"/>
          <p:cNvSpPr>
            <a:spLocks noGrp="1"/>
          </p:cNvSpPr>
          <p:nvPr>
            <p:ph sz="quarter" idx="1"/>
          </p:nvPr>
        </p:nvSpPr>
        <p:spPr/>
        <p:txBody>
          <a:bodyPr>
            <a:normAutofit fontScale="77500" lnSpcReduction="20000"/>
          </a:bodyPr>
          <a:lstStyle/>
          <a:p>
            <a:pPr marL="0" indent="0">
              <a:buNone/>
            </a:pPr>
            <a:r>
              <a:rPr lang="en-US" dirty="0"/>
              <a:t>Again unlike Naive algorithm, we do not match first three characters of this window. Value of </a:t>
            </a:r>
            <a:r>
              <a:rPr lang="en-US" dirty="0" err="1"/>
              <a:t>lps</a:t>
            </a:r>
            <a:r>
              <a:rPr lang="en-US" dirty="0"/>
              <a:t>[j-1] (in above step) gave us index of next character to match. </a:t>
            </a:r>
            <a:endParaRPr lang="en-US" dirty="0" smtClean="0"/>
          </a:p>
          <a:p>
            <a:pPr marL="0" indent="0">
              <a:buNone/>
            </a:pPr>
            <a:endParaRPr lang="en-US" dirty="0"/>
          </a:p>
          <a:p>
            <a:pPr marL="0" indent="0">
              <a:buNone/>
            </a:pPr>
            <a:r>
              <a:rPr lang="en-US" dirty="0" smtClean="0"/>
              <a:t>i </a:t>
            </a:r>
            <a:r>
              <a:rPr lang="en-US" dirty="0"/>
              <a:t>= 5, j = 3 </a:t>
            </a:r>
            <a:endParaRPr lang="en-US" dirty="0" smtClean="0"/>
          </a:p>
          <a:p>
            <a:pPr marL="0" indent="0">
              <a:buNone/>
            </a:pPr>
            <a:r>
              <a:rPr lang="en-US" dirty="0" smtClean="0"/>
              <a:t>txt</a:t>
            </a:r>
            <a:r>
              <a:rPr lang="en-US" dirty="0"/>
              <a:t>[] = "AA</a:t>
            </a:r>
            <a:r>
              <a:rPr lang="en-US" b="1" dirty="0"/>
              <a:t>AAA</a:t>
            </a:r>
            <a:r>
              <a:rPr lang="en-US" b="1" dirty="0">
                <a:solidFill>
                  <a:srgbClr val="C00000"/>
                </a:solidFill>
              </a:rPr>
              <a:t>B</a:t>
            </a:r>
            <a:r>
              <a:rPr lang="en-US" dirty="0"/>
              <a:t>AAABA" </a:t>
            </a:r>
            <a:endParaRPr lang="en-US" dirty="0" smtClean="0"/>
          </a:p>
          <a:p>
            <a:pPr marL="0" indent="0">
              <a:buNone/>
            </a:pPr>
            <a:r>
              <a:rPr lang="en-US" dirty="0" smtClean="0"/>
              <a:t>pat</a:t>
            </a:r>
            <a:r>
              <a:rPr lang="en-US" dirty="0"/>
              <a:t>[] = "</a:t>
            </a:r>
            <a:r>
              <a:rPr lang="en-US" b="1" dirty="0"/>
              <a:t>AAA</a:t>
            </a:r>
            <a:r>
              <a:rPr lang="en-US" b="1" dirty="0">
                <a:solidFill>
                  <a:srgbClr val="C00000"/>
                </a:solidFill>
              </a:rPr>
              <a:t>A</a:t>
            </a:r>
            <a:r>
              <a:rPr lang="en-US" dirty="0"/>
              <a:t>" </a:t>
            </a:r>
            <a:endParaRPr lang="en-US" dirty="0" smtClean="0"/>
          </a:p>
          <a:p>
            <a:pPr marL="0" indent="0">
              <a:buNone/>
            </a:pPr>
            <a:r>
              <a:rPr lang="en-US" dirty="0" smtClean="0"/>
              <a:t>txt[i</a:t>
            </a:r>
            <a:r>
              <a:rPr lang="en-US" dirty="0"/>
              <a:t>] and pat[j] do NOT match and j &gt; 0,  </a:t>
            </a:r>
            <a:r>
              <a:rPr lang="en-US" dirty="0" smtClean="0"/>
              <a:t>change </a:t>
            </a:r>
            <a:r>
              <a:rPr lang="en-US" dirty="0"/>
              <a:t>only j </a:t>
            </a:r>
            <a:endParaRPr lang="en-US" dirty="0" smtClean="0"/>
          </a:p>
          <a:p>
            <a:pPr marL="0" indent="0">
              <a:buNone/>
            </a:pPr>
            <a:r>
              <a:rPr lang="en-US" dirty="0" smtClean="0"/>
              <a:t>j </a:t>
            </a:r>
            <a:r>
              <a:rPr lang="en-US" dirty="0"/>
              <a:t>= </a:t>
            </a:r>
            <a:r>
              <a:rPr lang="en-US" dirty="0" err="1"/>
              <a:t>lps</a:t>
            </a:r>
            <a:r>
              <a:rPr lang="en-US" dirty="0"/>
              <a:t>[j-1] = </a:t>
            </a:r>
            <a:r>
              <a:rPr lang="en-US" dirty="0" err="1"/>
              <a:t>lps</a:t>
            </a:r>
            <a:r>
              <a:rPr lang="en-US" dirty="0"/>
              <a:t>[2] = 2 </a:t>
            </a:r>
            <a:endParaRPr lang="en-US" dirty="0" smtClean="0"/>
          </a:p>
          <a:p>
            <a:pPr marL="0" indent="0">
              <a:buNone/>
            </a:pPr>
            <a:endParaRPr lang="en-US" dirty="0"/>
          </a:p>
          <a:p>
            <a:pPr marL="0" indent="0">
              <a:buNone/>
            </a:pPr>
            <a:r>
              <a:rPr lang="en-US" dirty="0" smtClean="0"/>
              <a:t>i </a:t>
            </a:r>
            <a:r>
              <a:rPr lang="en-US" dirty="0"/>
              <a:t>= 5, j = 2 </a:t>
            </a:r>
            <a:endParaRPr lang="en-US" dirty="0" smtClean="0"/>
          </a:p>
          <a:p>
            <a:pPr marL="0" indent="0">
              <a:buNone/>
            </a:pPr>
            <a:r>
              <a:rPr lang="en-US" dirty="0" smtClean="0"/>
              <a:t>txt</a:t>
            </a:r>
            <a:r>
              <a:rPr lang="en-US" dirty="0"/>
              <a:t>[] = "AAA</a:t>
            </a:r>
            <a:r>
              <a:rPr lang="en-US" b="1" dirty="0"/>
              <a:t>AA</a:t>
            </a:r>
            <a:r>
              <a:rPr lang="en-US" b="1" dirty="0">
                <a:solidFill>
                  <a:srgbClr val="C00000"/>
                </a:solidFill>
              </a:rPr>
              <a:t>B</a:t>
            </a:r>
            <a:r>
              <a:rPr lang="en-US" b="1" dirty="0"/>
              <a:t>A</a:t>
            </a:r>
            <a:r>
              <a:rPr lang="en-US" dirty="0"/>
              <a:t>AABA" </a:t>
            </a:r>
            <a:endParaRPr lang="en-US" dirty="0" smtClean="0"/>
          </a:p>
          <a:p>
            <a:pPr marL="0" indent="0">
              <a:buNone/>
            </a:pPr>
            <a:r>
              <a:rPr lang="en-US" dirty="0" smtClean="0"/>
              <a:t>pat</a:t>
            </a:r>
            <a:r>
              <a:rPr lang="en-US" dirty="0"/>
              <a:t>[] = "</a:t>
            </a:r>
            <a:r>
              <a:rPr lang="en-US" b="1" dirty="0"/>
              <a:t>AA</a:t>
            </a:r>
            <a:r>
              <a:rPr lang="en-US" b="1" dirty="0">
                <a:solidFill>
                  <a:srgbClr val="C00000"/>
                </a:solidFill>
              </a:rPr>
              <a:t>A</a:t>
            </a:r>
            <a:r>
              <a:rPr lang="en-US" b="1" dirty="0"/>
              <a:t>A</a:t>
            </a:r>
            <a:r>
              <a:rPr lang="en-US" dirty="0"/>
              <a:t>" </a:t>
            </a:r>
            <a:endParaRPr lang="en-US" dirty="0" smtClean="0"/>
          </a:p>
          <a:p>
            <a:pPr marL="0" indent="0">
              <a:buNone/>
            </a:pPr>
            <a:r>
              <a:rPr lang="en-US" dirty="0" smtClean="0"/>
              <a:t>txt[i</a:t>
            </a:r>
            <a:r>
              <a:rPr lang="en-US" dirty="0"/>
              <a:t>] and pat[j] do NOT match and j &gt; 0, </a:t>
            </a:r>
            <a:r>
              <a:rPr lang="en-US" dirty="0" smtClean="0"/>
              <a:t>change </a:t>
            </a:r>
            <a:r>
              <a:rPr lang="en-US" dirty="0"/>
              <a:t>only j </a:t>
            </a:r>
            <a:endParaRPr lang="en-US" dirty="0" smtClean="0"/>
          </a:p>
          <a:p>
            <a:pPr marL="0" indent="0">
              <a:buNone/>
            </a:pPr>
            <a:r>
              <a:rPr lang="en-US" dirty="0" smtClean="0"/>
              <a:t>j </a:t>
            </a:r>
            <a:r>
              <a:rPr lang="en-US" dirty="0"/>
              <a:t>= </a:t>
            </a:r>
            <a:r>
              <a:rPr lang="en-US" dirty="0" err="1"/>
              <a:t>lps</a:t>
            </a:r>
            <a:r>
              <a:rPr lang="en-US" dirty="0"/>
              <a:t>[j-1] = </a:t>
            </a:r>
            <a:r>
              <a:rPr lang="en-US" dirty="0" err="1"/>
              <a:t>lps</a:t>
            </a:r>
            <a:r>
              <a:rPr lang="en-US" dirty="0"/>
              <a:t>[1] = 1 </a:t>
            </a:r>
          </a:p>
        </p:txBody>
      </p:sp>
      <p:graphicFrame>
        <p:nvGraphicFramePr>
          <p:cNvPr id="7" name="Table 6"/>
          <p:cNvGraphicFramePr>
            <a:graphicFrameLocks noGrp="1"/>
          </p:cNvGraphicFramePr>
          <p:nvPr>
            <p:extLst>
              <p:ext uri="{D42A27DB-BD31-4B8C-83A1-F6EECF244321}">
                <p14:modId xmlns:p14="http://schemas.microsoft.com/office/powerpoint/2010/main" val="803788207"/>
              </p:ext>
            </p:extLst>
          </p:nvPr>
        </p:nvGraphicFramePr>
        <p:xfrm>
          <a:off x="6781800" y="4996934"/>
          <a:ext cx="2019300" cy="365760"/>
        </p:xfrm>
        <a:graphic>
          <a:graphicData uri="http://schemas.openxmlformats.org/drawingml/2006/table">
            <a:tbl>
              <a:tblPr firstRow="1" bandRow="1">
                <a:tableStyleId>{616DA210-FB5B-4158-B5E0-FEB733F419BA}</a:tableStyleId>
              </a:tblPr>
              <a:tblGrid>
                <a:gridCol w="504825"/>
                <a:gridCol w="504825"/>
                <a:gridCol w="504825"/>
                <a:gridCol w="504825"/>
              </a:tblGrid>
              <a:tr h="304800">
                <a:tc>
                  <a:txBody>
                    <a:bodyPr/>
                    <a:lstStyle/>
                    <a:p>
                      <a:r>
                        <a:rPr lang="en-US" dirty="0" smtClean="0"/>
                        <a:t>0</a:t>
                      </a:r>
                      <a:endParaRPr lang="en-US" dirty="0"/>
                    </a:p>
                  </a:txBody>
                  <a:tcPr/>
                </a:tc>
                <a:tc>
                  <a:txBody>
                    <a:bodyPr/>
                    <a:lstStyle/>
                    <a:p>
                      <a:r>
                        <a:rPr lang="en-US" dirty="0" smtClean="0"/>
                        <a:t>1</a:t>
                      </a:r>
                      <a:endParaRPr lang="en-US" dirty="0"/>
                    </a:p>
                  </a:txBody>
                  <a:tcPr>
                    <a:solidFill>
                      <a:srgbClr val="00B050"/>
                    </a:solidFill>
                  </a:tcPr>
                </a:tc>
                <a:tc>
                  <a:txBody>
                    <a:bodyPr/>
                    <a:lstStyle/>
                    <a:p>
                      <a:r>
                        <a:rPr lang="en-US" dirty="0" smtClean="0"/>
                        <a:t>2</a:t>
                      </a:r>
                      <a:endParaRPr lang="en-US" dirty="0"/>
                    </a:p>
                  </a:txBody>
                  <a:tcPr/>
                </a:tc>
                <a:tc>
                  <a:txBody>
                    <a:bodyPr/>
                    <a:lstStyle/>
                    <a:p>
                      <a:r>
                        <a:rPr lang="en-US" dirty="0" smtClean="0"/>
                        <a:t>3</a:t>
                      </a:r>
                      <a:endParaRPr lang="en-US" dirty="0"/>
                    </a:p>
                  </a:txBody>
                  <a:tcPr/>
                </a:tc>
              </a:tr>
            </a:tbl>
          </a:graphicData>
        </a:graphic>
      </p:graphicFrame>
      <p:sp>
        <p:nvSpPr>
          <p:cNvPr id="8" name="TextBox 7"/>
          <p:cNvSpPr txBox="1"/>
          <p:nvPr/>
        </p:nvSpPr>
        <p:spPr>
          <a:xfrm>
            <a:off x="6979735" y="5530334"/>
            <a:ext cx="1800493" cy="369332"/>
          </a:xfrm>
          <a:prstGeom prst="rect">
            <a:avLst/>
          </a:prstGeom>
          <a:noFill/>
        </p:spPr>
        <p:txBody>
          <a:bodyPr wrap="none" rtlCol="0">
            <a:spAutoFit/>
          </a:bodyPr>
          <a:lstStyle/>
          <a:p>
            <a:r>
              <a:rPr lang="en-US" dirty="0" smtClean="0"/>
              <a:t>0     1      2       3</a:t>
            </a:r>
            <a:endParaRPr lang="en-US" dirty="0"/>
          </a:p>
        </p:txBody>
      </p:sp>
      <p:sp>
        <p:nvSpPr>
          <p:cNvPr id="9" name="TextBox 8"/>
          <p:cNvSpPr txBox="1"/>
          <p:nvPr/>
        </p:nvSpPr>
        <p:spPr>
          <a:xfrm>
            <a:off x="6795004" y="4572000"/>
            <a:ext cx="1885131" cy="369332"/>
          </a:xfrm>
          <a:prstGeom prst="rect">
            <a:avLst/>
          </a:prstGeom>
          <a:noFill/>
        </p:spPr>
        <p:txBody>
          <a:bodyPr wrap="none" rtlCol="0">
            <a:spAutoFit/>
          </a:bodyPr>
          <a:lstStyle/>
          <a:p>
            <a:r>
              <a:rPr lang="en-US" dirty="0" smtClean="0"/>
              <a:t>A     </a:t>
            </a:r>
            <a:r>
              <a:rPr lang="en-US" dirty="0" err="1" smtClean="0"/>
              <a:t>A</a:t>
            </a:r>
            <a:r>
              <a:rPr lang="en-US" dirty="0" smtClean="0"/>
              <a:t>      </a:t>
            </a:r>
            <a:r>
              <a:rPr lang="en-US" dirty="0" err="1" smtClean="0"/>
              <a:t>A</a:t>
            </a:r>
            <a:r>
              <a:rPr lang="en-US" dirty="0" smtClean="0"/>
              <a:t>       </a:t>
            </a:r>
            <a:r>
              <a:rPr lang="en-US" dirty="0" err="1" smtClean="0"/>
              <a:t>A</a:t>
            </a:r>
            <a:endParaRPr lang="en-US" dirty="0"/>
          </a:p>
        </p:txBody>
      </p:sp>
      <p:graphicFrame>
        <p:nvGraphicFramePr>
          <p:cNvPr id="10" name="Table 9"/>
          <p:cNvGraphicFramePr>
            <a:graphicFrameLocks noGrp="1"/>
          </p:cNvGraphicFramePr>
          <p:nvPr>
            <p:extLst>
              <p:ext uri="{D42A27DB-BD31-4B8C-83A1-F6EECF244321}">
                <p14:modId xmlns:p14="http://schemas.microsoft.com/office/powerpoint/2010/main" val="2481456903"/>
              </p:ext>
            </p:extLst>
          </p:nvPr>
        </p:nvGraphicFramePr>
        <p:xfrm>
          <a:off x="6477000" y="3168134"/>
          <a:ext cx="2019300" cy="365760"/>
        </p:xfrm>
        <a:graphic>
          <a:graphicData uri="http://schemas.openxmlformats.org/drawingml/2006/table">
            <a:tbl>
              <a:tblPr firstRow="1" bandRow="1">
                <a:tableStyleId>{616DA210-FB5B-4158-B5E0-FEB733F419BA}</a:tableStyleId>
              </a:tblPr>
              <a:tblGrid>
                <a:gridCol w="504825"/>
                <a:gridCol w="504825"/>
                <a:gridCol w="504825"/>
                <a:gridCol w="504825"/>
              </a:tblGrid>
              <a:tr h="30480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2</a:t>
                      </a:r>
                      <a:endParaRPr lang="en-US" dirty="0"/>
                    </a:p>
                  </a:txBody>
                  <a:tcPr>
                    <a:solidFill>
                      <a:srgbClr val="00B050"/>
                    </a:solidFill>
                  </a:tcPr>
                </a:tc>
                <a:tc>
                  <a:txBody>
                    <a:bodyPr/>
                    <a:lstStyle/>
                    <a:p>
                      <a:r>
                        <a:rPr lang="en-US" dirty="0" smtClean="0"/>
                        <a:t>3</a:t>
                      </a:r>
                      <a:endParaRPr lang="en-US" dirty="0"/>
                    </a:p>
                  </a:txBody>
                  <a:tcPr/>
                </a:tc>
              </a:tr>
            </a:tbl>
          </a:graphicData>
        </a:graphic>
      </p:graphicFrame>
      <p:sp>
        <p:nvSpPr>
          <p:cNvPr id="11" name="TextBox 10"/>
          <p:cNvSpPr txBox="1"/>
          <p:nvPr/>
        </p:nvSpPr>
        <p:spPr>
          <a:xfrm>
            <a:off x="6674935" y="3701534"/>
            <a:ext cx="1800493" cy="369332"/>
          </a:xfrm>
          <a:prstGeom prst="rect">
            <a:avLst/>
          </a:prstGeom>
          <a:noFill/>
        </p:spPr>
        <p:txBody>
          <a:bodyPr wrap="none" rtlCol="0">
            <a:spAutoFit/>
          </a:bodyPr>
          <a:lstStyle/>
          <a:p>
            <a:r>
              <a:rPr lang="en-US" dirty="0" smtClean="0"/>
              <a:t>0     1      2       3</a:t>
            </a:r>
            <a:endParaRPr lang="en-US" dirty="0"/>
          </a:p>
        </p:txBody>
      </p:sp>
      <p:sp>
        <p:nvSpPr>
          <p:cNvPr id="12" name="TextBox 11"/>
          <p:cNvSpPr txBox="1"/>
          <p:nvPr/>
        </p:nvSpPr>
        <p:spPr>
          <a:xfrm>
            <a:off x="6490204" y="2743200"/>
            <a:ext cx="1885131" cy="369332"/>
          </a:xfrm>
          <a:prstGeom prst="rect">
            <a:avLst/>
          </a:prstGeom>
          <a:noFill/>
        </p:spPr>
        <p:txBody>
          <a:bodyPr wrap="none" rtlCol="0">
            <a:spAutoFit/>
          </a:bodyPr>
          <a:lstStyle/>
          <a:p>
            <a:r>
              <a:rPr lang="en-US" dirty="0" smtClean="0"/>
              <a:t>A     </a:t>
            </a:r>
            <a:r>
              <a:rPr lang="en-US" dirty="0" err="1" smtClean="0"/>
              <a:t>A</a:t>
            </a:r>
            <a:r>
              <a:rPr lang="en-US" dirty="0" smtClean="0"/>
              <a:t>      </a:t>
            </a:r>
            <a:r>
              <a:rPr lang="en-US" dirty="0" err="1" smtClean="0"/>
              <a:t>A</a:t>
            </a:r>
            <a:r>
              <a:rPr lang="en-US" dirty="0" smtClean="0"/>
              <a:t>       </a:t>
            </a:r>
            <a:r>
              <a:rPr lang="en-US" dirty="0" err="1" smtClean="0"/>
              <a:t>A</a:t>
            </a:r>
            <a:endParaRPr lang="en-US" dirty="0"/>
          </a:p>
        </p:txBody>
      </p:sp>
    </p:spTree>
    <p:extLst>
      <p:ext uri="{BB962C8B-B14F-4D97-AF65-F5344CB8AC3E}">
        <p14:creationId xmlns:p14="http://schemas.microsoft.com/office/powerpoint/2010/main" val="1240265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1000"/>
                                        <p:tgtEl>
                                          <p:spTgt spid="6">
                                            <p:txEl>
                                              <p:pRg st="2" end="2"/>
                                            </p:txEl>
                                          </p:spTgt>
                                        </p:tgtEl>
                                      </p:cBhvr>
                                    </p:animEffect>
                                    <p:anim calcmode="lin" valueType="num">
                                      <p:cBhvr>
                                        <p:cTn id="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1000"/>
                                        <p:tgtEl>
                                          <p:spTgt spid="6">
                                            <p:txEl>
                                              <p:pRg st="3" end="3"/>
                                            </p:txEl>
                                          </p:spTgt>
                                        </p:tgtEl>
                                      </p:cBhvr>
                                    </p:animEffect>
                                    <p:anim calcmode="lin" valueType="num">
                                      <p:cBhvr>
                                        <p:cTn id="13"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fade">
                                      <p:cBhvr>
                                        <p:cTn id="17" dur="1000"/>
                                        <p:tgtEl>
                                          <p:spTgt spid="6">
                                            <p:txEl>
                                              <p:pRg st="4" end="4"/>
                                            </p:txEl>
                                          </p:spTgt>
                                        </p:tgtEl>
                                      </p:cBhvr>
                                    </p:animEffect>
                                    <p:anim calcmode="lin" valueType="num">
                                      <p:cBhvr>
                                        <p:cTn id="18"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
                                            <p:txEl>
                                              <p:pRg st="5" end="5"/>
                                            </p:txEl>
                                          </p:spTgt>
                                        </p:tgtEl>
                                        <p:attrNameLst>
                                          <p:attrName>style.visibility</p:attrName>
                                        </p:attrNameLst>
                                      </p:cBhvr>
                                      <p:to>
                                        <p:strVal val="visible"/>
                                      </p:to>
                                    </p:set>
                                    <p:animEffect transition="in" filter="fade">
                                      <p:cBhvr>
                                        <p:cTn id="22" dur="1000"/>
                                        <p:tgtEl>
                                          <p:spTgt spid="6">
                                            <p:txEl>
                                              <p:pRg st="5" end="5"/>
                                            </p:txEl>
                                          </p:spTgt>
                                        </p:tgtEl>
                                      </p:cBhvr>
                                    </p:animEffect>
                                    <p:anim calcmode="lin" valueType="num">
                                      <p:cBhvr>
                                        <p:cTn id="23"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6">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animEffect transition="in" filter="fade">
                                      <p:cBhvr>
                                        <p:cTn id="27" dur="1000"/>
                                        <p:tgtEl>
                                          <p:spTgt spid="6">
                                            <p:txEl>
                                              <p:pRg st="6" end="6"/>
                                            </p:txEl>
                                          </p:spTgt>
                                        </p:tgtEl>
                                      </p:cBhvr>
                                    </p:animEffect>
                                    <p:anim calcmode="lin" valueType="num">
                                      <p:cBhvr>
                                        <p:cTn id="28"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barn(inVertical)">
                                      <p:cBhvr>
                                        <p:cTn id="34" dur="500"/>
                                        <p:tgtEl>
                                          <p:spTgt spid="12"/>
                                        </p:tgtEl>
                                      </p:cBhvr>
                                    </p:animEffect>
                                  </p:childTnLst>
                                </p:cTn>
                              </p:par>
                              <p:par>
                                <p:cTn id="35" presetID="16" presetClass="entr" presetSubtype="21"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barn(inVertical)">
                                      <p:cBhvr>
                                        <p:cTn id="37" dur="500"/>
                                        <p:tgtEl>
                                          <p:spTgt spid="10"/>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barn(inVertical)">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6">
                                            <p:txEl>
                                              <p:pRg st="8" end="8"/>
                                            </p:txEl>
                                          </p:spTgt>
                                        </p:tgtEl>
                                        <p:attrNameLst>
                                          <p:attrName>style.visibility</p:attrName>
                                        </p:attrNameLst>
                                      </p:cBhvr>
                                      <p:to>
                                        <p:strVal val="visible"/>
                                      </p:to>
                                    </p:set>
                                    <p:animEffect transition="in" filter="fade">
                                      <p:cBhvr>
                                        <p:cTn id="45" dur="1000"/>
                                        <p:tgtEl>
                                          <p:spTgt spid="6">
                                            <p:txEl>
                                              <p:pRg st="8" end="8"/>
                                            </p:txEl>
                                          </p:spTgt>
                                        </p:tgtEl>
                                      </p:cBhvr>
                                    </p:animEffect>
                                    <p:anim calcmode="lin" valueType="num">
                                      <p:cBhvr>
                                        <p:cTn id="46"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47" dur="1000" fill="hold"/>
                                        <p:tgtEl>
                                          <p:spTgt spid="6">
                                            <p:txEl>
                                              <p:pRg st="8" end="8"/>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6">
                                            <p:txEl>
                                              <p:pRg st="9" end="9"/>
                                            </p:txEl>
                                          </p:spTgt>
                                        </p:tgtEl>
                                        <p:attrNameLst>
                                          <p:attrName>style.visibility</p:attrName>
                                        </p:attrNameLst>
                                      </p:cBhvr>
                                      <p:to>
                                        <p:strVal val="visible"/>
                                      </p:to>
                                    </p:set>
                                    <p:animEffect transition="in" filter="fade">
                                      <p:cBhvr>
                                        <p:cTn id="50" dur="1000"/>
                                        <p:tgtEl>
                                          <p:spTgt spid="6">
                                            <p:txEl>
                                              <p:pRg st="9" end="9"/>
                                            </p:txEl>
                                          </p:spTgt>
                                        </p:tgtEl>
                                      </p:cBhvr>
                                    </p:animEffect>
                                    <p:anim calcmode="lin" valueType="num">
                                      <p:cBhvr>
                                        <p:cTn id="51" dur="1000" fill="hold"/>
                                        <p:tgtEl>
                                          <p:spTgt spid="6">
                                            <p:txEl>
                                              <p:pRg st="9" end="9"/>
                                            </p:txEl>
                                          </p:spTgt>
                                        </p:tgtEl>
                                        <p:attrNameLst>
                                          <p:attrName>ppt_x</p:attrName>
                                        </p:attrNameLst>
                                      </p:cBhvr>
                                      <p:tavLst>
                                        <p:tav tm="0">
                                          <p:val>
                                            <p:strVal val="#ppt_x"/>
                                          </p:val>
                                        </p:tav>
                                        <p:tav tm="100000">
                                          <p:val>
                                            <p:strVal val="#ppt_x"/>
                                          </p:val>
                                        </p:tav>
                                      </p:tavLst>
                                    </p:anim>
                                    <p:anim calcmode="lin" valueType="num">
                                      <p:cBhvr>
                                        <p:cTn id="52" dur="1000" fill="hold"/>
                                        <p:tgtEl>
                                          <p:spTgt spid="6">
                                            <p:txEl>
                                              <p:pRg st="9" end="9"/>
                                            </p:txEl>
                                          </p:spTgt>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54" dur="1" fill="hold">
                                          <p:stCondLst>
                                            <p:cond delay="0"/>
                                          </p:stCondLst>
                                        </p:cTn>
                                        <p:tgtEl>
                                          <p:spTgt spid="6">
                                            <p:txEl>
                                              <p:pRg st="10" end="10"/>
                                            </p:txEl>
                                          </p:spTgt>
                                        </p:tgtEl>
                                        <p:attrNameLst>
                                          <p:attrName>style.visibility</p:attrName>
                                        </p:attrNameLst>
                                      </p:cBhvr>
                                      <p:to>
                                        <p:strVal val="visible"/>
                                      </p:to>
                                    </p:set>
                                    <p:animEffect transition="in" filter="fade">
                                      <p:cBhvr>
                                        <p:cTn id="55" dur="1000"/>
                                        <p:tgtEl>
                                          <p:spTgt spid="6">
                                            <p:txEl>
                                              <p:pRg st="10" end="10"/>
                                            </p:txEl>
                                          </p:spTgt>
                                        </p:tgtEl>
                                      </p:cBhvr>
                                    </p:animEffect>
                                    <p:anim calcmode="lin" valueType="num">
                                      <p:cBhvr>
                                        <p:cTn id="56" dur="1000" fill="hold"/>
                                        <p:tgtEl>
                                          <p:spTgt spid="6">
                                            <p:txEl>
                                              <p:pRg st="10" end="10"/>
                                            </p:txEl>
                                          </p:spTgt>
                                        </p:tgtEl>
                                        <p:attrNameLst>
                                          <p:attrName>ppt_x</p:attrName>
                                        </p:attrNameLst>
                                      </p:cBhvr>
                                      <p:tavLst>
                                        <p:tav tm="0">
                                          <p:val>
                                            <p:strVal val="#ppt_x"/>
                                          </p:val>
                                        </p:tav>
                                        <p:tav tm="100000">
                                          <p:val>
                                            <p:strVal val="#ppt_x"/>
                                          </p:val>
                                        </p:tav>
                                      </p:tavLst>
                                    </p:anim>
                                    <p:anim calcmode="lin" valueType="num">
                                      <p:cBhvr>
                                        <p:cTn id="57" dur="1000" fill="hold"/>
                                        <p:tgtEl>
                                          <p:spTgt spid="6">
                                            <p:txEl>
                                              <p:pRg st="10" end="10"/>
                                            </p:txEl>
                                          </p:spTgt>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9" dur="1" fill="hold">
                                          <p:stCondLst>
                                            <p:cond delay="0"/>
                                          </p:stCondLst>
                                        </p:cTn>
                                        <p:tgtEl>
                                          <p:spTgt spid="6">
                                            <p:txEl>
                                              <p:pRg st="11" end="11"/>
                                            </p:txEl>
                                          </p:spTgt>
                                        </p:tgtEl>
                                        <p:attrNameLst>
                                          <p:attrName>style.visibility</p:attrName>
                                        </p:attrNameLst>
                                      </p:cBhvr>
                                      <p:to>
                                        <p:strVal val="visible"/>
                                      </p:to>
                                    </p:set>
                                    <p:animEffect transition="in" filter="fade">
                                      <p:cBhvr>
                                        <p:cTn id="60" dur="1000"/>
                                        <p:tgtEl>
                                          <p:spTgt spid="6">
                                            <p:txEl>
                                              <p:pRg st="11" end="11"/>
                                            </p:txEl>
                                          </p:spTgt>
                                        </p:tgtEl>
                                      </p:cBhvr>
                                    </p:animEffect>
                                    <p:anim calcmode="lin" valueType="num">
                                      <p:cBhvr>
                                        <p:cTn id="61" dur="1000" fill="hold"/>
                                        <p:tgtEl>
                                          <p:spTgt spid="6">
                                            <p:txEl>
                                              <p:pRg st="11" end="11"/>
                                            </p:txEl>
                                          </p:spTgt>
                                        </p:tgtEl>
                                        <p:attrNameLst>
                                          <p:attrName>ppt_x</p:attrName>
                                        </p:attrNameLst>
                                      </p:cBhvr>
                                      <p:tavLst>
                                        <p:tav tm="0">
                                          <p:val>
                                            <p:strVal val="#ppt_x"/>
                                          </p:val>
                                        </p:tav>
                                        <p:tav tm="100000">
                                          <p:val>
                                            <p:strVal val="#ppt_x"/>
                                          </p:val>
                                        </p:tav>
                                      </p:tavLst>
                                    </p:anim>
                                    <p:anim calcmode="lin" valueType="num">
                                      <p:cBhvr>
                                        <p:cTn id="62" dur="1000" fill="hold"/>
                                        <p:tgtEl>
                                          <p:spTgt spid="6">
                                            <p:txEl>
                                              <p:pRg st="11" end="11"/>
                                            </p:txEl>
                                          </p:spTgt>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0"/>
                                  </p:stCondLst>
                                  <p:childTnLst>
                                    <p:set>
                                      <p:cBhvr>
                                        <p:cTn id="64" dur="1" fill="hold">
                                          <p:stCondLst>
                                            <p:cond delay="0"/>
                                          </p:stCondLst>
                                        </p:cTn>
                                        <p:tgtEl>
                                          <p:spTgt spid="6">
                                            <p:txEl>
                                              <p:pRg st="12" end="12"/>
                                            </p:txEl>
                                          </p:spTgt>
                                        </p:tgtEl>
                                        <p:attrNameLst>
                                          <p:attrName>style.visibility</p:attrName>
                                        </p:attrNameLst>
                                      </p:cBhvr>
                                      <p:to>
                                        <p:strVal val="visible"/>
                                      </p:to>
                                    </p:set>
                                    <p:animEffect transition="in" filter="fade">
                                      <p:cBhvr>
                                        <p:cTn id="65" dur="1000"/>
                                        <p:tgtEl>
                                          <p:spTgt spid="6">
                                            <p:txEl>
                                              <p:pRg st="12" end="12"/>
                                            </p:txEl>
                                          </p:spTgt>
                                        </p:tgtEl>
                                      </p:cBhvr>
                                    </p:animEffect>
                                    <p:anim calcmode="lin" valueType="num">
                                      <p:cBhvr>
                                        <p:cTn id="66" dur="1000" fill="hold"/>
                                        <p:tgtEl>
                                          <p:spTgt spid="6">
                                            <p:txEl>
                                              <p:pRg st="12" end="12"/>
                                            </p:txEl>
                                          </p:spTgt>
                                        </p:tgtEl>
                                        <p:attrNameLst>
                                          <p:attrName>ppt_x</p:attrName>
                                        </p:attrNameLst>
                                      </p:cBhvr>
                                      <p:tavLst>
                                        <p:tav tm="0">
                                          <p:val>
                                            <p:strVal val="#ppt_x"/>
                                          </p:val>
                                        </p:tav>
                                        <p:tav tm="100000">
                                          <p:val>
                                            <p:strVal val="#ppt_x"/>
                                          </p:val>
                                        </p:tav>
                                      </p:tavLst>
                                    </p:anim>
                                    <p:anim calcmode="lin" valueType="num">
                                      <p:cBhvr>
                                        <p:cTn id="67" dur="1000" fill="hold"/>
                                        <p:tgtEl>
                                          <p:spTgt spid="6">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16" presetClass="entr" presetSubtype="21" fill="hold" grpId="0" nodeType="clickEffect">
                                  <p:stCondLst>
                                    <p:cond delay="0"/>
                                  </p:stCondLst>
                                  <p:childTnLst>
                                    <p:set>
                                      <p:cBhvr>
                                        <p:cTn id="71" dur="1" fill="hold">
                                          <p:stCondLst>
                                            <p:cond delay="0"/>
                                          </p:stCondLst>
                                        </p:cTn>
                                        <p:tgtEl>
                                          <p:spTgt spid="9"/>
                                        </p:tgtEl>
                                        <p:attrNameLst>
                                          <p:attrName>style.visibility</p:attrName>
                                        </p:attrNameLst>
                                      </p:cBhvr>
                                      <p:to>
                                        <p:strVal val="visible"/>
                                      </p:to>
                                    </p:set>
                                    <p:animEffect transition="in" filter="barn(inVertical)">
                                      <p:cBhvr>
                                        <p:cTn id="72" dur="500"/>
                                        <p:tgtEl>
                                          <p:spTgt spid="9"/>
                                        </p:tgtEl>
                                      </p:cBhvr>
                                    </p:animEffect>
                                  </p:childTnLst>
                                </p:cTn>
                              </p:par>
                              <p:par>
                                <p:cTn id="73" presetID="16" presetClass="entr" presetSubtype="21" fill="hold" nodeType="withEffect">
                                  <p:stCondLst>
                                    <p:cond delay="0"/>
                                  </p:stCondLst>
                                  <p:childTnLst>
                                    <p:set>
                                      <p:cBhvr>
                                        <p:cTn id="74" dur="1" fill="hold">
                                          <p:stCondLst>
                                            <p:cond delay="0"/>
                                          </p:stCondLst>
                                        </p:cTn>
                                        <p:tgtEl>
                                          <p:spTgt spid="7"/>
                                        </p:tgtEl>
                                        <p:attrNameLst>
                                          <p:attrName>style.visibility</p:attrName>
                                        </p:attrNameLst>
                                      </p:cBhvr>
                                      <p:to>
                                        <p:strVal val="visible"/>
                                      </p:to>
                                    </p:set>
                                    <p:animEffect transition="in" filter="barn(inVertical)">
                                      <p:cBhvr>
                                        <p:cTn id="75" dur="500"/>
                                        <p:tgtEl>
                                          <p:spTgt spid="7"/>
                                        </p:tgtEl>
                                      </p:cBhvr>
                                    </p:animEffect>
                                  </p:childTnLst>
                                </p:cTn>
                              </p:par>
                              <p:par>
                                <p:cTn id="76" presetID="16" presetClass="entr" presetSubtype="21" fill="hold" grpId="0" nodeType="withEffect">
                                  <p:stCondLst>
                                    <p:cond delay="0"/>
                                  </p:stCondLst>
                                  <p:childTnLst>
                                    <p:set>
                                      <p:cBhvr>
                                        <p:cTn id="77" dur="1" fill="hold">
                                          <p:stCondLst>
                                            <p:cond delay="0"/>
                                          </p:stCondLst>
                                        </p:cTn>
                                        <p:tgtEl>
                                          <p:spTgt spid="8"/>
                                        </p:tgtEl>
                                        <p:attrNameLst>
                                          <p:attrName>style.visibility</p:attrName>
                                        </p:attrNameLst>
                                      </p:cBhvr>
                                      <p:to>
                                        <p:strVal val="visible"/>
                                      </p:to>
                                    </p:set>
                                    <p:animEffect transition="in" filter="barn(inVertical)">
                                      <p:cBhvr>
                                        <p:cTn id="7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Searching Illustration continues..</a:t>
            </a:r>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35</a:t>
            </a:fld>
            <a:endParaRPr lang="en-US"/>
          </a:p>
        </p:txBody>
      </p:sp>
      <p:sp>
        <p:nvSpPr>
          <p:cNvPr id="6" name="Content Placeholder 5"/>
          <p:cNvSpPr>
            <a:spLocks noGrp="1"/>
          </p:cNvSpPr>
          <p:nvPr>
            <p:ph sz="quarter" idx="1"/>
          </p:nvPr>
        </p:nvSpPr>
        <p:spPr/>
        <p:txBody>
          <a:bodyPr>
            <a:normAutofit fontScale="77500" lnSpcReduction="20000"/>
          </a:bodyPr>
          <a:lstStyle/>
          <a:p>
            <a:pPr marL="0" indent="0">
              <a:buNone/>
            </a:pPr>
            <a:r>
              <a:rPr lang="en-US" dirty="0"/>
              <a:t>i = 5, j = 1 </a:t>
            </a:r>
            <a:endParaRPr lang="en-US" dirty="0" smtClean="0"/>
          </a:p>
          <a:p>
            <a:pPr marL="0" indent="0">
              <a:buNone/>
            </a:pPr>
            <a:r>
              <a:rPr lang="en-US" dirty="0" smtClean="0"/>
              <a:t>txt</a:t>
            </a:r>
            <a:r>
              <a:rPr lang="en-US" dirty="0"/>
              <a:t>[] = "AAAA</a:t>
            </a:r>
            <a:r>
              <a:rPr lang="en-US" b="1" dirty="0"/>
              <a:t>A</a:t>
            </a:r>
            <a:r>
              <a:rPr lang="en-US" b="1" dirty="0">
                <a:solidFill>
                  <a:srgbClr val="C00000"/>
                </a:solidFill>
              </a:rPr>
              <a:t>B</a:t>
            </a:r>
            <a:r>
              <a:rPr lang="en-US" b="1" dirty="0"/>
              <a:t>AA</a:t>
            </a:r>
            <a:r>
              <a:rPr lang="en-US" dirty="0"/>
              <a:t>ABA" </a:t>
            </a:r>
            <a:endParaRPr lang="en-US" dirty="0" smtClean="0"/>
          </a:p>
          <a:p>
            <a:pPr marL="0" indent="0">
              <a:buNone/>
            </a:pPr>
            <a:r>
              <a:rPr lang="en-US" dirty="0" smtClean="0"/>
              <a:t>pat</a:t>
            </a:r>
            <a:r>
              <a:rPr lang="en-US" dirty="0"/>
              <a:t>[] = "</a:t>
            </a:r>
            <a:r>
              <a:rPr lang="en-US" b="1" dirty="0"/>
              <a:t>A</a:t>
            </a:r>
            <a:r>
              <a:rPr lang="en-US" b="1" dirty="0">
                <a:solidFill>
                  <a:srgbClr val="C00000"/>
                </a:solidFill>
              </a:rPr>
              <a:t>A</a:t>
            </a:r>
            <a:r>
              <a:rPr lang="en-US" b="1" dirty="0"/>
              <a:t>AA</a:t>
            </a:r>
            <a:r>
              <a:rPr lang="en-US" dirty="0"/>
              <a:t>" </a:t>
            </a:r>
            <a:endParaRPr lang="en-US" dirty="0" smtClean="0"/>
          </a:p>
          <a:p>
            <a:pPr marL="0" indent="0">
              <a:buNone/>
            </a:pPr>
            <a:r>
              <a:rPr lang="en-US" dirty="0" smtClean="0"/>
              <a:t>txt[i</a:t>
            </a:r>
            <a:r>
              <a:rPr lang="en-US" dirty="0"/>
              <a:t>] and pat[j] do NOT match and j &gt; 0, change only </a:t>
            </a:r>
            <a:r>
              <a:rPr lang="en-US" dirty="0" smtClean="0"/>
              <a:t>j</a:t>
            </a:r>
          </a:p>
          <a:p>
            <a:pPr marL="0" indent="0">
              <a:buNone/>
            </a:pPr>
            <a:r>
              <a:rPr lang="en-US" dirty="0" smtClean="0"/>
              <a:t> </a:t>
            </a:r>
            <a:r>
              <a:rPr lang="en-US" dirty="0"/>
              <a:t>j = </a:t>
            </a:r>
            <a:r>
              <a:rPr lang="en-US" dirty="0" err="1"/>
              <a:t>lps</a:t>
            </a:r>
            <a:r>
              <a:rPr lang="en-US" dirty="0"/>
              <a:t>[j-1] = </a:t>
            </a:r>
            <a:r>
              <a:rPr lang="en-US" dirty="0" err="1"/>
              <a:t>lps</a:t>
            </a:r>
            <a:r>
              <a:rPr lang="en-US" dirty="0"/>
              <a:t>[0] = </a:t>
            </a:r>
            <a:r>
              <a:rPr lang="en-US" dirty="0" smtClean="0"/>
              <a:t>0</a:t>
            </a:r>
          </a:p>
          <a:p>
            <a:pPr marL="0" indent="0">
              <a:buNone/>
            </a:pPr>
            <a:endParaRPr lang="en-US" dirty="0"/>
          </a:p>
          <a:p>
            <a:pPr marL="0" indent="0">
              <a:buNone/>
            </a:pPr>
            <a:r>
              <a:rPr lang="en-US" dirty="0" smtClean="0"/>
              <a:t> </a:t>
            </a:r>
            <a:r>
              <a:rPr lang="en-US" dirty="0"/>
              <a:t>i = 5, j = 0 </a:t>
            </a:r>
            <a:endParaRPr lang="en-US" dirty="0" smtClean="0"/>
          </a:p>
          <a:p>
            <a:pPr marL="0" indent="0">
              <a:buNone/>
            </a:pPr>
            <a:r>
              <a:rPr lang="en-US" dirty="0" smtClean="0"/>
              <a:t>txt</a:t>
            </a:r>
            <a:r>
              <a:rPr lang="en-US" dirty="0"/>
              <a:t>[] = "AAAAA</a:t>
            </a:r>
            <a:r>
              <a:rPr lang="en-US" b="1" dirty="0">
                <a:solidFill>
                  <a:srgbClr val="C00000"/>
                </a:solidFill>
              </a:rPr>
              <a:t>B</a:t>
            </a:r>
            <a:r>
              <a:rPr lang="en-US" b="1" dirty="0"/>
              <a:t>AAA</a:t>
            </a:r>
            <a:r>
              <a:rPr lang="en-US" dirty="0"/>
              <a:t>BA" </a:t>
            </a:r>
            <a:endParaRPr lang="en-US" dirty="0" smtClean="0"/>
          </a:p>
          <a:p>
            <a:pPr marL="0" indent="0">
              <a:buNone/>
            </a:pPr>
            <a:r>
              <a:rPr lang="en-US" dirty="0" smtClean="0"/>
              <a:t>pat</a:t>
            </a:r>
            <a:r>
              <a:rPr lang="en-US" dirty="0"/>
              <a:t>[] = "</a:t>
            </a:r>
            <a:r>
              <a:rPr lang="en-US" b="1" dirty="0">
                <a:solidFill>
                  <a:srgbClr val="C00000"/>
                </a:solidFill>
              </a:rPr>
              <a:t>A</a:t>
            </a:r>
            <a:r>
              <a:rPr lang="en-US" b="1" dirty="0"/>
              <a:t>AAA</a:t>
            </a:r>
            <a:r>
              <a:rPr lang="en-US" dirty="0"/>
              <a:t>" </a:t>
            </a:r>
            <a:endParaRPr lang="en-US" dirty="0" smtClean="0"/>
          </a:p>
          <a:p>
            <a:pPr marL="0" indent="0">
              <a:buNone/>
            </a:pPr>
            <a:r>
              <a:rPr lang="en-US" dirty="0" smtClean="0"/>
              <a:t>txt[i</a:t>
            </a:r>
            <a:r>
              <a:rPr lang="en-US" dirty="0"/>
              <a:t>] and pat[j] do NOT match and j is 0, </a:t>
            </a:r>
            <a:r>
              <a:rPr lang="en-US" dirty="0" smtClean="0"/>
              <a:t>do </a:t>
            </a:r>
            <a:r>
              <a:rPr lang="en-US" dirty="0"/>
              <a:t>i++. </a:t>
            </a:r>
            <a:endParaRPr lang="en-US" dirty="0" smtClean="0"/>
          </a:p>
          <a:p>
            <a:pPr marL="0" indent="0">
              <a:buNone/>
            </a:pPr>
            <a:endParaRPr lang="en-US" dirty="0"/>
          </a:p>
          <a:p>
            <a:pPr marL="0" indent="0">
              <a:buNone/>
            </a:pPr>
            <a:r>
              <a:rPr lang="en-US" dirty="0" smtClean="0"/>
              <a:t>i </a:t>
            </a:r>
            <a:r>
              <a:rPr lang="en-US" dirty="0"/>
              <a:t>= 6, j = 0 </a:t>
            </a:r>
            <a:endParaRPr lang="en-US" dirty="0" smtClean="0"/>
          </a:p>
          <a:p>
            <a:pPr marL="0" indent="0">
              <a:buNone/>
            </a:pPr>
            <a:r>
              <a:rPr lang="en-US" dirty="0" smtClean="0"/>
              <a:t>txt</a:t>
            </a:r>
            <a:r>
              <a:rPr lang="en-US" dirty="0"/>
              <a:t>[] = "AAAAAB</a:t>
            </a:r>
            <a:r>
              <a:rPr lang="en-US" b="1" dirty="0">
                <a:solidFill>
                  <a:srgbClr val="00B050"/>
                </a:solidFill>
              </a:rPr>
              <a:t>A</a:t>
            </a:r>
            <a:r>
              <a:rPr lang="en-US" b="1" dirty="0"/>
              <a:t>AABA</a:t>
            </a:r>
            <a:r>
              <a:rPr lang="en-US" dirty="0"/>
              <a:t>" </a:t>
            </a:r>
            <a:endParaRPr lang="en-US" dirty="0" smtClean="0"/>
          </a:p>
          <a:p>
            <a:pPr marL="0" indent="0">
              <a:buNone/>
            </a:pPr>
            <a:r>
              <a:rPr lang="en-US" dirty="0" smtClean="0"/>
              <a:t>pat</a:t>
            </a:r>
            <a:r>
              <a:rPr lang="en-US" dirty="0"/>
              <a:t>[] = "</a:t>
            </a:r>
            <a:r>
              <a:rPr lang="en-US" b="1" dirty="0" smtClean="0">
                <a:solidFill>
                  <a:srgbClr val="00B050"/>
                </a:solidFill>
              </a:rPr>
              <a:t>A</a:t>
            </a:r>
            <a:r>
              <a:rPr lang="en-US" b="1" dirty="0" smtClean="0"/>
              <a:t>AAA</a:t>
            </a:r>
            <a:r>
              <a:rPr lang="en-US" dirty="0" smtClean="0"/>
              <a:t>“</a:t>
            </a:r>
          </a:p>
          <a:p>
            <a:pPr marL="0" indent="0">
              <a:buNone/>
            </a:pPr>
            <a:r>
              <a:rPr lang="en-US" dirty="0" smtClean="0"/>
              <a:t>txt[i</a:t>
            </a:r>
            <a:r>
              <a:rPr lang="en-US" dirty="0"/>
              <a:t>] and pat[j] match, do i++ and j++</a:t>
            </a:r>
          </a:p>
        </p:txBody>
      </p:sp>
      <p:graphicFrame>
        <p:nvGraphicFramePr>
          <p:cNvPr id="7" name="Table 6"/>
          <p:cNvGraphicFramePr>
            <a:graphicFrameLocks noGrp="1"/>
          </p:cNvGraphicFramePr>
          <p:nvPr>
            <p:extLst>
              <p:ext uri="{D42A27DB-BD31-4B8C-83A1-F6EECF244321}">
                <p14:modId xmlns:p14="http://schemas.microsoft.com/office/powerpoint/2010/main" val="3106794033"/>
              </p:ext>
            </p:extLst>
          </p:nvPr>
        </p:nvGraphicFramePr>
        <p:xfrm>
          <a:off x="6781800" y="1948934"/>
          <a:ext cx="2019300" cy="365760"/>
        </p:xfrm>
        <a:graphic>
          <a:graphicData uri="http://schemas.openxmlformats.org/drawingml/2006/table">
            <a:tbl>
              <a:tblPr firstRow="1" bandRow="1">
                <a:tableStyleId>{616DA210-FB5B-4158-B5E0-FEB733F419BA}</a:tableStyleId>
              </a:tblPr>
              <a:tblGrid>
                <a:gridCol w="504825"/>
                <a:gridCol w="504825"/>
                <a:gridCol w="504825"/>
                <a:gridCol w="504825"/>
              </a:tblGrid>
              <a:tr h="304800">
                <a:tc>
                  <a:txBody>
                    <a:bodyPr/>
                    <a:lstStyle/>
                    <a:p>
                      <a:r>
                        <a:rPr lang="en-US" dirty="0" smtClean="0"/>
                        <a:t>0</a:t>
                      </a:r>
                      <a:endParaRPr lang="en-US" dirty="0"/>
                    </a:p>
                  </a:txBody>
                  <a:tcPr>
                    <a:solidFill>
                      <a:srgbClr val="00B050"/>
                    </a:solidFill>
                  </a:tcPr>
                </a:tc>
                <a:tc>
                  <a:txBody>
                    <a:bodyPr/>
                    <a:lstStyle/>
                    <a:p>
                      <a:r>
                        <a:rPr lang="en-US" dirty="0" smtClean="0"/>
                        <a:t>1</a:t>
                      </a:r>
                      <a:endParaRPr lang="en-US" dirty="0"/>
                    </a:p>
                  </a:txBody>
                  <a:tcPr>
                    <a:solidFill>
                      <a:schemeClr val="bg1"/>
                    </a:solidFill>
                  </a:tcPr>
                </a:tc>
                <a:tc>
                  <a:txBody>
                    <a:bodyPr/>
                    <a:lstStyle/>
                    <a:p>
                      <a:r>
                        <a:rPr lang="en-US" dirty="0" smtClean="0"/>
                        <a:t>2</a:t>
                      </a:r>
                      <a:endParaRPr lang="en-US" dirty="0"/>
                    </a:p>
                  </a:txBody>
                  <a:tcPr/>
                </a:tc>
                <a:tc>
                  <a:txBody>
                    <a:bodyPr/>
                    <a:lstStyle/>
                    <a:p>
                      <a:r>
                        <a:rPr lang="en-US" dirty="0" smtClean="0"/>
                        <a:t>3</a:t>
                      </a:r>
                      <a:endParaRPr lang="en-US" dirty="0"/>
                    </a:p>
                  </a:txBody>
                  <a:tcPr/>
                </a:tc>
              </a:tr>
            </a:tbl>
          </a:graphicData>
        </a:graphic>
      </p:graphicFrame>
      <p:sp>
        <p:nvSpPr>
          <p:cNvPr id="8" name="TextBox 7"/>
          <p:cNvSpPr txBox="1"/>
          <p:nvPr/>
        </p:nvSpPr>
        <p:spPr>
          <a:xfrm>
            <a:off x="6979735" y="2482334"/>
            <a:ext cx="1800493" cy="369332"/>
          </a:xfrm>
          <a:prstGeom prst="rect">
            <a:avLst/>
          </a:prstGeom>
          <a:noFill/>
        </p:spPr>
        <p:txBody>
          <a:bodyPr wrap="none" rtlCol="0">
            <a:spAutoFit/>
          </a:bodyPr>
          <a:lstStyle/>
          <a:p>
            <a:r>
              <a:rPr lang="en-US" dirty="0" smtClean="0"/>
              <a:t>0     1      2       3</a:t>
            </a:r>
            <a:endParaRPr lang="en-US" dirty="0"/>
          </a:p>
        </p:txBody>
      </p:sp>
      <p:sp>
        <p:nvSpPr>
          <p:cNvPr id="9" name="TextBox 8"/>
          <p:cNvSpPr txBox="1"/>
          <p:nvPr/>
        </p:nvSpPr>
        <p:spPr>
          <a:xfrm>
            <a:off x="6795004" y="1524000"/>
            <a:ext cx="1885131" cy="369332"/>
          </a:xfrm>
          <a:prstGeom prst="rect">
            <a:avLst/>
          </a:prstGeom>
          <a:noFill/>
        </p:spPr>
        <p:txBody>
          <a:bodyPr wrap="none" rtlCol="0">
            <a:spAutoFit/>
          </a:bodyPr>
          <a:lstStyle/>
          <a:p>
            <a:r>
              <a:rPr lang="en-US" dirty="0" smtClean="0"/>
              <a:t>A     </a:t>
            </a:r>
            <a:r>
              <a:rPr lang="en-US" dirty="0" err="1" smtClean="0"/>
              <a:t>A</a:t>
            </a:r>
            <a:r>
              <a:rPr lang="en-US" dirty="0" smtClean="0"/>
              <a:t>      </a:t>
            </a:r>
            <a:r>
              <a:rPr lang="en-US" dirty="0" err="1" smtClean="0"/>
              <a:t>A</a:t>
            </a:r>
            <a:r>
              <a:rPr lang="en-US" dirty="0" smtClean="0"/>
              <a:t>       </a:t>
            </a:r>
            <a:r>
              <a:rPr lang="en-US" dirty="0" err="1" smtClean="0"/>
              <a:t>A</a:t>
            </a:r>
            <a:endParaRPr lang="en-US" dirty="0"/>
          </a:p>
        </p:txBody>
      </p:sp>
    </p:spTree>
    <p:extLst>
      <p:ext uri="{BB962C8B-B14F-4D97-AF65-F5344CB8AC3E}">
        <p14:creationId xmlns:p14="http://schemas.microsoft.com/office/powerpoint/2010/main" val="701466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1000"/>
                                        <p:tgtEl>
                                          <p:spTgt spid="6">
                                            <p:txEl>
                                              <p:pRg st="1" end="1"/>
                                            </p:txEl>
                                          </p:spTgt>
                                        </p:tgtEl>
                                      </p:cBhvr>
                                    </p:animEffect>
                                    <p:anim calcmode="lin" valueType="num">
                                      <p:cBhvr>
                                        <p:cTn id="13"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1000"/>
                                        <p:tgtEl>
                                          <p:spTgt spid="6">
                                            <p:txEl>
                                              <p:pRg st="2" end="2"/>
                                            </p:txEl>
                                          </p:spTgt>
                                        </p:tgtEl>
                                      </p:cBhvr>
                                    </p:animEffect>
                                    <p:anim calcmode="lin" valueType="num">
                                      <p:cBhvr>
                                        <p:cTn id="1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1000"/>
                                        <p:tgtEl>
                                          <p:spTgt spid="6">
                                            <p:txEl>
                                              <p:pRg st="3" end="3"/>
                                            </p:txEl>
                                          </p:spTgt>
                                        </p:tgtEl>
                                      </p:cBhvr>
                                    </p:animEffect>
                                    <p:anim calcmode="lin" valueType="num">
                                      <p:cBhvr>
                                        <p:cTn id="23"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6">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1000"/>
                                        <p:tgtEl>
                                          <p:spTgt spid="6">
                                            <p:txEl>
                                              <p:pRg st="4" end="4"/>
                                            </p:txEl>
                                          </p:spTgt>
                                        </p:tgtEl>
                                      </p:cBhvr>
                                    </p:animEffect>
                                    <p:anim calcmode="lin" valueType="num">
                                      <p:cBhvr>
                                        <p:cTn id="28"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barn(inVertical)">
                                      <p:cBhvr>
                                        <p:cTn id="34" dur="500"/>
                                        <p:tgtEl>
                                          <p:spTgt spid="9"/>
                                        </p:tgtEl>
                                      </p:cBhvr>
                                    </p:animEffect>
                                  </p:childTnLst>
                                </p:cTn>
                              </p:par>
                              <p:par>
                                <p:cTn id="35" presetID="16" presetClass="entr" presetSubtype="21" fill="hold" nodeType="with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barn(inVertical)">
                                      <p:cBhvr>
                                        <p:cTn id="37" dur="500"/>
                                        <p:tgtEl>
                                          <p:spTgt spid="7"/>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barn(inVertical)">
                                      <p:cBhvr>
                                        <p:cTn id="40" dur="5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6">
                                            <p:txEl>
                                              <p:pRg st="6" end="6"/>
                                            </p:txEl>
                                          </p:spTgt>
                                        </p:tgtEl>
                                        <p:attrNameLst>
                                          <p:attrName>style.visibility</p:attrName>
                                        </p:attrNameLst>
                                      </p:cBhvr>
                                      <p:to>
                                        <p:strVal val="visible"/>
                                      </p:to>
                                    </p:set>
                                    <p:animEffect transition="in" filter="fade">
                                      <p:cBhvr>
                                        <p:cTn id="45" dur="1000"/>
                                        <p:tgtEl>
                                          <p:spTgt spid="6">
                                            <p:txEl>
                                              <p:pRg st="6" end="6"/>
                                            </p:txEl>
                                          </p:spTgt>
                                        </p:tgtEl>
                                      </p:cBhvr>
                                    </p:animEffect>
                                    <p:anim calcmode="lin" valueType="num">
                                      <p:cBhvr>
                                        <p:cTn id="46"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47" dur="1000" fill="hold"/>
                                        <p:tgtEl>
                                          <p:spTgt spid="6">
                                            <p:txEl>
                                              <p:pRg st="6" end="6"/>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6">
                                            <p:txEl>
                                              <p:pRg st="7" end="7"/>
                                            </p:txEl>
                                          </p:spTgt>
                                        </p:tgtEl>
                                        <p:attrNameLst>
                                          <p:attrName>style.visibility</p:attrName>
                                        </p:attrNameLst>
                                      </p:cBhvr>
                                      <p:to>
                                        <p:strVal val="visible"/>
                                      </p:to>
                                    </p:set>
                                    <p:animEffect transition="in" filter="fade">
                                      <p:cBhvr>
                                        <p:cTn id="50" dur="1000"/>
                                        <p:tgtEl>
                                          <p:spTgt spid="6">
                                            <p:txEl>
                                              <p:pRg st="7" end="7"/>
                                            </p:txEl>
                                          </p:spTgt>
                                        </p:tgtEl>
                                      </p:cBhvr>
                                    </p:animEffect>
                                    <p:anim calcmode="lin" valueType="num">
                                      <p:cBhvr>
                                        <p:cTn id="51"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52" dur="1000" fill="hold"/>
                                        <p:tgtEl>
                                          <p:spTgt spid="6">
                                            <p:txEl>
                                              <p:pRg st="7" end="7"/>
                                            </p:txEl>
                                          </p:spTgt>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54" dur="1" fill="hold">
                                          <p:stCondLst>
                                            <p:cond delay="0"/>
                                          </p:stCondLst>
                                        </p:cTn>
                                        <p:tgtEl>
                                          <p:spTgt spid="6">
                                            <p:txEl>
                                              <p:pRg st="8" end="8"/>
                                            </p:txEl>
                                          </p:spTgt>
                                        </p:tgtEl>
                                        <p:attrNameLst>
                                          <p:attrName>style.visibility</p:attrName>
                                        </p:attrNameLst>
                                      </p:cBhvr>
                                      <p:to>
                                        <p:strVal val="visible"/>
                                      </p:to>
                                    </p:set>
                                    <p:animEffect transition="in" filter="fade">
                                      <p:cBhvr>
                                        <p:cTn id="55" dur="1000"/>
                                        <p:tgtEl>
                                          <p:spTgt spid="6">
                                            <p:txEl>
                                              <p:pRg st="8" end="8"/>
                                            </p:txEl>
                                          </p:spTgt>
                                        </p:tgtEl>
                                      </p:cBhvr>
                                    </p:animEffect>
                                    <p:anim calcmode="lin" valueType="num">
                                      <p:cBhvr>
                                        <p:cTn id="56"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57" dur="1000" fill="hold"/>
                                        <p:tgtEl>
                                          <p:spTgt spid="6">
                                            <p:txEl>
                                              <p:pRg st="8" end="8"/>
                                            </p:txEl>
                                          </p:spTgt>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9" dur="1" fill="hold">
                                          <p:stCondLst>
                                            <p:cond delay="0"/>
                                          </p:stCondLst>
                                        </p:cTn>
                                        <p:tgtEl>
                                          <p:spTgt spid="6">
                                            <p:txEl>
                                              <p:pRg st="9" end="9"/>
                                            </p:txEl>
                                          </p:spTgt>
                                        </p:tgtEl>
                                        <p:attrNameLst>
                                          <p:attrName>style.visibility</p:attrName>
                                        </p:attrNameLst>
                                      </p:cBhvr>
                                      <p:to>
                                        <p:strVal val="visible"/>
                                      </p:to>
                                    </p:set>
                                    <p:animEffect transition="in" filter="fade">
                                      <p:cBhvr>
                                        <p:cTn id="60" dur="1000"/>
                                        <p:tgtEl>
                                          <p:spTgt spid="6">
                                            <p:txEl>
                                              <p:pRg st="9" end="9"/>
                                            </p:txEl>
                                          </p:spTgt>
                                        </p:tgtEl>
                                      </p:cBhvr>
                                    </p:animEffect>
                                    <p:anim calcmode="lin" valueType="num">
                                      <p:cBhvr>
                                        <p:cTn id="61" dur="1000" fill="hold"/>
                                        <p:tgtEl>
                                          <p:spTgt spid="6">
                                            <p:txEl>
                                              <p:pRg st="9" end="9"/>
                                            </p:txEl>
                                          </p:spTgt>
                                        </p:tgtEl>
                                        <p:attrNameLst>
                                          <p:attrName>ppt_x</p:attrName>
                                        </p:attrNameLst>
                                      </p:cBhvr>
                                      <p:tavLst>
                                        <p:tav tm="0">
                                          <p:val>
                                            <p:strVal val="#ppt_x"/>
                                          </p:val>
                                        </p:tav>
                                        <p:tav tm="100000">
                                          <p:val>
                                            <p:strVal val="#ppt_x"/>
                                          </p:val>
                                        </p:tav>
                                      </p:tavLst>
                                    </p:anim>
                                    <p:anim calcmode="lin" valueType="num">
                                      <p:cBhvr>
                                        <p:cTn id="62" dur="1000" fill="hold"/>
                                        <p:tgtEl>
                                          <p:spTgt spid="6">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nodeType="clickEffect">
                                  <p:stCondLst>
                                    <p:cond delay="0"/>
                                  </p:stCondLst>
                                  <p:childTnLst>
                                    <p:set>
                                      <p:cBhvr>
                                        <p:cTn id="66" dur="1" fill="hold">
                                          <p:stCondLst>
                                            <p:cond delay="0"/>
                                          </p:stCondLst>
                                        </p:cTn>
                                        <p:tgtEl>
                                          <p:spTgt spid="6">
                                            <p:txEl>
                                              <p:pRg st="11" end="11"/>
                                            </p:txEl>
                                          </p:spTgt>
                                        </p:tgtEl>
                                        <p:attrNameLst>
                                          <p:attrName>style.visibility</p:attrName>
                                        </p:attrNameLst>
                                      </p:cBhvr>
                                      <p:to>
                                        <p:strVal val="visible"/>
                                      </p:to>
                                    </p:set>
                                    <p:animEffect transition="in" filter="fade">
                                      <p:cBhvr>
                                        <p:cTn id="67" dur="1000"/>
                                        <p:tgtEl>
                                          <p:spTgt spid="6">
                                            <p:txEl>
                                              <p:pRg st="11" end="11"/>
                                            </p:txEl>
                                          </p:spTgt>
                                        </p:tgtEl>
                                      </p:cBhvr>
                                    </p:animEffect>
                                    <p:anim calcmode="lin" valueType="num">
                                      <p:cBhvr>
                                        <p:cTn id="68" dur="1000" fill="hold"/>
                                        <p:tgtEl>
                                          <p:spTgt spid="6">
                                            <p:txEl>
                                              <p:pRg st="11" end="11"/>
                                            </p:txEl>
                                          </p:spTgt>
                                        </p:tgtEl>
                                        <p:attrNameLst>
                                          <p:attrName>ppt_x</p:attrName>
                                        </p:attrNameLst>
                                      </p:cBhvr>
                                      <p:tavLst>
                                        <p:tav tm="0">
                                          <p:val>
                                            <p:strVal val="#ppt_x"/>
                                          </p:val>
                                        </p:tav>
                                        <p:tav tm="100000">
                                          <p:val>
                                            <p:strVal val="#ppt_x"/>
                                          </p:val>
                                        </p:tav>
                                      </p:tavLst>
                                    </p:anim>
                                    <p:anim calcmode="lin" valueType="num">
                                      <p:cBhvr>
                                        <p:cTn id="69" dur="1000" fill="hold"/>
                                        <p:tgtEl>
                                          <p:spTgt spid="6">
                                            <p:txEl>
                                              <p:pRg st="11" end="11"/>
                                            </p:txEl>
                                          </p:spTgt>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6">
                                            <p:txEl>
                                              <p:pRg st="12" end="12"/>
                                            </p:txEl>
                                          </p:spTgt>
                                        </p:tgtEl>
                                        <p:attrNameLst>
                                          <p:attrName>style.visibility</p:attrName>
                                        </p:attrNameLst>
                                      </p:cBhvr>
                                      <p:to>
                                        <p:strVal val="visible"/>
                                      </p:to>
                                    </p:set>
                                    <p:animEffect transition="in" filter="fade">
                                      <p:cBhvr>
                                        <p:cTn id="72" dur="1000"/>
                                        <p:tgtEl>
                                          <p:spTgt spid="6">
                                            <p:txEl>
                                              <p:pRg st="12" end="12"/>
                                            </p:txEl>
                                          </p:spTgt>
                                        </p:tgtEl>
                                      </p:cBhvr>
                                    </p:animEffect>
                                    <p:anim calcmode="lin" valueType="num">
                                      <p:cBhvr>
                                        <p:cTn id="73" dur="1000" fill="hold"/>
                                        <p:tgtEl>
                                          <p:spTgt spid="6">
                                            <p:txEl>
                                              <p:pRg st="12" end="12"/>
                                            </p:txEl>
                                          </p:spTgt>
                                        </p:tgtEl>
                                        <p:attrNameLst>
                                          <p:attrName>ppt_x</p:attrName>
                                        </p:attrNameLst>
                                      </p:cBhvr>
                                      <p:tavLst>
                                        <p:tav tm="0">
                                          <p:val>
                                            <p:strVal val="#ppt_x"/>
                                          </p:val>
                                        </p:tav>
                                        <p:tav tm="100000">
                                          <p:val>
                                            <p:strVal val="#ppt_x"/>
                                          </p:val>
                                        </p:tav>
                                      </p:tavLst>
                                    </p:anim>
                                    <p:anim calcmode="lin" valueType="num">
                                      <p:cBhvr>
                                        <p:cTn id="74" dur="1000" fill="hold"/>
                                        <p:tgtEl>
                                          <p:spTgt spid="6">
                                            <p:txEl>
                                              <p:pRg st="12" end="12"/>
                                            </p:txEl>
                                          </p:spTgt>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6">
                                            <p:txEl>
                                              <p:pRg st="13" end="13"/>
                                            </p:txEl>
                                          </p:spTgt>
                                        </p:tgtEl>
                                        <p:attrNameLst>
                                          <p:attrName>style.visibility</p:attrName>
                                        </p:attrNameLst>
                                      </p:cBhvr>
                                      <p:to>
                                        <p:strVal val="visible"/>
                                      </p:to>
                                    </p:set>
                                    <p:animEffect transition="in" filter="fade">
                                      <p:cBhvr>
                                        <p:cTn id="77" dur="1000"/>
                                        <p:tgtEl>
                                          <p:spTgt spid="6">
                                            <p:txEl>
                                              <p:pRg st="13" end="13"/>
                                            </p:txEl>
                                          </p:spTgt>
                                        </p:tgtEl>
                                      </p:cBhvr>
                                    </p:animEffect>
                                    <p:anim calcmode="lin" valueType="num">
                                      <p:cBhvr>
                                        <p:cTn id="78" dur="1000" fill="hold"/>
                                        <p:tgtEl>
                                          <p:spTgt spid="6">
                                            <p:txEl>
                                              <p:pRg st="13" end="13"/>
                                            </p:txEl>
                                          </p:spTgt>
                                        </p:tgtEl>
                                        <p:attrNameLst>
                                          <p:attrName>ppt_x</p:attrName>
                                        </p:attrNameLst>
                                      </p:cBhvr>
                                      <p:tavLst>
                                        <p:tav tm="0">
                                          <p:val>
                                            <p:strVal val="#ppt_x"/>
                                          </p:val>
                                        </p:tav>
                                        <p:tav tm="100000">
                                          <p:val>
                                            <p:strVal val="#ppt_x"/>
                                          </p:val>
                                        </p:tav>
                                      </p:tavLst>
                                    </p:anim>
                                    <p:anim calcmode="lin" valueType="num">
                                      <p:cBhvr>
                                        <p:cTn id="79" dur="1000" fill="hold"/>
                                        <p:tgtEl>
                                          <p:spTgt spid="6">
                                            <p:txEl>
                                              <p:pRg st="13" end="13"/>
                                            </p:txEl>
                                          </p:spTgt>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81" dur="1" fill="hold">
                                          <p:stCondLst>
                                            <p:cond delay="0"/>
                                          </p:stCondLst>
                                        </p:cTn>
                                        <p:tgtEl>
                                          <p:spTgt spid="6">
                                            <p:txEl>
                                              <p:pRg st="14" end="14"/>
                                            </p:txEl>
                                          </p:spTgt>
                                        </p:tgtEl>
                                        <p:attrNameLst>
                                          <p:attrName>style.visibility</p:attrName>
                                        </p:attrNameLst>
                                      </p:cBhvr>
                                      <p:to>
                                        <p:strVal val="visible"/>
                                      </p:to>
                                    </p:set>
                                    <p:animEffect transition="in" filter="fade">
                                      <p:cBhvr>
                                        <p:cTn id="82" dur="1000"/>
                                        <p:tgtEl>
                                          <p:spTgt spid="6">
                                            <p:txEl>
                                              <p:pRg st="14" end="14"/>
                                            </p:txEl>
                                          </p:spTgt>
                                        </p:tgtEl>
                                      </p:cBhvr>
                                    </p:animEffect>
                                    <p:anim calcmode="lin" valueType="num">
                                      <p:cBhvr>
                                        <p:cTn id="83" dur="1000" fill="hold"/>
                                        <p:tgtEl>
                                          <p:spTgt spid="6">
                                            <p:txEl>
                                              <p:pRg st="14" end="14"/>
                                            </p:txEl>
                                          </p:spTgt>
                                        </p:tgtEl>
                                        <p:attrNameLst>
                                          <p:attrName>ppt_x</p:attrName>
                                        </p:attrNameLst>
                                      </p:cBhvr>
                                      <p:tavLst>
                                        <p:tav tm="0">
                                          <p:val>
                                            <p:strVal val="#ppt_x"/>
                                          </p:val>
                                        </p:tav>
                                        <p:tav tm="100000">
                                          <p:val>
                                            <p:strVal val="#ppt_x"/>
                                          </p:val>
                                        </p:tav>
                                      </p:tavLst>
                                    </p:anim>
                                    <p:anim calcmode="lin" valueType="num">
                                      <p:cBhvr>
                                        <p:cTn id="84" dur="1000" fill="hold"/>
                                        <p:tgtEl>
                                          <p:spTgt spid="6">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Searching Illustration continues..</a:t>
            </a:r>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36</a:t>
            </a:fld>
            <a:endParaRPr lang="en-US"/>
          </a:p>
        </p:txBody>
      </p:sp>
      <p:sp>
        <p:nvSpPr>
          <p:cNvPr id="6" name="Content Placeholder 5"/>
          <p:cNvSpPr>
            <a:spLocks noGrp="1"/>
          </p:cNvSpPr>
          <p:nvPr>
            <p:ph sz="quarter" idx="1"/>
          </p:nvPr>
        </p:nvSpPr>
        <p:spPr/>
        <p:txBody>
          <a:bodyPr>
            <a:normAutofit fontScale="77500" lnSpcReduction="20000"/>
          </a:bodyPr>
          <a:lstStyle/>
          <a:p>
            <a:pPr marL="0" indent="0">
              <a:buNone/>
            </a:pPr>
            <a:r>
              <a:rPr lang="en-US" dirty="0"/>
              <a:t>i = 7, j = 1 </a:t>
            </a:r>
            <a:endParaRPr lang="en-US" dirty="0" smtClean="0"/>
          </a:p>
          <a:p>
            <a:pPr marL="0" indent="0">
              <a:buNone/>
            </a:pPr>
            <a:r>
              <a:rPr lang="en-US" dirty="0" smtClean="0"/>
              <a:t>txt</a:t>
            </a:r>
            <a:r>
              <a:rPr lang="en-US" dirty="0"/>
              <a:t>[] = "AAAAAB</a:t>
            </a:r>
            <a:r>
              <a:rPr lang="en-US" b="1" dirty="0"/>
              <a:t>A</a:t>
            </a:r>
            <a:r>
              <a:rPr lang="en-US" b="1" dirty="0">
                <a:solidFill>
                  <a:srgbClr val="00B050"/>
                </a:solidFill>
              </a:rPr>
              <a:t>A</a:t>
            </a:r>
            <a:r>
              <a:rPr lang="en-US" b="1" dirty="0"/>
              <a:t>AB</a:t>
            </a:r>
            <a:r>
              <a:rPr lang="en-US" dirty="0"/>
              <a:t>A" </a:t>
            </a:r>
            <a:endParaRPr lang="en-US" dirty="0" smtClean="0"/>
          </a:p>
          <a:p>
            <a:pPr marL="0" indent="0">
              <a:buNone/>
            </a:pPr>
            <a:r>
              <a:rPr lang="en-US" dirty="0" smtClean="0"/>
              <a:t>pat</a:t>
            </a:r>
            <a:r>
              <a:rPr lang="en-US" dirty="0"/>
              <a:t>[] = "</a:t>
            </a:r>
            <a:r>
              <a:rPr lang="en-US" b="1" dirty="0"/>
              <a:t>A</a:t>
            </a:r>
            <a:r>
              <a:rPr lang="en-US" b="1" dirty="0">
                <a:solidFill>
                  <a:srgbClr val="00B050"/>
                </a:solidFill>
              </a:rPr>
              <a:t>A</a:t>
            </a:r>
            <a:r>
              <a:rPr lang="en-US" b="1" dirty="0"/>
              <a:t>AA</a:t>
            </a:r>
            <a:r>
              <a:rPr lang="en-US" dirty="0"/>
              <a:t>" </a:t>
            </a:r>
            <a:endParaRPr lang="en-US" dirty="0" smtClean="0"/>
          </a:p>
          <a:p>
            <a:pPr marL="0" indent="0">
              <a:buNone/>
            </a:pPr>
            <a:r>
              <a:rPr lang="en-US" dirty="0" smtClean="0"/>
              <a:t>txt[i</a:t>
            </a:r>
            <a:r>
              <a:rPr lang="en-US" dirty="0"/>
              <a:t>] and pat[j] match, do i++ and j</a:t>
            </a:r>
            <a:r>
              <a:rPr lang="en-US" dirty="0" smtClean="0"/>
              <a:t>++</a:t>
            </a:r>
          </a:p>
          <a:p>
            <a:pPr marL="0" indent="0">
              <a:buNone/>
            </a:pPr>
            <a:endParaRPr lang="en-US" dirty="0"/>
          </a:p>
          <a:p>
            <a:pPr marL="0" indent="0">
              <a:buNone/>
            </a:pPr>
            <a:r>
              <a:rPr lang="en-US" dirty="0"/>
              <a:t>i = </a:t>
            </a:r>
            <a:r>
              <a:rPr lang="en-US" dirty="0" smtClean="0"/>
              <a:t>8, </a:t>
            </a:r>
            <a:r>
              <a:rPr lang="en-US" dirty="0"/>
              <a:t>j = </a:t>
            </a:r>
            <a:r>
              <a:rPr lang="en-US" dirty="0" smtClean="0"/>
              <a:t>2 </a:t>
            </a:r>
            <a:endParaRPr lang="en-US" dirty="0"/>
          </a:p>
          <a:p>
            <a:pPr marL="0" indent="0">
              <a:buNone/>
            </a:pPr>
            <a:r>
              <a:rPr lang="en-US" dirty="0"/>
              <a:t>txt[] = "AAAAAB</a:t>
            </a:r>
            <a:r>
              <a:rPr lang="en-US" b="1" dirty="0"/>
              <a:t>AA</a:t>
            </a:r>
            <a:r>
              <a:rPr lang="en-US" b="1" dirty="0">
                <a:solidFill>
                  <a:srgbClr val="00B050"/>
                </a:solidFill>
              </a:rPr>
              <a:t>A</a:t>
            </a:r>
            <a:r>
              <a:rPr lang="en-US" b="1" dirty="0"/>
              <a:t>B</a:t>
            </a:r>
            <a:r>
              <a:rPr lang="en-US" dirty="0"/>
              <a:t>A" </a:t>
            </a:r>
          </a:p>
          <a:p>
            <a:pPr marL="0" indent="0">
              <a:buNone/>
            </a:pPr>
            <a:r>
              <a:rPr lang="en-US" dirty="0"/>
              <a:t>pat[] = "</a:t>
            </a:r>
            <a:r>
              <a:rPr lang="en-US" b="1" dirty="0"/>
              <a:t>AA</a:t>
            </a:r>
            <a:r>
              <a:rPr lang="en-US" b="1" dirty="0">
                <a:solidFill>
                  <a:srgbClr val="00B050"/>
                </a:solidFill>
              </a:rPr>
              <a:t>A</a:t>
            </a:r>
            <a:r>
              <a:rPr lang="en-US" b="1" dirty="0"/>
              <a:t>A</a:t>
            </a:r>
            <a:r>
              <a:rPr lang="en-US" dirty="0"/>
              <a:t>" </a:t>
            </a:r>
          </a:p>
          <a:p>
            <a:pPr marL="0" indent="0">
              <a:buNone/>
            </a:pPr>
            <a:r>
              <a:rPr lang="en-US" dirty="0"/>
              <a:t>txt[i] and pat[j] match, do i++ and j</a:t>
            </a:r>
            <a:r>
              <a:rPr lang="en-US" dirty="0" smtClean="0"/>
              <a:t>++</a:t>
            </a:r>
          </a:p>
          <a:p>
            <a:pPr marL="0" indent="0">
              <a:buNone/>
            </a:pPr>
            <a:endParaRPr lang="en-US" dirty="0"/>
          </a:p>
          <a:p>
            <a:pPr marL="0" indent="0">
              <a:buNone/>
            </a:pPr>
            <a:r>
              <a:rPr lang="en-US" dirty="0"/>
              <a:t>i = </a:t>
            </a:r>
            <a:r>
              <a:rPr lang="en-US" dirty="0" smtClean="0"/>
              <a:t>9, </a:t>
            </a:r>
            <a:r>
              <a:rPr lang="en-US" dirty="0"/>
              <a:t>j = </a:t>
            </a:r>
            <a:r>
              <a:rPr lang="en-US" dirty="0" smtClean="0"/>
              <a:t>3 </a:t>
            </a:r>
            <a:endParaRPr lang="en-US" dirty="0"/>
          </a:p>
          <a:p>
            <a:pPr marL="0" indent="0">
              <a:buNone/>
            </a:pPr>
            <a:r>
              <a:rPr lang="en-US" dirty="0"/>
              <a:t>txt[] = "AAAAAB</a:t>
            </a:r>
            <a:r>
              <a:rPr lang="en-US" b="1" dirty="0"/>
              <a:t>AAA</a:t>
            </a:r>
            <a:r>
              <a:rPr lang="en-US" b="1" dirty="0">
                <a:solidFill>
                  <a:srgbClr val="C00000"/>
                </a:solidFill>
              </a:rPr>
              <a:t>B</a:t>
            </a:r>
            <a:r>
              <a:rPr lang="en-US" dirty="0"/>
              <a:t>A" </a:t>
            </a:r>
          </a:p>
          <a:p>
            <a:pPr marL="0" indent="0">
              <a:buNone/>
            </a:pPr>
            <a:r>
              <a:rPr lang="en-US" dirty="0"/>
              <a:t>pat[] = "</a:t>
            </a:r>
            <a:r>
              <a:rPr lang="en-US" b="1" dirty="0"/>
              <a:t>AAA</a:t>
            </a:r>
            <a:r>
              <a:rPr lang="en-US" b="1" dirty="0">
                <a:solidFill>
                  <a:srgbClr val="C00000"/>
                </a:solidFill>
              </a:rPr>
              <a:t>A</a:t>
            </a:r>
            <a:r>
              <a:rPr lang="en-US" dirty="0"/>
              <a:t>" </a:t>
            </a:r>
          </a:p>
          <a:p>
            <a:pPr marL="0" indent="0">
              <a:buNone/>
            </a:pPr>
            <a:r>
              <a:rPr lang="en-US" dirty="0"/>
              <a:t>txt[i] and pat[j] </a:t>
            </a:r>
            <a:r>
              <a:rPr lang="en-US" dirty="0" smtClean="0"/>
              <a:t>do not match</a:t>
            </a:r>
            <a:r>
              <a:rPr lang="en-US" dirty="0"/>
              <a:t>, match and j &gt; 0, change only j</a:t>
            </a:r>
          </a:p>
          <a:p>
            <a:pPr marL="0" indent="0">
              <a:buNone/>
            </a:pPr>
            <a:r>
              <a:rPr lang="en-US" dirty="0"/>
              <a:t> j = </a:t>
            </a:r>
            <a:r>
              <a:rPr lang="en-US" dirty="0" err="1"/>
              <a:t>lps</a:t>
            </a:r>
            <a:r>
              <a:rPr lang="en-US" dirty="0"/>
              <a:t>[j-1] = </a:t>
            </a:r>
            <a:r>
              <a:rPr lang="en-US" dirty="0" err="1" smtClean="0"/>
              <a:t>lps</a:t>
            </a:r>
            <a:r>
              <a:rPr lang="en-US" dirty="0" smtClean="0"/>
              <a:t>[3-1] </a:t>
            </a:r>
            <a:r>
              <a:rPr lang="en-US" dirty="0"/>
              <a:t>= </a:t>
            </a:r>
            <a:r>
              <a:rPr lang="en-US" dirty="0" smtClean="0"/>
              <a:t>2</a:t>
            </a:r>
          </a:p>
          <a:p>
            <a:pPr marL="0" indent="0">
              <a:buNone/>
            </a:pPr>
            <a:endParaRPr lang="en-US" dirty="0" smtClean="0"/>
          </a:p>
          <a:p>
            <a:pPr marL="0" indent="0">
              <a:buNone/>
            </a:pPr>
            <a:endParaRPr lang="en-US" dirty="0"/>
          </a:p>
          <a:p>
            <a:pPr marL="0" indent="0">
              <a:buNone/>
            </a:pPr>
            <a:endParaRPr lang="en-US" dirty="0"/>
          </a:p>
          <a:p>
            <a:pPr marL="0" indent="0">
              <a:buNone/>
            </a:pP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4175563846"/>
              </p:ext>
            </p:extLst>
          </p:nvPr>
        </p:nvGraphicFramePr>
        <p:xfrm>
          <a:off x="6819900" y="3853934"/>
          <a:ext cx="2019300" cy="365760"/>
        </p:xfrm>
        <a:graphic>
          <a:graphicData uri="http://schemas.openxmlformats.org/drawingml/2006/table">
            <a:tbl>
              <a:tblPr firstRow="1" bandRow="1">
                <a:tableStyleId>{616DA210-FB5B-4158-B5E0-FEB733F419BA}</a:tableStyleId>
              </a:tblPr>
              <a:tblGrid>
                <a:gridCol w="504825"/>
                <a:gridCol w="504825"/>
                <a:gridCol w="504825"/>
                <a:gridCol w="504825"/>
              </a:tblGrid>
              <a:tr h="30480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2</a:t>
                      </a:r>
                      <a:endParaRPr lang="en-US" dirty="0"/>
                    </a:p>
                  </a:txBody>
                  <a:tcPr>
                    <a:solidFill>
                      <a:srgbClr val="00B050"/>
                    </a:solidFill>
                  </a:tcPr>
                </a:tc>
                <a:tc>
                  <a:txBody>
                    <a:bodyPr/>
                    <a:lstStyle/>
                    <a:p>
                      <a:r>
                        <a:rPr lang="en-US" dirty="0" smtClean="0"/>
                        <a:t>3</a:t>
                      </a:r>
                      <a:endParaRPr lang="en-US" dirty="0"/>
                    </a:p>
                  </a:txBody>
                  <a:tcPr/>
                </a:tc>
              </a:tr>
            </a:tbl>
          </a:graphicData>
        </a:graphic>
      </p:graphicFrame>
      <p:sp>
        <p:nvSpPr>
          <p:cNvPr id="8" name="TextBox 7"/>
          <p:cNvSpPr txBox="1"/>
          <p:nvPr/>
        </p:nvSpPr>
        <p:spPr>
          <a:xfrm>
            <a:off x="7017835" y="4387334"/>
            <a:ext cx="1800493" cy="369332"/>
          </a:xfrm>
          <a:prstGeom prst="rect">
            <a:avLst/>
          </a:prstGeom>
          <a:noFill/>
        </p:spPr>
        <p:txBody>
          <a:bodyPr wrap="none" rtlCol="0">
            <a:spAutoFit/>
          </a:bodyPr>
          <a:lstStyle/>
          <a:p>
            <a:r>
              <a:rPr lang="en-US" dirty="0" smtClean="0"/>
              <a:t>0     1      2       3</a:t>
            </a:r>
            <a:endParaRPr lang="en-US" dirty="0"/>
          </a:p>
        </p:txBody>
      </p:sp>
      <p:sp>
        <p:nvSpPr>
          <p:cNvPr id="9" name="TextBox 8"/>
          <p:cNvSpPr txBox="1"/>
          <p:nvPr/>
        </p:nvSpPr>
        <p:spPr>
          <a:xfrm>
            <a:off x="6833104" y="3429000"/>
            <a:ext cx="1885131" cy="369332"/>
          </a:xfrm>
          <a:prstGeom prst="rect">
            <a:avLst/>
          </a:prstGeom>
          <a:noFill/>
        </p:spPr>
        <p:txBody>
          <a:bodyPr wrap="none" rtlCol="0">
            <a:spAutoFit/>
          </a:bodyPr>
          <a:lstStyle/>
          <a:p>
            <a:r>
              <a:rPr lang="en-US" dirty="0" smtClean="0"/>
              <a:t>A     </a:t>
            </a:r>
            <a:r>
              <a:rPr lang="en-US" dirty="0" err="1" smtClean="0"/>
              <a:t>A</a:t>
            </a:r>
            <a:r>
              <a:rPr lang="en-US" dirty="0" smtClean="0"/>
              <a:t>      </a:t>
            </a:r>
            <a:r>
              <a:rPr lang="en-US" dirty="0" err="1" smtClean="0"/>
              <a:t>A</a:t>
            </a:r>
            <a:r>
              <a:rPr lang="en-US" dirty="0" smtClean="0"/>
              <a:t>       </a:t>
            </a:r>
            <a:r>
              <a:rPr lang="en-US" dirty="0" err="1" smtClean="0"/>
              <a:t>A</a:t>
            </a:r>
            <a:endParaRPr lang="en-US" dirty="0"/>
          </a:p>
        </p:txBody>
      </p:sp>
    </p:spTree>
    <p:extLst>
      <p:ext uri="{BB962C8B-B14F-4D97-AF65-F5344CB8AC3E}">
        <p14:creationId xmlns:p14="http://schemas.microsoft.com/office/powerpoint/2010/main" val="3726475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1000"/>
                                        <p:tgtEl>
                                          <p:spTgt spid="6">
                                            <p:txEl>
                                              <p:pRg st="1" end="1"/>
                                            </p:txEl>
                                          </p:spTgt>
                                        </p:tgtEl>
                                      </p:cBhvr>
                                    </p:animEffect>
                                    <p:anim calcmode="lin" valueType="num">
                                      <p:cBhvr>
                                        <p:cTn id="13"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1000"/>
                                        <p:tgtEl>
                                          <p:spTgt spid="6">
                                            <p:txEl>
                                              <p:pRg st="2" end="2"/>
                                            </p:txEl>
                                          </p:spTgt>
                                        </p:tgtEl>
                                      </p:cBhvr>
                                    </p:animEffect>
                                    <p:anim calcmode="lin" valueType="num">
                                      <p:cBhvr>
                                        <p:cTn id="1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1000"/>
                                        <p:tgtEl>
                                          <p:spTgt spid="6">
                                            <p:txEl>
                                              <p:pRg st="3" end="3"/>
                                            </p:txEl>
                                          </p:spTgt>
                                        </p:tgtEl>
                                      </p:cBhvr>
                                    </p:animEffect>
                                    <p:anim calcmode="lin" valueType="num">
                                      <p:cBhvr>
                                        <p:cTn id="23"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6">
                                            <p:txEl>
                                              <p:pRg st="5" end="5"/>
                                            </p:txEl>
                                          </p:spTgt>
                                        </p:tgtEl>
                                        <p:attrNameLst>
                                          <p:attrName>style.visibility</p:attrName>
                                        </p:attrNameLst>
                                      </p:cBhvr>
                                      <p:to>
                                        <p:strVal val="visible"/>
                                      </p:to>
                                    </p:set>
                                    <p:animEffect transition="in" filter="fade">
                                      <p:cBhvr>
                                        <p:cTn id="29" dur="1000"/>
                                        <p:tgtEl>
                                          <p:spTgt spid="6">
                                            <p:txEl>
                                              <p:pRg st="5" end="5"/>
                                            </p:txEl>
                                          </p:spTgt>
                                        </p:tgtEl>
                                      </p:cBhvr>
                                    </p:animEffect>
                                    <p:anim calcmode="lin" valueType="num">
                                      <p:cBhvr>
                                        <p:cTn id="30"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6">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6">
                                            <p:txEl>
                                              <p:pRg st="6" end="6"/>
                                            </p:txEl>
                                          </p:spTgt>
                                        </p:tgtEl>
                                        <p:attrNameLst>
                                          <p:attrName>style.visibility</p:attrName>
                                        </p:attrNameLst>
                                      </p:cBhvr>
                                      <p:to>
                                        <p:strVal val="visible"/>
                                      </p:to>
                                    </p:set>
                                    <p:animEffect transition="in" filter="fade">
                                      <p:cBhvr>
                                        <p:cTn id="34" dur="1000"/>
                                        <p:tgtEl>
                                          <p:spTgt spid="6">
                                            <p:txEl>
                                              <p:pRg st="6" end="6"/>
                                            </p:txEl>
                                          </p:spTgt>
                                        </p:tgtEl>
                                      </p:cBhvr>
                                    </p:animEffect>
                                    <p:anim calcmode="lin" valueType="num">
                                      <p:cBhvr>
                                        <p:cTn id="35"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6">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6">
                                            <p:txEl>
                                              <p:pRg st="7" end="7"/>
                                            </p:txEl>
                                          </p:spTgt>
                                        </p:tgtEl>
                                        <p:attrNameLst>
                                          <p:attrName>style.visibility</p:attrName>
                                        </p:attrNameLst>
                                      </p:cBhvr>
                                      <p:to>
                                        <p:strVal val="visible"/>
                                      </p:to>
                                    </p:set>
                                    <p:animEffect transition="in" filter="fade">
                                      <p:cBhvr>
                                        <p:cTn id="39" dur="1000"/>
                                        <p:tgtEl>
                                          <p:spTgt spid="6">
                                            <p:txEl>
                                              <p:pRg st="7" end="7"/>
                                            </p:txEl>
                                          </p:spTgt>
                                        </p:tgtEl>
                                      </p:cBhvr>
                                    </p:animEffect>
                                    <p:anim calcmode="lin" valueType="num">
                                      <p:cBhvr>
                                        <p:cTn id="40"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6">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6">
                                            <p:txEl>
                                              <p:pRg st="8" end="8"/>
                                            </p:txEl>
                                          </p:spTgt>
                                        </p:tgtEl>
                                        <p:attrNameLst>
                                          <p:attrName>style.visibility</p:attrName>
                                        </p:attrNameLst>
                                      </p:cBhvr>
                                      <p:to>
                                        <p:strVal val="visible"/>
                                      </p:to>
                                    </p:set>
                                    <p:animEffect transition="in" filter="fade">
                                      <p:cBhvr>
                                        <p:cTn id="44" dur="1000"/>
                                        <p:tgtEl>
                                          <p:spTgt spid="6">
                                            <p:txEl>
                                              <p:pRg st="8" end="8"/>
                                            </p:txEl>
                                          </p:spTgt>
                                        </p:tgtEl>
                                      </p:cBhvr>
                                    </p:animEffect>
                                    <p:anim calcmode="lin" valueType="num">
                                      <p:cBhvr>
                                        <p:cTn id="45"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6">
                                            <p:txEl>
                                              <p:pRg st="10" end="10"/>
                                            </p:txEl>
                                          </p:spTgt>
                                        </p:tgtEl>
                                        <p:attrNameLst>
                                          <p:attrName>style.visibility</p:attrName>
                                        </p:attrNameLst>
                                      </p:cBhvr>
                                      <p:to>
                                        <p:strVal val="visible"/>
                                      </p:to>
                                    </p:set>
                                    <p:animEffect transition="in" filter="fade">
                                      <p:cBhvr>
                                        <p:cTn id="51" dur="1000"/>
                                        <p:tgtEl>
                                          <p:spTgt spid="6">
                                            <p:txEl>
                                              <p:pRg st="10" end="10"/>
                                            </p:txEl>
                                          </p:spTgt>
                                        </p:tgtEl>
                                      </p:cBhvr>
                                    </p:animEffect>
                                    <p:anim calcmode="lin" valueType="num">
                                      <p:cBhvr>
                                        <p:cTn id="52" dur="1000" fill="hold"/>
                                        <p:tgtEl>
                                          <p:spTgt spid="6">
                                            <p:txEl>
                                              <p:pRg st="10" end="10"/>
                                            </p:txEl>
                                          </p:spTgt>
                                        </p:tgtEl>
                                        <p:attrNameLst>
                                          <p:attrName>ppt_x</p:attrName>
                                        </p:attrNameLst>
                                      </p:cBhvr>
                                      <p:tavLst>
                                        <p:tav tm="0">
                                          <p:val>
                                            <p:strVal val="#ppt_x"/>
                                          </p:val>
                                        </p:tav>
                                        <p:tav tm="100000">
                                          <p:val>
                                            <p:strVal val="#ppt_x"/>
                                          </p:val>
                                        </p:tav>
                                      </p:tavLst>
                                    </p:anim>
                                    <p:anim calcmode="lin" valueType="num">
                                      <p:cBhvr>
                                        <p:cTn id="53" dur="1000" fill="hold"/>
                                        <p:tgtEl>
                                          <p:spTgt spid="6">
                                            <p:txEl>
                                              <p:pRg st="10" end="10"/>
                                            </p:txEl>
                                          </p:spTgt>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6">
                                            <p:txEl>
                                              <p:pRg st="11" end="11"/>
                                            </p:txEl>
                                          </p:spTgt>
                                        </p:tgtEl>
                                        <p:attrNameLst>
                                          <p:attrName>style.visibility</p:attrName>
                                        </p:attrNameLst>
                                      </p:cBhvr>
                                      <p:to>
                                        <p:strVal val="visible"/>
                                      </p:to>
                                    </p:set>
                                    <p:animEffect transition="in" filter="fade">
                                      <p:cBhvr>
                                        <p:cTn id="56" dur="1000"/>
                                        <p:tgtEl>
                                          <p:spTgt spid="6">
                                            <p:txEl>
                                              <p:pRg st="11" end="11"/>
                                            </p:txEl>
                                          </p:spTgt>
                                        </p:tgtEl>
                                      </p:cBhvr>
                                    </p:animEffect>
                                    <p:anim calcmode="lin" valueType="num">
                                      <p:cBhvr>
                                        <p:cTn id="57" dur="1000" fill="hold"/>
                                        <p:tgtEl>
                                          <p:spTgt spid="6">
                                            <p:txEl>
                                              <p:pRg st="11" end="11"/>
                                            </p:txEl>
                                          </p:spTgt>
                                        </p:tgtEl>
                                        <p:attrNameLst>
                                          <p:attrName>ppt_x</p:attrName>
                                        </p:attrNameLst>
                                      </p:cBhvr>
                                      <p:tavLst>
                                        <p:tav tm="0">
                                          <p:val>
                                            <p:strVal val="#ppt_x"/>
                                          </p:val>
                                        </p:tav>
                                        <p:tav tm="100000">
                                          <p:val>
                                            <p:strVal val="#ppt_x"/>
                                          </p:val>
                                        </p:tav>
                                      </p:tavLst>
                                    </p:anim>
                                    <p:anim calcmode="lin" valueType="num">
                                      <p:cBhvr>
                                        <p:cTn id="58" dur="1000" fill="hold"/>
                                        <p:tgtEl>
                                          <p:spTgt spid="6">
                                            <p:txEl>
                                              <p:pRg st="11" end="11"/>
                                            </p:txEl>
                                          </p:spTgt>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6">
                                            <p:txEl>
                                              <p:pRg st="12" end="12"/>
                                            </p:txEl>
                                          </p:spTgt>
                                        </p:tgtEl>
                                        <p:attrNameLst>
                                          <p:attrName>style.visibility</p:attrName>
                                        </p:attrNameLst>
                                      </p:cBhvr>
                                      <p:to>
                                        <p:strVal val="visible"/>
                                      </p:to>
                                    </p:set>
                                    <p:animEffect transition="in" filter="fade">
                                      <p:cBhvr>
                                        <p:cTn id="61" dur="1000"/>
                                        <p:tgtEl>
                                          <p:spTgt spid="6">
                                            <p:txEl>
                                              <p:pRg st="12" end="12"/>
                                            </p:txEl>
                                          </p:spTgt>
                                        </p:tgtEl>
                                      </p:cBhvr>
                                    </p:animEffect>
                                    <p:anim calcmode="lin" valueType="num">
                                      <p:cBhvr>
                                        <p:cTn id="62" dur="1000" fill="hold"/>
                                        <p:tgtEl>
                                          <p:spTgt spid="6">
                                            <p:txEl>
                                              <p:pRg st="12" end="12"/>
                                            </p:txEl>
                                          </p:spTgt>
                                        </p:tgtEl>
                                        <p:attrNameLst>
                                          <p:attrName>ppt_x</p:attrName>
                                        </p:attrNameLst>
                                      </p:cBhvr>
                                      <p:tavLst>
                                        <p:tav tm="0">
                                          <p:val>
                                            <p:strVal val="#ppt_x"/>
                                          </p:val>
                                        </p:tav>
                                        <p:tav tm="100000">
                                          <p:val>
                                            <p:strVal val="#ppt_x"/>
                                          </p:val>
                                        </p:tav>
                                      </p:tavLst>
                                    </p:anim>
                                    <p:anim calcmode="lin" valueType="num">
                                      <p:cBhvr>
                                        <p:cTn id="63" dur="1000" fill="hold"/>
                                        <p:tgtEl>
                                          <p:spTgt spid="6">
                                            <p:txEl>
                                              <p:pRg st="12" end="12"/>
                                            </p:txEl>
                                          </p:spTgt>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6">
                                            <p:txEl>
                                              <p:pRg st="13" end="13"/>
                                            </p:txEl>
                                          </p:spTgt>
                                        </p:tgtEl>
                                        <p:attrNameLst>
                                          <p:attrName>style.visibility</p:attrName>
                                        </p:attrNameLst>
                                      </p:cBhvr>
                                      <p:to>
                                        <p:strVal val="visible"/>
                                      </p:to>
                                    </p:set>
                                    <p:animEffect transition="in" filter="fade">
                                      <p:cBhvr>
                                        <p:cTn id="66" dur="1000"/>
                                        <p:tgtEl>
                                          <p:spTgt spid="6">
                                            <p:txEl>
                                              <p:pRg st="13" end="13"/>
                                            </p:txEl>
                                          </p:spTgt>
                                        </p:tgtEl>
                                      </p:cBhvr>
                                    </p:animEffect>
                                    <p:anim calcmode="lin" valueType="num">
                                      <p:cBhvr>
                                        <p:cTn id="67" dur="1000" fill="hold"/>
                                        <p:tgtEl>
                                          <p:spTgt spid="6">
                                            <p:txEl>
                                              <p:pRg st="13" end="13"/>
                                            </p:txEl>
                                          </p:spTgt>
                                        </p:tgtEl>
                                        <p:attrNameLst>
                                          <p:attrName>ppt_x</p:attrName>
                                        </p:attrNameLst>
                                      </p:cBhvr>
                                      <p:tavLst>
                                        <p:tav tm="0">
                                          <p:val>
                                            <p:strVal val="#ppt_x"/>
                                          </p:val>
                                        </p:tav>
                                        <p:tav tm="100000">
                                          <p:val>
                                            <p:strVal val="#ppt_x"/>
                                          </p:val>
                                        </p:tav>
                                      </p:tavLst>
                                    </p:anim>
                                    <p:anim calcmode="lin" valueType="num">
                                      <p:cBhvr>
                                        <p:cTn id="68" dur="1000" fill="hold"/>
                                        <p:tgtEl>
                                          <p:spTgt spid="6">
                                            <p:txEl>
                                              <p:pRg st="13" end="13"/>
                                            </p:txEl>
                                          </p:spTgt>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0"/>
                                  </p:stCondLst>
                                  <p:childTnLst>
                                    <p:set>
                                      <p:cBhvr>
                                        <p:cTn id="70" dur="1" fill="hold">
                                          <p:stCondLst>
                                            <p:cond delay="0"/>
                                          </p:stCondLst>
                                        </p:cTn>
                                        <p:tgtEl>
                                          <p:spTgt spid="6">
                                            <p:txEl>
                                              <p:pRg st="14" end="14"/>
                                            </p:txEl>
                                          </p:spTgt>
                                        </p:tgtEl>
                                        <p:attrNameLst>
                                          <p:attrName>style.visibility</p:attrName>
                                        </p:attrNameLst>
                                      </p:cBhvr>
                                      <p:to>
                                        <p:strVal val="visible"/>
                                      </p:to>
                                    </p:set>
                                    <p:animEffect transition="in" filter="fade">
                                      <p:cBhvr>
                                        <p:cTn id="71" dur="1000"/>
                                        <p:tgtEl>
                                          <p:spTgt spid="6">
                                            <p:txEl>
                                              <p:pRg st="14" end="14"/>
                                            </p:txEl>
                                          </p:spTgt>
                                        </p:tgtEl>
                                      </p:cBhvr>
                                    </p:animEffect>
                                    <p:anim calcmode="lin" valueType="num">
                                      <p:cBhvr>
                                        <p:cTn id="72" dur="1000" fill="hold"/>
                                        <p:tgtEl>
                                          <p:spTgt spid="6">
                                            <p:txEl>
                                              <p:pRg st="14" end="14"/>
                                            </p:txEl>
                                          </p:spTgt>
                                        </p:tgtEl>
                                        <p:attrNameLst>
                                          <p:attrName>ppt_x</p:attrName>
                                        </p:attrNameLst>
                                      </p:cBhvr>
                                      <p:tavLst>
                                        <p:tav tm="0">
                                          <p:val>
                                            <p:strVal val="#ppt_x"/>
                                          </p:val>
                                        </p:tav>
                                        <p:tav tm="100000">
                                          <p:val>
                                            <p:strVal val="#ppt_x"/>
                                          </p:val>
                                        </p:tav>
                                      </p:tavLst>
                                    </p:anim>
                                    <p:anim calcmode="lin" valueType="num">
                                      <p:cBhvr>
                                        <p:cTn id="73" dur="1000" fill="hold"/>
                                        <p:tgtEl>
                                          <p:spTgt spid="6">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16" presetClass="entr" presetSubtype="21" fill="hold" grpId="0" nodeType="clickEffect">
                                  <p:stCondLst>
                                    <p:cond delay="0"/>
                                  </p:stCondLst>
                                  <p:childTnLst>
                                    <p:set>
                                      <p:cBhvr>
                                        <p:cTn id="77" dur="1" fill="hold">
                                          <p:stCondLst>
                                            <p:cond delay="0"/>
                                          </p:stCondLst>
                                        </p:cTn>
                                        <p:tgtEl>
                                          <p:spTgt spid="9"/>
                                        </p:tgtEl>
                                        <p:attrNameLst>
                                          <p:attrName>style.visibility</p:attrName>
                                        </p:attrNameLst>
                                      </p:cBhvr>
                                      <p:to>
                                        <p:strVal val="visible"/>
                                      </p:to>
                                    </p:set>
                                    <p:animEffect transition="in" filter="barn(inVertical)">
                                      <p:cBhvr>
                                        <p:cTn id="78" dur="500"/>
                                        <p:tgtEl>
                                          <p:spTgt spid="9"/>
                                        </p:tgtEl>
                                      </p:cBhvr>
                                    </p:animEffect>
                                  </p:childTnLst>
                                </p:cTn>
                              </p:par>
                              <p:par>
                                <p:cTn id="79" presetID="16" presetClass="entr" presetSubtype="21" fill="hold" nodeType="withEffect">
                                  <p:stCondLst>
                                    <p:cond delay="0"/>
                                  </p:stCondLst>
                                  <p:childTnLst>
                                    <p:set>
                                      <p:cBhvr>
                                        <p:cTn id="80" dur="1" fill="hold">
                                          <p:stCondLst>
                                            <p:cond delay="0"/>
                                          </p:stCondLst>
                                        </p:cTn>
                                        <p:tgtEl>
                                          <p:spTgt spid="7"/>
                                        </p:tgtEl>
                                        <p:attrNameLst>
                                          <p:attrName>style.visibility</p:attrName>
                                        </p:attrNameLst>
                                      </p:cBhvr>
                                      <p:to>
                                        <p:strVal val="visible"/>
                                      </p:to>
                                    </p:set>
                                    <p:animEffect transition="in" filter="barn(inVertical)">
                                      <p:cBhvr>
                                        <p:cTn id="81" dur="500"/>
                                        <p:tgtEl>
                                          <p:spTgt spid="7"/>
                                        </p:tgtEl>
                                      </p:cBhvr>
                                    </p:animEffect>
                                  </p:childTnLst>
                                </p:cTn>
                              </p:par>
                              <p:par>
                                <p:cTn id="82" presetID="16" presetClass="entr" presetSubtype="21" fill="hold" grpId="0" nodeType="withEffect">
                                  <p:stCondLst>
                                    <p:cond delay="0"/>
                                  </p:stCondLst>
                                  <p:childTnLst>
                                    <p:set>
                                      <p:cBhvr>
                                        <p:cTn id="83" dur="1" fill="hold">
                                          <p:stCondLst>
                                            <p:cond delay="0"/>
                                          </p:stCondLst>
                                        </p:cTn>
                                        <p:tgtEl>
                                          <p:spTgt spid="8"/>
                                        </p:tgtEl>
                                        <p:attrNameLst>
                                          <p:attrName>style.visibility</p:attrName>
                                        </p:attrNameLst>
                                      </p:cBhvr>
                                      <p:to>
                                        <p:strVal val="visible"/>
                                      </p:to>
                                    </p:set>
                                    <p:animEffect transition="in" filter="barn(inVertical)">
                                      <p:cBhvr>
                                        <p:cTn id="8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Searching Ends</a:t>
            </a:r>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37</a:t>
            </a:fld>
            <a:endParaRPr lang="en-US"/>
          </a:p>
        </p:txBody>
      </p:sp>
      <p:sp>
        <p:nvSpPr>
          <p:cNvPr id="6" name="Content Placeholder 5"/>
          <p:cNvSpPr>
            <a:spLocks noGrp="1"/>
          </p:cNvSpPr>
          <p:nvPr>
            <p:ph sz="quarter" idx="1"/>
          </p:nvPr>
        </p:nvSpPr>
        <p:spPr/>
        <p:txBody>
          <a:bodyPr>
            <a:normAutofit/>
          </a:bodyPr>
          <a:lstStyle/>
          <a:p>
            <a:pPr marL="0" indent="0">
              <a:buNone/>
            </a:pPr>
            <a:r>
              <a:rPr lang="en-US" dirty="0"/>
              <a:t>i = 10, j = 2 </a:t>
            </a:r>
          </a:p>
          <a:p>
            <a:pPr marL="0" indent="0">
              <a:buNone/>
            </a:pPr>
            <a:r>
              <a:rPr lang="en-US" dirty="0"/>
              <a:t>txt[] = "AAAAAB</a:t>
            </a:r>
            <a:r>
              <a:rPr lang="en-US" b="1" dirty="0"/>
              <a:t>AAAB</a:t>
            </a:r>
            <a:r>
              <a:rPr lang="en-US" dirty="0">
                <a:solidFill>
                  <a:srgbClr val="00B050"/>
                </a:solidFill>
              </a:rPr>
              <a:t>A</a:t>
            </a:r>
            <a:r>
              <a:rPr lang="en-US" dirty="0"/>
              <a:t>" </a:t>
            </a:r>
          </a:p>
          <a:p>
            <a:pPr marL="0" indent="0">
              <a:buNone/>
            </a:pPr>
            <a:r>
              <a:rPr lang="en-US" dirty="0"/>
              <a:t>pat[] = "</a:t>
            </a:r>
            <a:r>
              <a:rPr lang="en-US" b="1" dirty="0"/>
              <a:t>AA</a:t>
            </a:r>
            <a:r>
              <a:rPr lang="en-US" b="1" dirty="0">
                <a:solidFill>
                  <a:srgbClr val="00B050"/>
                </a:solidFill>
              </a:rPr>
              <a:t>A</a:t>
            </a:r>
            <a:r>
              <a:rPr lang="en-US" b="1" dirty="0"/>
              <a:t>A</a:t>
            </a:r>
            <a:r>
              <a:rPr lang="en-US" dirty="0"/>
              <a:t>" </a:t>
            </a:r>
          </a:p>
          <a:p>
            <a:pPr marL="0" indent="0">
              <a:buNone/>
            </a:pPr>
            <a:r>
              <a:rPr lang="en-US" dirty="0"/>
              <a:t>txt[i] and pat[j] match, do i++ and j++</a:t>
            </a:r>
          </a:p>
          <a:p>
            <a:pPr marL="0" indent="0">
              <a:buNone/>
            </a:pPr>
            <a:endParaRPr lang="en-US" dirty="0" smtClean="0"/>
          </a:p>
        </p:txBody>
      </p:sp>
    </p:spTree>
    <p:extLst>
      <p:ext uri="{BB962C8B-B14F-4D97-AF65-F5344CB8AC3E}">
        <p14:creationId xmlns:p14="http://schemas.microsoft.com/office/powerpoint/2010/main" val="3952673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1000"/>
                                        <p:tgtEl>
                                          <p:spTgt spid="6">
                                            <p:txEl>
                                              <p:pRg st="1" end="1"/>
                                            </p:txEl>
                                          </p:spTgt>
                                        </p:tgtEl>
                                      </p:cBhvr>
                                    </p:animEffect>
                                    <p:anim calcmode="lin" valueType="num">
                                      <p:cBhvr>
                                        <p:cTn id="13"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1000"/>
                                        <p:tgtEl>
                                          <p:spTgt spid="6">
                                            <p:txEl>
                                              <p:pRg st="2" end="2"/>
                                            </p:txEl>
                                          </p:spTgt>
                                        </p:tgtEl>
                                      </p:cBhvr>
                                    </p:animEffect>
                                    <p:anim calcmode="lin" valueType="num">
                                      <p:cBhvr>
                                        <p:cTn id="1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1000"/>
                                        <p:tgtEl>
                                          <p:spTgt spid="6">
                                            <p:txEl>
                                              <p:pRg st="3" end="3"/>
                                            </p:txEl>
                                          </p:spTgt>
                                        </p:tgtEl>
                                      </p:cBhvr>
                                    </p:animEffect>
                                    <p:anim calcmode="lin" valueType="num">
                                      <p:cBhvr>
                                        <p:cTn id="23"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Outcome</a:t>
            </a:r>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38</a:t>
            </a:fld>
            <a:endParaRPr lang="en-US"/>
          </a:p>
        </p:txBody>
      </p:sp>
      <p:sp>
        <p:nvSpPr>
          <p:cNvPr id="6" name="Content Placeholder 5"/>
          <p:cNvSpPr>
            <a:spLocks noGrp="1"/>
          </p:cNvSpPr>
          <p:nvPr>
            <p:ph sz="quarter" idx="1"/>
          </p:nvPr>
        </p:nvSpPr>
        <p:spPr/>
        <p:txBody>
          <a:bodyPr/>
          <a:lstStyle/>
          <a:p>
            <a:pPr marL="0" indent="0">
              <a:buNone/>
            </a:pPr>
            <a:r>
              <a:rPr lang="en-US" dirty="0"/>
              <a:t>As the text length has finished, searching will be stopped here. </a:t>
            </a:r>
          </a:p>
          <a:p>
            <a:pPr marL="0" indent="0">
              <a:buNone/>
            </a:pPr>
            <a:endParaRPr lang="en-US" dirty="0"/>
          </a:p>
          <a:p>
            <a:pPr marL="0" indent="0">
              <a:buNone/>
            </a:pPr>
            <a:r>
              <a:rPr lang="en-US" dirty="0">
                <a:solidFill>
                  <a:srgbClr val="7030A0"/>
                </a:solidFill>
              </a:rPr>
              <a:t>Result:</a:t>
            </a:r>
          </a:p>
          <a:p>
            <a:pPr marL="0" indent="0">
              <a:buNone/>
            </a:pPr>
            <a:r>
              <a:rPr lang="en-US" dirty="0">
                <a:latin typeface="Calibri" pitchFamily="34" charset="0"/>
                <a:cs typeface="Calibri" pitchFamily="34" charset="0"/>
              </a:rPr>
              <a:t>Pattern “AAAA” has been found </a:t>
            </a:r>
            <a:r>
              <a:rPr lang="en-US" dirty="0" smtClean="0">
                <a:latin typeface="Calibri" pitchFamily="34" charset="0"/>
                <a:cs typeface="Calibri" pitchFamily="34" charset="0"/>
              </a:rPr>
              <a:t>in </a:t>
            </a:r>
            <a:r>
              <a:rPr lang="en-US" dirty="0">
                <a:latin typeface="Calibri" pitchFamily="34" charset="0"/>
                <a:cs typeface="Calibri" pitchFamily="34" charset="0"/>
              </a:rPr>
              <a:t>“AAAAABAAABA”</a:t>
            </a:r>
          </a:p>
          <a:p>
            <a:pPr marL="0" indent="0">
              <a:buNone/>
            </a:pPr>
            <a:r>
              <a:rPr lang="en-US" dirty="0">
                <a:latin typeface="Calibri" pitchFamily="34" charset="0"/>
                <a:cs typeface="Calibri" pitchFamily="34" charset="0"/>
              </a:rPr>
              <a:t>						</a:t>
            </a:r>
            <a:r>
              <a:rPr lang="en-US" dirty="0" smtClean="0">
                <a:latin typeface="Calibri" pitchFamily="34" charset="0"/>
                <a:cs typeface="Calibri" pitchFamily="34" charset="0"/>
              </a:rPr>
              <a:t>at </a:t>
            </a:r>
            <a:r>
              <a:rPr lang="en-US" dirty="0">
                <a:solidFill>
                  <a:srgbClr val="00B0F0"/>
                </a:solidFill>
                <a:latin typeface="Calibri" pitchFamily="34" charset="0"/>
                <a:cs typeface="Calibri" pitchFamily="34" charset="0"/>
              </a:rPr>
              <a:t>0 position</a:t>
            </a:r>
          </a:p>
          <a:p>
            <a:pPr marL="0" indent="0">
              <a:buNone/>
            </a:pPr>
            <a:r>
              <a:rPr lang="en-US" dirty="0">
                <a:latin typeface="Calibri" pitchFamily="34" charset="0"/>
                <a:cs typeface="Calibri" pitchFamily="34" charset="0"/>
              </a:rPr>
              <a:t>                                                			</a:t>
            </a:r>
            <a:r>
              <a:rPr lang="en-US" dirty="0" smtClean="0">
                <a:latin typeface="Calibri" pitchFamily="34" charset="0"/>
                <a:cs typeface="Calibri" pitchFamily="34" charset="0"/>
              </a:rPr>
              <a:t>at </a:t>
            </a:r>
            <a:r>
              <a:rPr lang="en-US" dirty="0">
                <a:solidFill>
                  <a:srgbClr val="00B0F0"/>
                </a:solidFill>
                <a:latin typeface="Calibri" pitchFamily="34" charset="0"/>
                <a:cs typeface="Calibri" pitchFamily="34" charset="0"/>
              </a:rPr>
              <a:t>1 position</a:t>
            </a:r>
          </a:p>
          <a:p>
            <a:pPr marL="0" indent="0">
              <a:buNone/>
            </a:pPr>
            <a:endParaRPr lang="en-US" dirty="0"/>
          </a:p>
        </p:txBody>
      </p:sp>
    </p:spTree>
    <p:extLst>
      <p:ext uri="{BB962C8B-B14F-4D97-AF65-F5344CB8AC3E}">
        <p14:creationId xmlns:p14="http://schemas.microsoft.com/office/powerpoint/2010/main" val="19567340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Time Complexity</a:t>
            </a:r>
            <a:endParaRPr lang="en-US" dirty="0"/>
          </a:p>
        </p:txBody>
      </p:sp>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39</a:t>
            </a:fld>
            <a:endParaRPr lang="en-US"/>
          </a:p>
        </p:txBody>
      </p:sp>
      <p:sp>
        <p:nvSpPr>
          <p:cNvPr id="6" name="Content Placeholder 5"/>
          <p:cNvSpPr>
            <a:spLocks noGrp="1"/>
          </p:cNvSpPr>
          <p:nvPr>
            <p:ph sz="quarter" idx="1"/>
          </p:nvPr>
        </p:nvSpPr>
        <p:spPr/>
        <p:txBody>
          <a:bodyPr/>
          <a:lstStyle/>
          <a:p>
            <a:pPr marL="0" indent="0">
              <a:buNone/>
            </a:pPr>
            <a:endParaRPr lang="en-US" dirty="0" smtClean="0"/>
          </a:p>
          <a:p>
            <a:pPr marL="0" indent="0">
              <a:buNone/>
            </a:pPr>
            <a:endParaRPr lang="en-US" dirty="0"/>
          </a:p>
          <a:p>
            <a:pPr marL="0" indent="0">
              <a:buNone/>
            </a:pPr>
            <a:r>
              <a:rPr lang="en-US" dirty="0" smtClean="0"/>
              <a:t>LPS table formation: </a:t>
            </a:r>
            <a:r>
              <a:rPr lang="en-US" dirty="0" smtClean="0">
                <a:solidFill>
                  <a:srgbClr val="7030A0"/>
                </a:solidFill>
              </a:rPr>
              <a:t>O(m)</a:t>
            </a:r>
          </a:p>
          <a:p>
            <a:pPr marL="0" indent="0">
              <a:buNone/>
            </a:pPr>
            <a:r>
              <a:rPr lang="en-US" dirty="0" smtClean="0"/>
              <a:t>And searching : </a:t>
            </a:r>
            <a:r>
              <a:rPr lang="en-US" dirty="0" smtClean="0">
                <a:solidFill>
                  <a:srgbClr val="7030A0"/>
                </a:solidFill>
              </a:rPr>
              <a:t>O (n)</a:t>
            </a:r>
          </a:p>
          <a:p>
            <a:pPr marL="0" indent="0">
              <a:buNone/>
            </a:pPr>
            <a:r>
              <a:rPr lang="en-US" dirty="0" smtClean="0"/>
              <a:t>So,</a:t>
            </a:r>
          </a:p>
          <a:p>
            <a:pPr marL="0" indent="0">
              <a:buNone/>
            </a:pPr>
            <a:r>
              <a:rPr lang="en-US" dirty="0"/>
              <a:t> </a:t>
            </a:r>
            <a:r>
              <a:rPr lang="en-US" dirty="0" smtClean="0"/>
              <a:t>  </a:t>
            </a:r>
            <a:r>
              <a:rPr lang="en-US" dirty="0" smtClean="0">
                <a:solidFill>
                  <a:srgbClr val="7030A0"/>
                </a:solidFill>
              </a:rPr>
              <a:t>O(n + m)</a:t>
            </a:r>
            <a:endParaRPr lang="en-US" dirty="0">
              <a:solidFill>
                <a:srgbClr val="7030A0"/>
              </a:solidFill>
            </a:endParaRPr>
          </a:p>
        </p:txBody>
      </p:sp>
    </p:spTree>
    <p:extLst>
      <p:ext uri="{BB962C8B-B14F-4D97-AF65-F5344CB8AC3E}">
        <p14:creationId xmlns:p14="http://schemas.microsoft.com/office/powerpoint/2010/main" val="414376354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A2980C90-D373-4FFD-92FD-9DB81210D599}" type="datetime1">
              <a:rPr lang="en-US" smtClean="0"/>
              <a:t>12/14/2021</a:t>
            </a:fld>
            <a:endParaRPr lang="en-US"/>
          </a:p>
        </p:txBody>
      </p:sp>
      <p:sp>
        <p:nvSpPr>
          <p:cNvPr id="4" name="Footer Placeholder 3"/>
          <p:cNvSpPr>
            <a:spLocks noGrp="1"/>
          </p:cNvSpPr>
          <p:nvPr>
            <p:ph type="ftr" sz="quarter" idx="11"/>
          </p:nvPr>
        </p:nvSpPr>
        <p:spPr/>
        <p:txBody>
          <a:bodyPr/>
          <a:lstStyle/>
          <a:p>
            <a:r>
              <a:rPr lang="en-US" smtClean="0"/>
              <a:t>Rubyeat Islam, Lecturer, Dept of CSE, MIST</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40</a:t>
            </a:fld>
            <a:endParaRPr lang="en-US"/>
          </a:p>
        </p:txBody>
      </p:sp>
      <p:sp>
        <p:nvSpPr>
          <p:cNvPr id="8" name="TextBox 7"/>
          <p:cNvSpPr txBox="1"/>
          <p:nvPr/>
        </p:nvSpPr>
        <p:spPr>
          <a:xfrm>
            <a:off x="3429000" y="3124200"/>
            <a:ext cx="2662908" cy="646331"/>
          </a:xfrm>
          <a:prstGeom prst="rect">
            <a:avLst/>
          </a:prstGeom>
          <a:noFill/>
        </p:spPr>
        <p:txBody>
          <a:bodyPr wrap="none" rtlCol="0">
            <a:spAutoFit/>
          </a:bodyPr>
          <a:lstStyle/>
          <a:p>
            <a:r>
              <a:rPr lang="en-US" sz="3600" i="1" dirty="0" smtClean="0">
                <a:solidFill>
                  <a:srgbClr val="7030A0"/>
                </a:solidFill>
                <a:latin typeface="Algerian" pitchFamily="82" charset="0"/>
                <a:cs typeface="Calibri" pitchFamily="34" charset="0"/>
              </a:rPr>
              <a:t>THANK YOU</a:t>
            </a:r>
            <a:endParaRPr lang="en-US" sz="3600" i="1" dirty="0">
              <a:solidFill>
                <a:srgbClr val="7030A0"/>
              </a:solidFill>
              <a:latin typeface="Algerian" pitchFamily="82" charset="0"/>
              <a:cs typeface="Calibri" pitchFamily="34" charset="0"/>
            </a:endParaRPr>
          </a:p>
        </p:txBody>
      </p:sp>
    </p:spTree>
    <p:extLst>
      <p:ext uri="{BB962C8B-B14F-4D97-AF65-F5344CB8AC3E}">
        <p14:creationId xmlns:p14="http://schemas.microsoft.com/office/powerpoint/2010/main" val="26194915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1883</TotalTime>
  <Words>2991</Words>
  <Application>Microsoft Office PowerPoint</Application>
  <PresentationFormat>On-screen Show (4:3)</PresentationFormat>
  <Paragraphs>704</Paragraphs>
  <Slides>40</Slides>
  <Notes>0</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Origin</vt:lpstr>
      <vt:lpstr>String Matching Algorithm</vt:lpstr>
      <vt:lpstr>String Matching Algorithm</vt:lpstr>
      <vt:lpstr>Uses</vt:lpstr>
      <vt:lpstr>Classification</vt:lpstr>
      <vt:lpstr>Classification</vt:lpstr>
      <vt:lpstr>Exact String Matching Algorithms</vt:lpstr>
      <vt:lpstr>Categories</vt:lpstr>
      <vt:lpstr>Categories</vt:lpstr>
      <vt:lpstr>Pattern Searching</vt:lpstr>
      <vt:lpstr>Pattern Searching</vt:lpstr>
      <vt:lpstr>Limitations of Naïve Pattern Searching</vt:lpstr>
      <vt:lpstr>KMP Algorithm</vt:lpstr>
      <vt:lpstr>Lets’ Start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Need of Preprocessing?</vt:lpstr>
      <vt:lpstr>Preprocessing Overview</vt:lpstr>
      <vt:lpstr>Preprocessing Algorithm</vt:lpstr>
      <vt:lpstr>Illustration</vt:lpstr>
      <vt:lpstr>Illustration continues…</vt:lpstr>
      <vt:lpstr>Illustration continues…</vt:lpstr>
      <vt:lpstr>Illustration continues…</vt:lpstr>
      <vt:lpstr>Example of lps[] construction</vt:lpstr>
      <vt:lpstr>Now Searching</vt:lpstr>
      <vt:lpstr>Searching Algorithm</vt:lpstr>
      <vt:lpstr>Searching Illustration</vt:lpstr>
      <vt:lpstr>Searching Illustration continues..</vt:lpstr>
      <vt:lpstr>Searching Illustration continues..</vt:lpstr>
      <vt:lpstr>Searching Illustration continues..</vt:lpstr>
      <vt:lpstr>Searching Illustration continues..</vt:lpstr>
      <vt:lpstr>Searching Illustration continues..</vt:lpstr>
      <vt:lpstr>Searching Ends</vt:lpstr>
      <vt:lpstr>Outcome</vt:lpstr>
      <vt:lpstr>Time Complexity</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String Matching Algorithm</dc:title>
  <dc:creator>Mohammad Yusuf Foraiji</dc:creator>
  <cp:lastModifiedBy>Mohammad Yusuf Foraiji</cp:lastModifiedBy>
  <cp:revision>158</cp:revision>
  <dcterms:created xsi:type="dcterms:W3CDTF">2006-08-16T00:00:00Z</dcterms:created>
  <dcterms:modified xsi:type="dcterms:W3CDTF">2021-12-14T08:58:56Z</dcterms:modified>
</cp:coreProperties>
</file>